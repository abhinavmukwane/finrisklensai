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71" r:id="rId7"/>
    <p:sldId id="262" r:id="rId8"/>
    <p:sldId id="263" r:id="rId9"/>
    <p:sldId id="272" r:id="rId10"/>
    <p:sldId id="264" r:id="rId11"/>
    <p:sldId id="265" r:id="rId12"/>
    <p:sldId id="273" r:id="rId13"/>
    <p:sldId id="274" r:id="rId14"/>
    <p:sldId id="275" r:id="rId15"/>
    <p:sldId id="276" r:id="rId16"/>
    <p:sldId id="277" r:id="rId17"/>
    <p:sldId id="266" r:id="rId18"/>
    <p:sldId id="267" r:id="rId19"/>
    <p:sldId id="268" r:id="rId20"/>
    <p:sldId id="269" r:id="rId21"/>
    <p:sldId id="270" r:id="rId2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8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048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5647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6447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05250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0390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83751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63411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d00c62399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d00c62399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finrisklensai.com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95585" y="639387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95584" y="1029929"/>
            <a:ext cx="8722292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64 million MSMEs contributing ~30% of GDP, yet 80%+ lack formal credit access. New-to-Credit (NTC) and New-to-Bank (NTB) enterprises are routinely rejected despite genuine creditworthiness — simply due to missing paperwork.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: AI-Powered MSME Financial Health Score Platform</a:t>
            </a:r>
          </a:p>
          <a:p>
            <a:pPr lvl="0"/>
            <a:endParaRPr lang="en-GB" sz="7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Aggregates alternate data streams: GST returns, Account Aggregator </a:t>
            </a:r>
            <a:r>
              <a:rPr lang="en-GB" sz="1200" dirty="0" smtClean="0"/>
              <a:t>&amp; </a:t>
            </a:r>
            <a:r>
              <a:rPr lang="en-GB" sz="1200" dirty="0"/>
              <a:t>UPI statements, ITR filings, Udyam registry (EPFO slot ready)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Computes a multi-dimensional Financial Health Score (0-1000) across 6 weighted pillars using ML.NET (LightGBM model + rules engine)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Generates a visual Financial Health Card with radar chart, trend graph, risk flags, and credit product recommendations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Integrates with ULI (DSP API), OCEN 2.0 (LSP interface), and AA FIU consent framework for near real-time assessment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Near real-time scoring: end-to-end score in under 10 seconds from consent trigger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PFI-based explainability: every score carries a dimension-level reason - audit-ready for credit </a:t>
            </a:r>
            <a:r>
              <a:rPr lang="en-GB" sz="1200" dirty="0" smtClean="0"/>
              <a:t>officers</a:t>
            </a:r>
            <a:endParaRPr lang="en-GB" sz="12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Recommends CGTMSE/MUDRA-backed products for mid-range scorers to maximise viable </a:t>
            </a:r>
            <a:r>
              <a:rPr lang="en-GB" sz="1200" dirty="0" smtClean="0"/>
              <a:t>approvals</a:t>
            </a:r>
            <a:endParaRPr lang="en-GB" sz="12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Enables IDBI Bank to on-board credit-invisible MSMEs while strengthening portfolio quality and sector diversification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71178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lvl="0"/>
            <a:r>
              <a:rPr lang="en-US" sz="1200" b="1" dirty="0"/>
              <a:t>How different is it from any of the other existing ideas?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CIBIL/Experian bureau scores, FinRiskLensAI works for NTC/NTB borrowers with zero credit history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single-source tools, we unify 4 DPI data streams (GST + AA + UPI + ITR + EPFO) in one consent-based flow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First solution combining ULI DSP-compatible API + OCEN 2.0 LSP + AA FIU consent flow in a single platform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GST vs. bank-credit cross-validation as a proprietary fraud signal — no existing tool does this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How will it be able to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Eliminates the 'no document, no credit' rejection cycle by using MSMEs' existing digital footprints as credit proxies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Near real-time scoring replaces 2-3 week manual evaluation with a sub-10-second automated assessment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PFI explainability gives credit officers dimension-level reasons — no black-box decisions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NTC status prevents unfair penalization of first-time borrowers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6-dimensional score gives IDBI a far richer risk picture than any single metric (Revenue, Cash Flow, Transactions, Compliance, Stability, Debt)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entirely on India's DPI stack — zero proprietary data dependency, fully consent-based and DPDP Act 2023 compliant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Credit product recommender maps score band to CGTMSE/MUDRA schemes — maximizing both approval rate and safety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ULI DSP-compatible API means any OCEN-compliant lender can plug in — IDBI's infrastructure becomes reusable fintech rails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906659"/>
            <a:ext cx="862640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Consent-based multi-source pull: Udyam registry, GST API (</a:t>
            </a:r>
            <a:r>
              <a:rPr lang="en-GB" sz="1200" dirty="0" smtClean="0"/>
              <a:t>GSTR-1/2A/2B/3B</a:t>
            </a:r>
            <a:r>
              <a:rPr lang="en-GB" sz="1200" dirty="0"/>
              <a:t>, ITC), ITR filings, AA bank &amp; UPI statements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GST vs. bank-credit cross-validation for fraud/misrepresentation detection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6-Dimension Weighted Score (0-1000): Revenue Vitality (25%), Cash Flow Health (20%), </a:t>
            </a:r>
            <a:r>
              <a:rPr lang="en-GB" sz="1200" dirty="0" err="1"/>
              <a:t>Tx</a:t>
            </a:r>
            <a:r>
              <a:rPr lang="en-GB" sz="1200" dirty="0"/>
              <a:t> Trustworthiness (15%), Compliance (15%), Business Stability (15%), Debt Serviceability (10%)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ML.NET LightGBM for tabular scoring + SSA time-series for 12-month trend + RandomizedPCA for cross-source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 (Permutation Feature Importance): per-dimension reasons for every score - audit-ready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Financial Health Card UI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Radar/spider chart for 6 dimensions, 12-month trend graph, green/yellow/red risk flags, top 3 strengths and risks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Recommended credit products (CGTMSE, MUDRA, standard working capital) mapped to score band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Downloadable PDF Health Card for branch-level use by IDBI credit officers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Integration &amp; API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ULI DSP-compatible REST API: any OCEN-compliant lender queries the score with </a:t>
            </a:r>
            <a:r>
              <a:rPr lang="en-GB" sz="1200" dirty="0" err="1"/>
              <a:t>mTLS</a:t>
            </a:r>
            <a:r>
              <a:rPr lang="en-GB" sz="1200" dirty="0"/>
              <a:t> + OAuth2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IDBI LOS Integration: score + Health Card delivered inline to Loan Origination System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AA FIU consent lifecycle: consent request, artefact verification, FIP data pull, auto-expiry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On-demand refresh: a new GST filing or AA consent re-runs the blob-based scoring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315" y="704613"/>
            <a:ext cx="4728906" cy="4311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63151"/>
            <a:ext cx="8522586" cy="414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653" y="974080"/>
            <a:ext cx="3548637" cy="40704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198" y="2293124"/>
            <a:ext cx="4145894" cy="158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844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486" y="608442"/>
            <a:ext cx="3670114" cy="45350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(C#): orchestration + Udyam/GST/ITR/AA (Finvu) connectors, ULI DSP, IDBI LOS webhook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(in-process): scoring, feature engineering &amp; PFI explainability -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Autofac: DI &amp; module auto-registration | Serilog: structured file/console logging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LightGBM: calibration model; final score = 0.6 rules engine + 0.4 ML model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SSA (Singular Spectrum Analysis): 12-month cashflow / revenue trend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(PFI): per-dimension, audit-ready explanations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RandomizedPCA: 3-way GST vs ITR vs bank-credit anomaly / fraud signal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8: MSME profiles, consent &amp; OTP tables, audit trail (code-first migrations)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Storage: per-MSME data folder (raw source JSON + result.json)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Single ASP.NET Core 8 web app - Web + ML.NET in one deployable </a:t>
            </a:r>
            <a:r>
              <a:rPr lang="en-US" sz="1200" dirty="0" smtClean="0"/>
              <a:t>(modern monolith Architecture)</a:t>
            </a:r>
            <a:endParaRPr lang="en-US" sz="1200" dirty="0"/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API Management (planned): ULI/OCEN gateway with mTLS + OAuth2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GitHub: source control &amp; CI | IIS / </a:t>
            </a:r>
            <a:r>
              <a:rPr lang="en-US" sz="1200" dirty="0" smtClean="0"/>
              <a:t>Azure </a:t>
            </a:r>
            <a:r>
              <a:rPr lang="en-US" sz="1200" dirty="0"/>
              <a:t>App </a:t>
            </a:r>
            <a:r>
              <a:rPr lang="en-US" sz="1200" dirty="0" smtClean="0"/>
              <a:t>Service / AWS : </a:t>
            </a:r>
            <a:r>
              <a:rPr lang="en-US" sz="1200" dirty="0"/>
              <a:t>hosting</a:t>
            </a:r>
          </a:p>
          <a:p>
            <a:pPr lvl="0"/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Views: server-rendered Health Card UI (.cshtml + Bootstrap, minimal JS)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Chart.js: radar/spider chart (6-dimension score pillars), line chart (12-month score trend), doughnut chart (score band indicator)</a:t>
            </a:r>
          </a:p>
          <a:p>
            <a:pPr marL="139700" lvl="0">
              <a:buSzPts val="1400"/>
            </a:pPr>
            <a:endParaRPr lang="en-US" sz="1200" dirty="0"/>
          </a:p>
          <a:p>
            <a:pPr lvl="0"/>
            <a:r>
              <a:rPr lang="en-US" sz="1200" b="1" dirty="0"/>
              <a:t>DPI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(AA) via Finvu / FinFactor | Unified Lending Interface (ULI) DSP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OCEN 2.0 | GST System API | Udyam Registry | EPFO REST API (planned)</a:t>
            </a:r>
          </a:p>
        </p:txBody>
      </p:sp>
    </p:spTree>
    <p:extLst>
      <p:ext uri="{BB962C8B-B14F-4D97-AF65-F5344CB8AC3E}">
        <p14:creationId xmlns:p14="http://schemas.microsoft.com/office/powerpoint/2010/main" val="3948506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31 L / yr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7001D"/>
                </a:solidFill>
              </a:rPr>
              <a:t>Cost breakdown  -  centralised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/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814" y="994528"/>
            <a:ext cx="1719194" cy="405004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400" y="994528"/>
            <a:ext cx="2613232" cy="191879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399" y="3019551"/>
            <a:ext cx="2613233" cy="191879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338" y="1011715"/>
            <a:ext cx="3276829" cy="40156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19" y="994529"/>
            <a:ext cx="2724042" cy="202608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2168" y="1012489"/>
            <a:ext cx="2899231" cy="141777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1946" y="1012489"/>
            <a:ext cx="2700670" cy="146106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1" y="3314723"/>
            <a:ext cx="2935957" cy="14357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7061" y="3306535"/>
            <a:ext cx="2969443" cy="145211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147" y="3314723"/>
            <a:ext cx="2879062" cy="140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0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91" y="994528"/>
            <a:ext cx="2603879" cy="163171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9646" y="896208"/>
            <a:ext cx="2604977" cy="173003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2999" y="898249"/>
            <a:ext cx="3182537" cy="141420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91" y="2928973"/>
            <a:ext cx="4128185" cy="183441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5629" y="2666022"/>
            <a:ext cx="3980537" cy="223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1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74" y="946543"/>
            <a:ext cx="3403372" cy="191346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010" y="849457"/>
            <a:ext cx="3504633" cy="197039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74" y="3005578"/>
            <a:ext cx="3403372" cy="19134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8010" y="2918551"/>
            <a:ext cx="3504633" cy="1970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71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392" y="903768"/>
            <a:ext cx="3460814" cy="194575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8040" y="794002"/>
            <a:ext cx="3498453" cy="19669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391" y="2964204"/>
            <a:ext cx="3496272" cy="196569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8040" y="2849526"/>
            <a:ext cx="3746620" cy="210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72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285" y="1036331"/>
            <a:ext cx="3562860" cy="372632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040" y="2848797"/>
            <a:ext cx="3328944" cy="202514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039" y="794002"/>
            <a:ext cx="3852946" cy="1884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47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719/1000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Live score on real 6</a:t>
            </a:r>
            <a:r>
              <a:rPr lang="en-US" sz="900" dirty="0">
                <a:solidFill>
                  <a:srgbClr val="F3D6DF"/>
                </a:solidFill>
              </a:rPr>
              <a:t> to 12</a:t>
            </a:r>
            <a:r>
              <a:rPr sz="900" dirty="0">
                <a:solidFill>
                  <a:srgbClr val="F3D6DF"/>
                </a:solidFill>
              </a:rPr>
              <a:t>mo GST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DPI data sources fused: Udyam - GST - ITR </a:t>
            </a:r>
            <a:r>
              <a:rPr lang="en-IN" sz="900" dirty="0">
                <a:solidFill>
                  <a:srgbClr val="F3D6DF"/>
                </a:solidFill>
              </a:rPr>
              <a:t>–</a:t>
            </a:r>
            <a:r>
              <a:rPr sz="900">
                <a:solidFill>
                  <a:srgbClr val="F3D6DF"/>
                </a:solidFill>
              </a:rPr>
              <a:t> AA</a:t>
            </a:r>
            <a:r>
              <a:rPr lang="en-US" sz="900">
                <a:solidFill>
                  <a:srgbClr val="F3D6DF"/>
                </a:solidFill>
              </a:rPr>
              <a:t> (+1 - EPFO)</a:t>
            </a:r>
            <a:endParaRPr sz="900">
              <a:solidFill>
                <a:srgbClr val="F3D6DF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>
                <a:solidFill>
                  <a:srgbClr val="F3D6DF"/>
                </a:solidFill>
              </a:rPr>
              <a:t>MSME profiles the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7001D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614803"/>
              </p:ext>
            </p:extLst>
          </p:nvPr>
        </p:nvGraphicFramePr>
        <p:xfrm>
          <a:off x="274320" y="2907792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FinRiskLensAI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4 - Udyam, GST, ITR, AA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(+1 - EPFO)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3-way GST-ITR-bank anomaly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Deeper Data Integrations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MCA21 API - company / director &amp; charge-registry checks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EPFO payroll + GST e-invoice / e-way bill signals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CERSAI - existing collateral / security-interest lookup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AML, Fraud &amp; Compliance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Sanctions / PEP / adverse-media name screening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RBI Central Fraud Registry &amp; wilful-defaulter match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FIU-IND suspicious-transaction flags on AA data</a:t>
            </a: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Lending Ecosystem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Full ULI DSP + OCEN 2.0 certification &amp; go-live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CIBIL / CRIF commercial-bureau enrichment (NTB)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GST-invoice financing &amp; co-lending workflows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Product &amp; Intelligence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Score trend history + PDF Health Card export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Portfolio early-warning analytics for IDBI teams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Vernacular AI assistant + continuous MLOps retraining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3186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4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5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5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1402</Words>
  <Application>Microsoft Office PowerPoint</Application>
  <PresentationFormat>On-screen Show (16:9)</PresentationFormat>
  <Paragraphs>172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3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Abhinav Mukwane</cp:lastModifiedBy>
  <cp:revision>59</cp:revision>
  <dcterms:modified xsi:type="dcterms:W3CDTF">2026-07-08T10:07:47Z</dcterms:modified>
</cp:coreProperties>
</file>