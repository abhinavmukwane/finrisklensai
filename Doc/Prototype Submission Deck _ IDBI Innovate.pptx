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71" r:id="rId7"/>
    <p:sldId id="262" r:id="rId8"/>
    <p:sldId id="263" r:id="rId9"/>
    <p:sldId id="272" r:id="rId10"/>
    <p:sldId id="264" r:id="rId11"/>
    <p:sldId id="265" r:id="rId12"/>
    <p:sldId id="273" r:id="rId13"/>
    <p:sldId id="274" r:id="rId14"/>
    <p:sldId id="275" r:id="rId15"/>
    <p:sldId id="276" r:id="rId16"/>
    <p:sldId id="277" r:id="rId17"/>
    <p:sldId id="266" r:id="rId18"/>
    <p:sldId id="267" r:id="rId19"/>
    <p:sldId id="268" r:id="rId20"/>
    <p:sldId id="269" r:id="rId21"/>
    <p:sldId id="270" r:id="rId2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75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ed00c62399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ed00c62399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ed00c62399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ed00c62399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ed00c62399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ed00c62399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ed00c62399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ed00c62399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ed00c62399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ed00c62399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950481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ed00c62399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ed00c62399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ed00c62399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ed00c62399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ed00c62399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ed00c62399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956479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ed00c62399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ed00c62399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ed00c62399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ed00c62399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ed00c62399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ed00c62399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664474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ed00c62399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ed00c62399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7052507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ed00c62399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ed00c62399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203908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ed00c62399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ed00c62399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9837518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ed00c62399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ed00c62399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2634114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ed00c62399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ed00c62399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ed00c62399_0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ed00c62399_0_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ed00c62399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ed00c62399_0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ed00c62399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ed00c62399_0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ed00c62399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ed00c62399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2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bhinavmukwane/FinRiskLensAI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hyperlink" Target="https://finrisklensai.com/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IDBI banner deck 1.png"/>
          <p:cNvPicPr preferRelativeResize="0"/>
          <p:nvPr/>
        </p:nvPicPr>
        <p:blipFill rotWithShape="1">
          <a:blip r:embed="rId3">
            <a:alphaModFix/>
          </a:blip>
          <a:srcRect b="40681"/>
          <a:stretch/>
        </p:blipFill>
        <p:spPr>
          <a:xfrm>
            <a:off x="0" y="0"/>
            <a:ext cx="9144000" cy="30511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146600" y="3260725"/>
            <a:ext cx="8760000" cy="16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 dirty="0"/>
              <a:t>Team Details</a:t>
            </a:r>
            <a:endParaRPr sz="1500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b="1" dirty="0"/>
          </a:p>
          <a:p>
            <a:pPr marL="914400" lvl="1" indent="-323850">
              <a:buSzPts val="1500"/>
              <a:buAutoNum type="alphaLcPeriod"/>
            </a:pPr>
            <a:r>
              <a:rPr lang="en-GB" sz="1500" b="1" dirty="0"/>
              <a:t>Team name: </a:t>
            </a:r>
            <a:r>
              <a:rPr lang="en-GB" sz="1500" dirty="0"/>
              <a:t>ASM </a:t>
            </a:r>
            <a:r>
              <a:rPr lang="en-GB" sz="1500" dirty="0" err="1"/>
              <a:t>FinTech</a:t>
            </a:r>
            <a:r>
              <a:rPr lang="en-GB" sz="1500" dirty="0"/>
              <a:t> Developer</a:t>
            </a:r>
            <a:endParaRPr sz="1500"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AutoNum type="alphaLcPeriod"/>
            </a:pPr>
            <a:r>
              <a:rPr lang="en-GB" sz="1500" b="1" dirty="0"/>
              <a:t>Team leader name: </a:t>
            </a:r>
            <a:r>
              <a:rPr lang="en-US" sz="1500" dirty="0"/>
              <a:t>Abhinav Mukwane</a:t>
            </a:r>
            <a:endParaRPr sz="1500" dirty="0"/>
          </a:p>
          <a:p>
            <a:pPr marL="914400" lvl="1" indent="-323850">
              <a:buSzPts val="1500"/>
              <a:buAutoNum type="alphaLcPeriod"/>
            </a:pPr>
            <a:r>
              <a:rPr lang="en-GB" sz="1500" b="1" dirty="0"/>
              <a:t>Problem Statement: </a:t>
            </a:r>
            <a:r>
              <a:rPr lang="en-US" sz="1500" dirty="0"/>
              <a:t>Financial Health Score</a:t>
            </a:r>
            <a:endParaRPr sz="15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 title="IDBI banner deck 2.png"/>
          <p:cNvPicPr preferRelativeResize="0"/>
          <p:nvPr/>
        </p:nvPicPr>
        <p:blipFill rotWithShape="1">
          <a:blip r:embed="rId3">
            <a:alphaModFix/>
          </a:blip>
          <a:srcRect b="88462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4"/>
          <p:cNvSpPr txBox="1"/>
          <p:nvPr/>
        </p:nvSpPr>
        <p:spPr>
          <a:xfrm>
            <a:off x="295585" y="639387"/>
            <a:ext cx="8552829" cy="3905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/>
              <a:t>Brief about the idea</a:t>
            </a:r>
            <a:endParaRPr b="1" dirty="0"/>
          </a:p>
        </p:txBody>
      </p:sp>
      <p:pic>
        <p:nvPicPr>
          <p:cNvPr id="62" name="Google Shape;62;p14" title="IDBI banner deck 2.png"/>
          <p:cNvPicPr preferRelativeResize="0"/>
          <p:nvPr/>
        </p:nvPicPr>
        <p:blipFill rotWithShape="1">
          <a:blip r:embed="rId3">
            <a:alphaModFix/>
          </a:blip>
          <a:srcRect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/>
          <p:cNvSpPr txBox="1"/>
          <p:nvPr/>
        </p:nvSpPr>
        <p:spPr>
          <a:xfrm>
            <a:off x="295584" y="1029929"/>
            <a:ext cx="8722292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GB" sz="1200" dirty="0"/>
              <a:t>India has 64 million MSMEs contributing ~30% of GDP, yet 80%+ lack formal credit access. New-to-Credit (NTC) and New-to-Bank (NTB) enterprises are routinely rejected despite genuine creditworthiness — simply due to missing paperwork.</a:t>
            </a:r>
          </a:p>
          <a:p>
            <a:pPr lvl="0"/>
            <a:endParaRPr lang="en-GB" sz="1200" dirty="0"/>
          </a:p>
          <a:p>
            <a:pPr lvl="0"/>
            <a:r>
              <a:rPr lang="en-GB" sz="1200" b="1" dirty="0"/>
              <a:t>FinRiskLensAI : AI-Powered MSME Financial Health Score Platform</a:t>
            </a:r>
          </a:p>
          <a:p>
            <a:pPr lvl="0"/>
            <a:endParaRPr lang="en-GB" sz="700" dirty="0"/>
          </a:p>
          <a:p>
            <a:pPr marL="457200" lvl="0" indent="-317500">
              <a:lnSpc>
                <a:spcPct val="150000"/>
              </a:lnSpc>
              <a:buSzPts val="1400"/>
              <a:buChar char="●"/>
            </a:pPr>
            <a:r>
              <a:rPr lang="en-GB" sz="1200" dirty="0"/>
              <a:t>Aggregates alternate data streams: GST returns, Account Aggregator </a:t>
            </a:r>
            <a:r>
              <a:rPr lang="en-GB" sz="1200" dirty="0"/>
              <a:t>(Account </a:t>
            </a:r>
            <a:r>
              <a:rPr lang="en-GB" sz="1200" dirty="0" smtClean="0"/>
              <a:t>statements UPI </a:t>
            </a:r>
            <a:r>
              <a:rPr lang="en-GB" sz="1200" dirty="0" smtClean="0"/>
              <a:t>&amp; Other), </a:t>
            </a:r>
            <a:r>
              <a:rPr lang="en-GB" sz="1200" dirty="0"/>
              <a:t>ITR filings, Udyam registry </a:t>
            </a:r>
            <a:r>
              <a:rPr lang="en-GB" sz="1200" dirty="0" smtClean="0"/>
              <a:t>, </a:t>
            </a:r>
            <a:r>
              <a:rPr lang="en-GB" sz="1200" dirty="0" smtClean="0"/>
              <a:t>Ministry </a:t>
            </a:r>
            <a:r>
              <a:rPr lang="en-GB" sz="1200" dirty="0"/>
              <a:t>Corporate </a:t>
            </a:r>
            <a:r>
              <a:rPr lang="en-GB" sz="1200" dirty="0" smtClean="0"/>
              <a:t>Affairs and Related director verification, IP Verification, </a:t>
            </a:r>
            <a:r>
              <a:rPr lang="en-GB" sz="1200" dirty="0"/>
              <a:t>(EPFO slot ready</a:t>
            </a:r>
            <a:r>
              <a:rPr lang="en-GB" sz="1200" dirty="0" smtClean="0"/>
              <a:t>)</a:t>
            </a:r>
            <a:endParaRPr lang="en-GB" sz="1200" dirty="0"/>
          </a:p>
          <a:p>
            <a:pPr marL="457200" lvl="0" indent="-317500">
              <a:lnSpc>
                <a:spcPct val="150000"/>
              </a:lnSpc>
              <a:buSzPts val="1400"/>
              <a:buChar char="●"/>
            </a:pPr>
            <a:r>
              <a:rPr lang="en-GB" sz="1200" dirty="0"/>
              <a:t>Computes a multi-dimensional Financial Health Score (0-1000) across 6 weighted pillars using ML.NET (LightGBM model + rules engine)</a:t>
            </a:r>
          </a:p>
          <a:p>
            <a:pPr marL="457200" lvl="0" indent="-317500">
              <a:lnSpc>
                <a:spcPct val="150000"/>
              </a:lnSpc>
              <a:buSzPts val="1400"/>
              <a:buChar char="●"/>
            </a:pPr>
            <a:r>
              <a:rPr lang="en-GB" sz="1200" dirty="0"/>
              <a:t>Generates a visual Financial Health Card with radar chart, trend graph, risk flags, and credit product recommendations</a:t>
            </a:r>
          </a:p>
          <a:p>
            <a:pPr marL="457200" lvl="0" indent="-317500">
              <a:lnSpc>
                <a:spcPct val="150000"/>
              </a:lnSpc>
              <a:buSzPts val="1400"/>
              <a:buChar char="●"/>
            </a:pPr>
            <a:r>
              <a:rPr lang="en-GB" sz="1200" dirty="0"/>
              <a:t>Integrates with ULI (DSP API), OCEN 2.0 (LSP interface), and AA </a:t>
            </a:r>
            <a:r>
              <a:rPr lang="en-GB" sz="1200" dirty="0" smtClean="0"/>
              <a:t>FIU </a:t>
            </a:r>
            <a:r>
              <a:rPr lang="en-GB" sz="1200" dirty="0"/>
              <a:t>consent framework for near real-time assessment</a:t>
            </a:r>
          </a:p>
          <a:p>
            <a:pPr marL="457200" lvl="0" indent="-317500">
              <a:lnSpc>
                <a:spcPct val="150000"/>
              </a:lnSpc>
              <a:buSzPts val="1400"/>
              <a:buChar char="●"/>
            </a:pPr>
            <a:r>
              <a:rPr lang="en-GB" sz="1200" dirty="0"/>
              <a:t>Near real-time scoring: end-to-end score in under 10 seconds from consent trigger</a:t>
            </a:r>
          </a:p>
          <a:p>
            <a:pPr marL="457200" lvl="0" indent="-317500">
              <a:lnSpc>
                <a:spcPct val="150000"/>
              </a:lnSpc>
              <a:buSzPts val="1400"/>
              <a:buChar char="●"/>
            </a:pPr>
            <a:r>
              <a:rPr lang="en-GB" sz="1200" dirty="0"/>
              <a:t>PFI-based explainability: every score carries a dimension-level reason - audit-ready for credit </a:t>
            </a:r>
            <a:r>
              <a:rPr lang="en-GB" sz="1200" dirty="0" smtClean="0"/>
              <a:t>officers</a:t>
            </a:r>
            <a:endParaRPr lang="en-GB" sz="1200" dirty="0"/>
          </a:p>
          <a:p>
            <a:pPr marL="457200" lvl="0" indent="-317500">
              <a:lnSpc>
                <a:spcPct val="150000"/>
              </a:lnSpc>
              <a:buSzPts val="1400"/>
              <a:buChar char="●"/>
            </a:pPr>
            <a:r>
              <a:rPr lang="en-GB" sz="1200" dirty="0"/>
              <a:t>Recommends CGTMSE/MUDRA-backed products for mid-range scorers to maximise viable </a:t>
            </a:r>
            <a:r>
              <a:rPr lang="en-GB" sz="1200" dirty="0" smtClean="0"/>
              <a:t>approvals</a:t>
            </a:r>
            <a:endParaRPr lang="en-GB" sz="1200" dirty="0"/>
          </a:p>
          <a:p>
            <a:pPr marL="457200" lvl="0" indent="-317500">
              <a:lnSpc>
                <a:spcPct val="150000"/>
              </a:lnSpc>
              <a:buSzPts val="1400"/>
              <a:buChar char="●"/>
            </a:pPr>
            <a:r>
              <a:rPr lang="en-GB" sz="1200" dirty="0"/>
              <a:t>Enables IDBI Bank to on-board credit-invisible MSMEs while strengthening portfolio quality and sector diversification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/>
        </p:nvSpPr>
        <p:spPr>
          <a:xfrm>
            <a:off x="83127" y="593476"/>
            <a:ext cx="9060872" cy="445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/>
              <a:t>Opportunities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 dirty="0"/>
          </a:p>
          <a:p>
            <a:pPr lvl="0"/>
            <a:r>
              <a:rPr lang="en-US" sz="1200" b="1" dirty="0"/>
              <a:t>How different is it from any of the other existing ideas?</a:t>
            </a:r>
          </a:p>
          <a:p>
            <a:pPr marL="457200" lvl="0" indent="-317500">
              <a:buSzPts val="1400"/>
              <a:buChar char="●"/>
            </a:pPr>
            <a:r>
              <a:rPr lang="en-US" sz="1200" dirty="0"/>
              <a:t>Unlike CIBIL/Experian bureau scores, FinRiskLensAI works for NTC/NTB borrowers with zero credit history</a:t>
            </a:r>
          </a:p>
          <a:p>
            <a:pPr marL="457200" lvl="0" indent="-317500">
              <a:buSzPts val="1400"/>
              <a:buChar char="●"/>
            </a:pPr>
            <a:r>
              <a:rPr lang="en-US" sz="1200" dirty="0"/>
              <a:t>Unlike single-source tools, we unify </a:t>
            </a:r>
            <a:r>
              <a:rPr lang="en-US" sz="1200" dirty="0" smtClean="0"/>
              <a:t>6 </a:t>
            </a:r>
            <a:r>
              <a:rPr lang="en-US" sz="1200" dirty="0"/>
              <a:t>DPI data streams (GST + AA </a:t>
            </a:r>
            <a:r>
              <a:rPr lang="en-US" sz="1200" dirty="0" smtClean="0"/>
              <a:t>+ </a:t>
            </a:r>
            <a:r>
              <a:rPr lang="en-US" sz="1200" dirty="0"/>
              <a:t>ITR </a:t>
            </a:r>
            <a:r>
              <a:rPr lang="en-US" sz="1200" dirty="0" smtClean="0"/>
              <a:t>+ </a:t>
            </a:r>
            <a:r>
              <a:rPr lang="en-US" sz="1200" dirty="0" err="1" smtClean="0"/>
              <a:t>Udyam</a:t>
            </a:r>
            <a:r>
              <a:rPr lang="en-US" sz="1200" dirty="0" smtClean="0"/>
              <a:t> + MCA + DIN + IP) </a:t>
            </a:r>
            <a:r>
              <a:rPr lang="en-US" sz="1200" dirty="0"/>
              <a:t>in </a:t>
            </a:r>
            <a:r>
              <a:rPr lang="en-US" sz="1200" dirty="0" smtClean="0"/>
              <a:t>consent-based flow</a:t>
            </a:r>
            <a:endParaRPr lang="en-US" sz="1200" dirty="0"/>
          </a:p>
          <a:p>
            <a:pPr marL="457200" lvl="0" indent="-317500">
              <a:buSzPts val="1400"/>
              <a:buChar char="●"/>
            </a:pPr>
            <a:r>
              <a:rPr lang="en-US" sz="1200" dirty="0"/>
              <a:t>First solution combining ULI DSP-compatible API + OCEN 2.0 LSP + AA FIU consent flow in a single platform</a:t>
            </a:r>
          </a:p>
          <a:p>
            <a:pPr marL="457200" lvl="0" indent="-317500">
              <a:buSzPts val="1400"/>
              <a:buChar char="●"/>
            </a:pPr>
            <a:r>
              <a:rPr lang="en-US" sz="1200" dirty="0"/>
              <a:t>GST vs. bank-credit cross-validation as a proprietary fraud signal — no existing tool does this</a:t>
            </a:r>
          </a:p>
          <a:p>
            <a:pPr lvl="0"/>
            <a:endParaRPr lang="en-US" sz="1200" dirty="0"/>
          </a:p>
          <a:p>
            <a:pPr lvl="0"/>
            <a:r>
              <a:rPr lang="en-US" sz="1200" b="1" dirty="0"/>
              <a:t>How will it be able to solve the problem?</a:t>
            </a:r>
          </a:p>
          <a:p>
            <a:pPr marL="457200" lvl="0" indent="-317500">
              <a:buSzPts val="1400"/>
              <a:buChar char="●"/>
            </a:pPr>
            <a:r>
              <a:rPr lang="en-US" sz="1200" dirty="0"/>
              <a:t>Eliminates the 'no document, no credit' rejection cycle by using MSMEs' existing digital footprints as credit proxies</a:t>
            </a:r>
          </a:p>
          <a:p>
            <a:pPr marL="457200" lvl="0" indent="-317500">
              <a:buSzPts val="1400"/>
              <a:buChar char="●"/>
            </a:pPr>
            <a:r>
              <a:rPr lang="en-US" sz="1200" dirty="0"/>
              <a:t>Near real-time scoring replaces 2-3 week manual evaluation with a sub-10-second automated assessment</a:t>
            </a:r>
          </a:p>
          <a:p>
            <a:pPr marL="457200" lvl="0" indent="-317500">
              <a:buSzPts val="1400"/>
              <a:buChar char="●"/>
            </a:pPr>
            <a:r>
              <a:rPr lang="en-US" sz="1200" dirty="0"/>
              <a:t>PFI explainability gives credit officers dimension-level reasons — no black-box decisions</a:t>
            </a:r>
          </a:p>
          <a:p>
            <a:pPr marL="457200" lvl="0" indent="-317500">
              <a:buSzPts val="1400"/>
              <a:buChar char="●"/>
            </a:pPr>
            <a:r>
              <a:rPr lang="en-US" sz="1200" dirty="0"/>
              <a:t>Neutral baseline for NTC status prevents unfair penalization of first-time borrowers</a:t>
            </a:r>
          </a:p>
          <a:p>
            <a:pPr lvl="0"/>
            <a:endParaRPr lang="en-US" sz="1200" dirty="0"/>
          </a:p>
          <a:p>
            <a:pPr lvl="0"/>
            <a:r>
              <a:rPr lang="en-US" sz="1200" b="1" dirty="0"/>
              <a:t>USP of the proposed solution</a:t>
            </a:r>
          </a:p>
          <a:p>
            <a:pPr marL="457200" lvl="0" indent="-317500">
              <a:buSzPts val="1400"/>
              <a:buChar char="●"/>
            </a:pPr>
            <a:r>
              <a:rPr lang="en-US" sz="1200" dirty="0"/>
              <a:t>6-dimensional score gives IDBI a far richer risk picture than any single metric (Revenue, Cash Flow, Transactions, Compliance, Stability, Debt)</a:t>
            </a:r>
          </a:p>
          <a:p>
            <a:pPr marL="457200" lvl="0" indent="-317500">
              <a:buSzPts val="1400"/>
              <a:buChar char="●"/>
            </a:pPr>
            <a:r>
              <a:rPr lang="en-US" sz="1200" dirty="0"/>
              <a:t>Built entirely on India's DPI stack — zero proprietary data dependency, fully consent-based and DPDP Act 2023 compliant</a:t>
            </a:r>
          </a:p>
          <a:p>
            <a:pPr marL="457200" lvl="0" indent="-317500">
              <a:buSzPts val="1400"/>
              <a:buChar char="●"/>
            </a:pPr>
            <a:r>
              <a:rPr lang="en-US" sz="1200" dirty="0"/>
              <a:t>Credit product recommender maps score band to CGTMSE/MUDRA schemes — maximizing both approval rate and safety</a:t>
            </a:r>
          </a:p>
          <a:p>
            <a:pPr marL="457200" lvl="0" indent="-317500">
              <a:buSzPts val="1400"/>
              <a:buChar char="●"/>
            </a:pPr>
            <a:r>
              <a:rPr lang="en-US" sz="1200" dirty="0"/>
              <a:t>ULI DSP-compatible API means any OCEN-compliant lender can plug in — IDBI's infrastructure becomes reusable fintech rails</a:t>
            </a:r>
          </a:p>
        </p:txBody>
      </p:sp>
      <p:pic>
        <p:nvPicPr>
          <p:cNvPr id="68" name="Google Shape;68;p15" title="IDBI banner deck 2.png"/>
          <p:cNvPicPr preferRelativeResize="0"/>
          <p:nvPr/>
        </p:nvPicPr>
        <p:blipFill rotWithShape="1">
          <a:blip r:embed="rId3">
            <a:alphaModFix/>
          </a:blip>
          <a:srcRect b="88462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5" title="IDBI banner deck 2.png"/>
          <p:cNvPicPr preferRelativeResize="0"/>
          <p:nvPr/>
        </p:nvPicPr>
        <p:blipFill rotWithShape="1">
          <a:blip r:embed="rId3">
            <a:alphaModFix/>
          </a:blip>
          <a:srcRect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/>
        </p:nvSpPr>
        <p:spPr>
          <a:xfrm>
            <a:off x="265350" y="593476"/>
            <a:ext cx="8626402" cy="411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/>
              <a:t>List of features offered by the solution</a:t>
            </a:r>
            <a:endParaRPr b="1" dirty="0"/>
          </a:p>
        </p:txBody>
      </p:sp>
      <p:pic>
        <p:nvPicPr>
          <p:cNvPr id="75" name="Google Shape;75;p16" title="IDBI banner deck 2.png"/>
          <p:cNvPicPr preferRelativeResize="0"/>
          <p:nvPr/>
        </p:nvPicPr>
        <p:blipFill rotWithShape="1">
          <a:blip r:embed="rId3">
            <a:alphaModFix/>
          </a:blip>
          <a:srcRect b="88462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6" title="IDBI banner deck 2.png"/>
          <p:cNvPicPr preferRelativeResize="0"/>
          <p:nvPr/>
        </p:nvPicPr>
        <p:blipFill rotWithShape="1">
          <a:blip r:embed="rId3">
            <a:alphaModFix/>
          </a:blip>
          <a:srcRect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/>
          <p:cNvSpPr txBox="1"/>
          <p:nvPr/>
        </p:nvSpPr>
        <p:spPr>
          <a:xfrm>
            <a:off x="265350" y="906659"/>
            <a:ext cx="8626402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GB" sz="1200" b="1" dirty="0"/>
              <a:t>Data Aggregation</a:t>
            </a:r>
          </a:p>
          <a:p>
            <a:pPr marL="457200" lvl="0" indent="-317500">
              <a:buSzPts val="1400"/>
              <a:buChar char="●"/>
            </a:pPr>
            <a:r>
              <a:rPr lang="en-GB" sz="1200" dirty="0"/>
              <a:t>Consent-based multi-source pull: Udyam registry, GST API (</a:t>
            </a:r>
            <a:r>
              <a:rPr lang="en-GB" sz="1200" dirty="0" smtClean="0"/>
              <a:t>GSTR-1/2A/2B/3B</a:t>
            </a:r>
            <a:r>
              <a:rPr lang="en-GB" sz="1200" dirty="0"/>
              <a:t>, ITC), ITR filings, AA bank &amp; UPI statements (EPFO slot ready)</a:t>
            </a:r>
          </a:p>
          <a:p>
            <a:pPr marL="457200" lvl="0" indent="-317500">
              <a:buSzPts val="1400"/>
              <a:buChar char="●"/>
            </a:pPr>
            <a:r>
              <a:rPr lang="en-GB" sz="1200" dirty="0"/>
              <a:t>GST vs. bank-credit cross-validation for fraud/misrepresentation detection</a:t>
            </a:r>
          </a:p>
          <a:p>
            <a:pPr lvl="0"/>
            <a:endParaRPr lang="en-GB" sz="1200" dirty="0"/>
          </a:p>
          <a:p>
            <a:pPr lvl="0"/>
            <a:r>
              <a:rPr lang="en-GB" sz="1200" b="1" dirty="0"/>
              <a:t>AI / ML Scoring Engine</a:t>
            </a:r>
          </a:p>
          <a:p>
            <a:pPr marL="457200" lvl="0" indent="-317500">
              <a:buSzPts val="1400"/>
              <a:buChar char="●"/>
            </a:pPr>
            <a:r>
              <a:rPr lang="en-GB" sz="1200" dirty="0"/>
              <a:t>6-Dimension Weighted Score (0-1000): Revenue Vitality (25%), Cash Flow Health (20%), </a:t>
            </a:r>
            <a:r>
              <a:rPr lang="en-GB" sz="1200" dirty="0" err="1"/>
              <a:t>Tx</a:t>
            </a:r>
            <a:r>
              <a:rPr lang="en-GB" sz="1200" dirty="0"/>
              <a:t> Trustworthiness (15%), Compliance (15%), Business Stability (15%), Debt Serviceability (10%)</a:t>
            </a:r>
          </a:p>
          <a:p>
            <a:pPr marL="457200" lvl="0" indent="-317500">
              <a:buSzPts val="1400"/>
              <a:buChar char="●"/>
            </a:pPr>
            <a:r>
              <a:rPr lang="en-GB" sz="1200" dirty="0"/>
              <a:t>ML.NET LightGBM for tabular scoring + SSA time-series for 12-month trend + RandomizedPCA for cross-source anomaly detection</a:t>
            </a:r>
          </a:p>
          <a:p>
            <a:pPr marL="457200" lvl="0" indent="-317500">
              <a:buSzPts val="1400"/>
              <a:buChar char="●"/>
            </a:pPr>
            <a:r>
              <a:rPr lang="en-GB" sz="1200" dirty="0"/>
              <a:t>PFI (Permutation Feature Importance): per-dimension reasons for every score - audit-ready</a:t>
            </a:r>
          </a:p>
          <a:p>
            <a:pPr lvl="0"/>
            <a:endParaRPr lang="en-GB" sz="1200" dirty="0"/>
          </a:p>
          <a:p>
            <a:pPr lvl="0"/>
            <a:r>
              <a:rPr lang="en-GB" sz="1200" b="1" dirty="0"/>
              <a:t>Financial Health Card UI</a:t>
            </a:r>
          </a:p>
          <a:p>
            <a:pPr marL="457200" lvl="0" indent="-317500">
              <a:buSzPts val="1400"/>
              <a:buChar char="●"/>
            </a:pPr>
            <a:r>
              <a:rPr lang="en-GB" sz="1200" dirty="0"/>
              <a:t>Radar/spider chart for 6 dimensions, 12-month trend graph, green/yellow/red risk flags, top 3 strengths and risks</a:t>
            </a:r>
          </a:p>
          <a:p>
            <a:pPr marL="457200" lvl="0" indent="-317500">
              <a:buSzPts val="1400"/>
              <a:buChar char="●"/>
            </a:pPr>
            <a:r>
              <a:rPr lang="en-GB" sz="1200" dirty="0"/>
              <a:t>Recommended credit products (CGTMSE, MUDRA, standard working capital) mapped to score band</a:t>
            </a:r>
          </a:p>
          <a:p>
            <a:pPr marL="457200" lvl="0" indent="-317500">
              <a:buSzPts val="1400"/>
              <a:buChar char="●"/>
            </a:pPr>
            <a:r>
              <a:rPr lang="en-GB" sz="1200" dirty="0"/>
              <a:t>Downloadable PDF Health Card for branch-level use by IDBI credit officers</a:t>
            </a:r>
          </a:p>
          <a:p>
            <a:pPr lvl="0"/>
            <a:endParaRPr lang="en-GB" sz="1200" dirty="0"/>
          </a:p>
          <a:p>
            <a:pPr lvl="0"/>
            <a:r>
              <a:rPr lang="en-GB" sz="1200" b="1" dirty="0"/>
              <a:t>Integration &amp; API</a:t>
            </a:r>
          </a:p>
          <a:p>
            <a:pPr marL="457200" lvl="0" indent="-317500">
              <a:buSzPts val="1400"/>
              <a:buChar char="●"/>
            </a:pPr>
            <a:r>
              <a:rPr lang="en-GB" sz="1200" dirty="0"/>
              <a:t>ULI DSP-compatible REST API: any OCEN-compliant lender queries the score with </a:t>
            </a:r>
            <a:r>
              <a:rPr lang="en-GB" sz="1200" dirty="0" err="1"/>
              <a:t>mTLS</a:t>
            </a:r>
            <a:r>
              <a:rPr lang="en-GB" sz="1200" dirty="0"/>
              <a:t> + OAuth2</a:t>
            </a:r>
          </a:p>
          <a:p>
            <a:pPr marL="457200" lvl="0" indent="-317500">
              <a:buSzPts val="1400"/>
              <a:buChar char="●"/>
            </a:pPr>
            <a:r>
              <a:rPr lang="en-GB" sz="1200" dirty="0"/>
              <a:t>IDBI LOS Integration: score + Health Card delivered inline to Loan Origination System</a:t>
            </a:r>
          </a:p>
          <a:p>
            <a:pPr marL="457200" lvl="0" indent="-317500">
              <a:buSzPts val="1400"/>
              <a:buChar char="●"/>
            </a:pPr>
            <a:r>
              <a:rPr lang="en-GB" sz="1200" dirty="0"/>
              <a:t>AA FIU consent lifecycle: consent request, artefact verification, FIP data pull, auto-expiry</a:t>
            </a:r>
          </a:p>
          <a:p>
            <a:pPr marL="457200" lvl="0" indent="-317500">
              <a:buSzPts val="1400"/>
              <a:buChar char="●"/>
            </a:pPr>
            <a:r>
              <a:rPr lang="en-GB" sz="1200" dirty="0"/>
              <a:t>On-demand refresh: a new GST filing or AA consent re-runs the blob-based scoring pipeline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/>
        </p:nvSpPr>
        <p:spPr>
          <a:xfrm>
            <a:off x="201000" y="593476"/>
            <a:ext cx="8606669" cy="432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/>
              <a:t>Process flow diagram or Use-case diagram</a:t>
            </a:r>
            <a:endParaRPr b="1" dirty="0"/>
          </a:p>
        </p:txBody>
      </p:sp>
      <p:pic>
        <p:nvPicPr>
          <p:cNvPr id="82" name="Google Shape;82;p17" title="IDBI banner deck 2.png"/>
          <p:cNvPicPr preferRelativeResize="0"/>
          <p:nvPr/>
        </p:nvPicPr>
        <p:blipFill rotWithShape="1">
          <a:blip r:embed="rId3">
            <a:alphaModFix/>
          </a:blip>
          <a:srcRect b="88462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7" title="IDBI banner deck 2.png"/>
          <p:cNvPicPr preferRelativeResize="0"/>
          <p:nvPr/>
        </p:nvPicPr>
        <p:blipFill rotWithShape="1">
          <a:blip r:embed="rId3">
            <a:alphaModFix/>
          </a:blip>
          <a:srcRect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7315" y="704613"/>
            <a:ext cx="4728906" cy="43116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/>
        </p:nvSpPr>
        <p:spPr>
          <a:xfrm>
            <a:off x="201000" y="563151"/>
            <a:ext cx="8522586" cy="4148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/>
              <a:t>Process flow diagram or Use-case diagram</a:t>
            </a:r>
            <a:endParaRPr b="1" dirty="0"/>
          </a:p>
        </p:txBody>
      </p:sp>
      <p:pic>
        <p:nvPicPr>
          <p:cNvPr id="82" name="Google Shape;82;p17" title="IDBI banner deck 2.png"/>
          <p:cNvPicPr preferRelativeResize="0"/>
          <p:nvPr/>
        </p:nvPicPr>
        <p:blipFill rotWithShape="1">
          <a:blip r:embed="rId3">
            <a:alphaModFix/>
          </a:blip>
          <a:srcRect b="88462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7" title="IDBI banner deck 2.png"/>
          <p:cNvPicPr preferRelativeResize="0"/>
          <p:nvPr/>
        </p:nvPicPr>
        <p:blipFill rotWithShape="1">
          <a:blip r:embed="rId3">
            <a:alphaModFix/>
          </a:blip>
          <a:srcRect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7653" y="974080"/>
            <a:ext cx="3548637" cy="407049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2198" y="2293124"/>
            <a:ext cx="4145894" cy="1585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8445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/>
        </p:nvSpPr>
        <p:spPr>
          <a:xfrm>
            <a:off x="275861" y="593476"/>
            <a:ext cx="8573849" cy="405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/>
              <a:t>Architecture diagram of the proposed solution</a:t>
            </a:r>
            <a:endParaRPr b="1" dirty="0"/>
          </a:p>
        </p:txBody>
      </p:sp>
      <p:pic>
        <p:nvPicPr>
          <p:cNvPr id="96" name="Google Shape;96;p19" title="IDBI banner deck 2.png"/>
          <p:cNvPicPr preferRelativeResize="0"/>
          <p:nvPr/>
        </p:nvPicPr>
        <p:blipFill rotWithShape="1">
          <a:blip r:embed="rId3">
            <a:alphaModFix/>
          </a:blip>
          <a:srcRect b="88462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9" title="IDBI banner deck 2.png"/>
          <p:cNvPicPr preferRelativeResize="0"/>
          <p:nvPr/>
        </p:nvPicPr>
        <p:blipFill rotWithShape="1">
          <a:blip r:embed="rId3">
            <a:alphaModFix/>
          </a:blip>
          <a:srcRect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9486" y="608442"/>
            <a:ext cx="3670114" cy="453505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/>
        </p:nvSpPr>
        <p:spPr>
          <a:xfrm>
            <a:off x="201000" y="593476"/>
            <a:ext cx="8722283" cy="426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Technologies to be used in the solution</a:t>
            </a:r>
            <a:endParaRPr b="1"/>
          </a:p>
        </p:txBody>
      </p:sp>
      <p:pic>
        <p:nvPicPr>
          <p:cNvPr id="103" name="Google Shape;103;p20" title="IDBI banner deck 2.png"/>
          <p:cNvPicPr preferRelativeResize="0"/>
          <p:nvPr/>
        </p:nvPicPr>
        <p:blipFill rotWithShape="1">
          <a:blip r:embed="rId3">
            <a:alphaModFix/>
          </a:blip>
          <a:srcRect b="88462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20" title="IDBI banner deck 2.png"/>
          <p:cNvPicPr preferRelativeResize="0"/>
          <p:nvPr/>
        </p:nvPicPr>
        <p:blipFill rotWithShape="1">
          <a:blip r:embed="rId3">
            <a:alphaModFix/>
          </a:blip>
          <a:srcRect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/>
          <p:cNvSpPr txBox="1"/>
          <p:nvPr/>
        </p:nvSpPr>
        <p:spPr>
          <a:xfrm>
            <a:off x="201000" y="1019503"/>
            <a:ext cx="864871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b="1" dirty="0"/>
              <a:t>Backend — Orchestration &amp; API</a:t>
            </a:r>
          </a:p>
          <a:p>
            <a:pPr marL="457200" lvl="0" indent="-317500">
              <a:buSzPts val="1400"/>
              <a:buChar char="●"/>
            </a:pPr>
            <a:r>
              <a:rPr lang="en-US" sz="1200" dirty="0"/>
              <a:t>ASP.NET Core 8 MVC (C#): orchestration + Udyam/GST/ITR/AA (Finvu) connectors, ULI DSP, IDBI LOS webhook</a:t>
            </a:r>
          </a:p>
          <a:p>
            <a:pPr marL="457200" lvl="0" indent="-317500">
              <a:buSzPts val="1400"/>
              <a:buChar char="●"/>
            </a:pPr>
            <a:r>
              <a:rPr lang="en-US" sz="1200" dirty="0"/>
              <a:t>ML.NET (in-process): scoring, feature engineering &amp; PFI explainability - no separate ML service</a:t>
            </a:r>
          </a:p>
          <a:p>
            <a:pPr marL="457200" lvl="0" indent="-317500">
              <a:buSzPts val="1400"/>
              <a:buChar char="●"/>
            </a:pPr>
            <a:r>
              <a:rPr lang="en-US" sz="1200" dirty="0"/>
              <a:t>Autofac: DI &amp; module auto-registration | Serilog: structured file/console logging</a:t>
            </a:r>
          </a:p>
          <a:p>
            <a:pPr lvl="0"/>
            <a:endParaRPr lang="en-US" sz="1200" dirty="0"/>
          </a:p>
          <a:p>
            <a:pPr lvl="0"/>
            <a:r>
              <a:rPr lang="en-US" sz="1200" b="1" dirty="0"/>
              <a:t>AI / ML Stack</a:t>
            </a:r>
          </a:p>
          <a:p>
            <a:pPr marL="457200" lvl="0" indent="-317500">
              <a:buSzPts val="1400"/>
              <a:buChar char="●"/>
            </a:pPr>
            <a:r>
              <a:rPr lang="en-US" sz="1200" dirty="0"/>
              <a:t>ML.NET LightGBM: calibration model; final score = 0.6 rules engine + 0.4 ML model</a:t>
            </a:r>
          </a:p>
          <a:p>
            <a:pPr marL="457200" lvl="0" indent="-317500">
              <a:buSzPts val="1400"/>
              <a:buChar char="●"/>
            </a:pPr>
            <a:r>
              <a:rPr lang="en-US" sz="1200" dirty="0"/>
              <a:t>ML.NET SSA (Singular Spectrum Analysis): 12-month cashflow / revenue trend</a:t>
            </a:r>
          </a:p>
          <a:p>
            <a:pPr marL="457200" lvl="0" indent="-317500">
              <a:buSzPts val="1400"/>
              <a:buChar char="●"/>
            </a:pPr>
            <a:r>
              <a:rPr lang="en-US" sz="1200" dirty="0"/>
              <a:t>Permutation Feature Importance (PFI): per-dimension, audit-ready explanations</a:t>
            </a:r>
          </a:p>
          <a:p>
            <a:pPr marL="457200" lvl="0" indent="-317500">
              <a:buSzPts val="1400"/>
              <a:buChar char="●"/>
            </a:pPr>
            <a:r>
              <a:rPr lang="en-US" sz="1200" dirty="0"/>
              <a:t>ML.NET RandomizedPCA: 3-way GST vs ITR vs bank-credit anomaly / fraud signal</a:t>
            </a:r>
          </a:p>
          <a:p>
            <a:pPr lvl="0"/>
            <a:endParaRPr lang="en-US" sz="1200" dirty="0"/>
          </a:p>
          <a:p>
            <a:pPr lvl="0"/>
            <a:r>
              <a:rPr lang="en-US" sz="1200" b="1" dirty="0"/>
              <a:t>Data &amp; Storage</a:t>
            </a:r>
          </a:p>
          <a:p>
            <a:pPr marL="457200" lvl="0" indent="-317500">
              <a:buSzPts val="1400"/>
              <a:buChar char="●"/>
            </a:pPr>
            <a:r>
              <a:rPr lang="en-US" sz="1200" dirty="0"/>
              <a:t>SQL Server + EF Core 8: MSME profiles, consent &amp; OTP tables, audit trail (code-first migrations)</a:t>
            </a:r>
          </a:p>
          <a:p>
            <a:pPr marL="457200" lvl="0" indent="-317500">
              <a:buSzPts val="1400"/>
              <a:buChar char="●"/>
            </a:pPr>
            <a:r>
              <a:rPr lang="en-US" sz="1200" dirty="0"/>
              <a:t>Azure Blob Storage: per-MSME data folder (raw source JSON + result.json)</a:t>
            </a:r>
          </a:p>
          <a:p>
            <a:pPr lvl="0"/>
            <a:endParaRPr lang="en-US" sz="1200" dirty="0"/>
          </a:p>
          <a:p>
            <a:pPr lvl="0"/>
            <a:r>
              <a:rPr lang="en-US" sz="1200" b="1" dirty="0"/>
              <a:t>Infrastructure &amp; DevOps</a:t>
            </a:r>
          </a:p>
          <a:p>
            <a:pPr marL="457200" lvl="0" indent="-317500">
              <a:buSzPts val="1400"/>
              <a:buChar char="●"/>
            </a:pPr>
            <a:r>
              <a:rPr lang="en-US" sz="1200" dirty="0"/>
              <a:t>Single ASP.NET Core 8 web app - Web + ML.NET in one deployable </a:t>
            </a:r>
            <a:r>
              <a:rPr lang="en-US" sz="1200" dirty="0" smtClean="0"/>
              <a:t>(modern monolith Architecture)</a:t>
            </a:r>
            <a:endParaRPr lang="en-US" sz="1200" dirty="0"/>
          </a:p>
          <a:p>
            <a:pPr marL="457200" lvl="0" indent="-317500">
              <a:buSzPts val="1400"/>
              <a:buChar char="●"/>
            </a:pPr>
            <a:r>
              <a:rPr lang="en-US" sz="1200" dirty="0"/>
              <a:t>Azure API Management (planned): ULI/OCEN gateway with mTLS + OAuth2</a:t>
            </a:r>
          </a:p>
          <a:p>
            <a:pPr marL="457200" lvl="0" indent="-317500">
              <a:buSzPts val="1400"/>
              <a:buChar char="●"/>
            </a:pPr>
            <a:r>
              <a:rPr lang="en-US" sz="1200" dirty="0"/>
              <a:t>GitHub: source control &amp; CI | IIS / </a:t>
            </a:r>
            <a:r>
              <a:rPr lang="en-US" sz="1200" dirty="0" smtClean="0"/>
              <a:t>Azure </a:t>
            </a:r>
            <a:r>
              <a:rPr lang="en-US" sz="1200" dirty="0"/>
              <a:t>App </a:t>
            </a:r>
            <a:r>
              <a:rPr lang="en-US" sz="1200" dirty="0" smtClean="0"/>
              <a:t>Service / AWS : </a:t>
            </a:r>
            <a:r>
              <a:rPr lang="en-US" sz="1200" dirty="0"/>
              <a:t>hosting</a:t>
            </a:r>
          </a:p>
          <a:p>
            <a:pPr lvl="0"/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/>
        </p:nvSpPr>
        <p:spPr>
          <a:xfrm>
            <a:off x="201000" y="593476"/>
            <a:ext cx="8722283" cy="426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Technologies to be used in the solution</a:t>
            </a:r>
            <a:endParaRPr b="1"/>
          </a:p>
        </p:txBody>
      </p:sp>
      <p:pic>
        <p:nvPicPr>
          <p:cNvPr id="103" name="Google Shape;103;p20" title="IDBI banner deck 2.png"/>
          <p:cNvPicPr preferRelativeResize="0"/>
          <p:nvPr/>
        </p:nvPicPr>
        <p:blipFill rotWithShape="1">
          <a:blip r:embed="rId3">
            <a:alphaModFix/>
          </a:blip>
          <a:srcRect b="88462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20" title="IDBI banner deck 2.png"/>
          <p:cNvPicPr preferRelativeResize="0"/>
          <p:nvPr/>
        </p:nvPicPr>
        <p:blipFill rotWithShape="1">
          <a:blip r:embed="rId3">
            <a:alphaModFix/>
          </a:blip>
          <a:srcRect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/>
          <p:cNvSpPr txBox="1"/>
          <p:nvPr/>
        </p:nvSpPr>
        <p:spPr>
          <a:xfrm>
            <a:off x="201000" y="1019503"/>
            <a:ext cx="864871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b="1" dirty="0"/>
              <a:t>Frontend</a:t>
            </a:r>
          </a:p>
          <a:p>
            <a:pPr marL="457200" lvl="0" indent="-317500">
              <a:buSzPts val="1400"/>
              <a:buChar char="●"/>
            </a:pPr>
            <a:r>
              <a:rPr lang="en-US" sz="1200" dirty="0"/>
              <a:t>ASP.NET Core MVC + Razor Views: server-rendered Health Card UI (.cshtml + Bootstrap, minimal JS)</a:t>
            </a:r>
          </a:p>
          <a:p>
            <a:pPr marL="457200" lvl="0" indent="-317500">
              <a:buSzPts val="1400"/>
              <a:buChar char="●"/>
            </a:pPr>
            <a:r>
              <a:rPr lang="en-US" sz="1200" dirty="0"/>
              <a:t>Chart.js: radar/spider chart (6-dimension score pillars), line chart (12-month score trend), doughnut chart (score band indicator)</a:t>
            </a:r>
          </a:p>
          <a:p>
            <a:pPr marL="139700" lvl="0">
              <a:buSzPts val="1400"/>
            </a:pPr>
            <a:endParaRPr lang="en-US" sz="1200" dirty="0"/>
          </a:p>
          <a:p>
            <a:pPr lvl="0"/>
            <a:r>
              <a:rPr lang="en-US" sz="1200" b="1" dirty="0"/>
              <a:t>DPI Integrations</a:t>
            </a:r>
          </a:p>
          <a:p>
            <a:pPr marL="457200" lvl="0" indent="-317500">
              <a:buSzPts val="1400"/>
              <a:buChar char="●"/>
            </a:pPr>
            <a:r>
              <a:rPr lang="en-US" sz="1200" dirty="0"/>
              <a:t>Account Aggregator (AA) via Finvu / FinFactor | Unified Lending Interface (ULI) DSP API</a:t>
            </a:r>
          </a:p>
          <a:p>
            <a:pPr marL="457200" lvl="0" indent="-317500">
              <a:buSzPts val="1400"/>
              <a:buChar char="●"/>
            </a:pPr>
            <a:r>
              <a:rPr lang="en-US" sz="1200" dirty="0"/>
              <a:t>OCEN 2.0 | GST System API | Udyam Registry | EPFO REST API (planned)</a:t>
            </a:r>
          </a:p>
        </p:txBody>
      </p:sp>
    </p:spTree>
    <p:extLst>
      <p:ext uri="{BB962C8B-B14F-4D97-AF65-F5344CB8AC3E}">
        <p14:creationId xmlns:p14="http://schemas.microsoft.com/office/powerpoint/2010/main" val="39485064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/>
        </p:nvSpPr>
        <p:spPr>
          <a:xfrm>
            <a:off x="265350" y="74457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Estimated implementation cost (optional)</a:t>
            </a:r>
            <a:endParaRPr b="1"/>
          </a:p>
        </p:txBody>
      </p:sp>
      <p:pic>
        <p:nvPicPr>
          <p:cNvPr id="110" name="Google Shape;110;p21" title="IDBI banner deck 2.png"/>
          <p:cNvPicPr preferRelativeResize="0"/>
          <p:nvPr/>
        </p:nvPicPr>
        <p:blipFill rotWithShape="1">
          <a:blip r:embed="rId3">
            <a:alphaModFix/>
          </a:blip>
          <a:srcRect b="88462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21" title="IDBI banner deck 2.png"/>
          <p:cNvPicPr preferRelativeResize="0"/>
          <p:nvPr/>
        </p:nvPicPr>
        <p:blipFill rotWithShape="1">
          <a:blip r:embed="rId3">
            <a:alphaModFix/>
          </a:blip>
          <a:srcRect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cost_tile"/>
          <p:cNvSpPr/>
          <p:nvPr/>
        </p:nvSpPr>
        <p:spPr>
          <a:xfrm>
            <a:off x="274320" y="1463040"/>
            <a:ext cx="2743200" cy="960120"/>
          </a:xfrm>
          <a:prstGeom prst="roundRect">
            <a:avLst/>
          </a:prstGeom>
          <a:solidFill>
            <a:srgbClr val="570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/>
            <a:r>
              <a:rPr sz="2600" b="1">
                <a:solidFill>
                  <a:srgbClr val="FFFFFF"/>
                </a:solidFill>
              </a:rPr>
              <a:t>₹ 22 L</a:t>
            </a:r>
          </a:p>
          <a:p>
            <a:pPr algn="ctr"/>
            <a:r>
              <a:rPr sz="950">
                <a:solidFill>
                  <a:srgbClr val="F3D6DF"/>
                </a:solidFill>
              </a:rPr>
              <a:t>One-time setup (build + security)</a:t>
            </a:r>
          </a:p>
        </p:txBody>
      </p:sp>
      <p:sp>
        <p:nvSpPr>
          <p:cNvPr id="113" name="cost_tile"/>
          <p:cNvSpPr/>
          <p:nvPr/>
        </p:nvSpPr>
        <p:spPr>
          <a:xfrm>
            <a:off x="3200400" y="1463040"/>
            <a:ext cx="2743200" cy="960120"/>
          </a:xfrm>
          <a:prstGeom prst="roundRect">
            <a:avLst/>
          </a:prstGeom>
          <a:solidFill>
            <a:srgbClr val="570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/>
            <a:r>
              <a:rPr sz="2600" b="1" dirty="0">
                <a:solidFill>
                  <a:srgbClr val="FFFFFF"/>
                </a:solidFill>
              </a:rPr>
              <a:t>₹ 31 L / </a:t>
            </a:r>
            <a:r>
              <a:rPr sz="2600" b="1" dirty="0" err="1">
                <a:solidFill>
                  <a:srgbClr val="FFFFFF"/>
                </a:solidFill>
              </a:rPr>
              <a:t>yr</a:t>
            </a:r>
            <a:endParaRPr sz="2600" b="1" dirty="0">
              <a:solidFill>
                <a:srgbClr val="FFFFFF"/>
              </a:solidFill>
            </a:endParaRPr>
          </a:p>
          <a:p>
            <a:pPr algn="ctr"/>
            <a:r>
              <a:rPr sz="950" dirty="0">
                <a:solidFill>
                  <a:srgbClr val="F3D6DF"/>
                </a:solidFill>
              </a:rPr>
              <a:t>Recurring (cloud + data + support)</a:t>
            </a:r>
          </a:p>
        </p:txBody>
      </p:sp>
      <p:sp>
        <p:nvSpPr>
          <p:cNvPr id="114" name="cost_tile"/>
          <p:cNvSpPr/>
          <p:nvPr/>
        </p:nvSpPr>
        <p:spPr>
          <a:xfrm>
            <a:off x="6126480" y="1463040"/>
            <a:ext cx="2743200" cy="960120"/>
          </a:xfrm>
          <a:prstGeom prst="roundRect">
            <a:avLst/>
          </a:prstGeom>
          <a:solidFill>
            <a:srgbClr val="570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/>
            <a:r>
              <a:rPr sz="2600" b="1">
                <a:solidFill>
                  <a:srgbClr val="FFFFFF"/>
                </a:solidFill>
              </a:rPr>
              <a:t>~ ₹ 1.15 Cr</a:t>
            </a:r>
          </a:p>
          <a:p>
            <a:pPr algn="ctr"/>
            <a:r>
              <a:rPr sz="950">
                <a:solidFill>
                  <a:srgbClr val="F3D6DF"/>
                </a:solidFill>
              </a:rPr>
              <a:t>3-year total cost of ownership</a:t>
            </a:r>
          </a:p>
        </p:txBody>
      </p:sp>
      <p:sp>
        <p:nvSpPr>
          <p:cNvPr id="115" name="cost_label"/>
          <p:cNvSpPr txBox="1"/>
          <p:nvPr/>
        </p:nvSpPr>
        <p:spPr>
          <a:xfrm>
            <a:off x="320040" y="2572372"/>
            <a:ext cx="8503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dirty="0">
                <a:solidFill>
                  <a:srgbClr val="57001D"/>
                </a:solidFill>
              </a:rPr>
              <a:t>Cost breakdown  -  </a:t>
            </a:r>
            <a:r>
              <a:rPr sz="1200" b="1" dirty="0" err="1">
                <a:solidFill>
                  <a:srgbClr val="57001D"/>
                </a:solidFill>
              </a:rPr>
              <a:t>centralised</a:t>
            </a:r>
            <a:r>
              <a:rPr sz="1200" b="1" dirty="0">
                <a:solidFill>
                  <a:srgbClr val="57001D"/>
                </a:solidFill>
              </a:rPr>
              <a:t> cloud deployment serving all IDBI branches pan-India</a:t>
            </a:r>
          </a:p>
        </p:txBody>
      </p:sp>
      <p:graphicFrame>
        <p:nvGraphicFramePr>
          <p:cNvPr id="116" name="cost_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0347660"/>
              </p:ext>
            </p:extLst>
          </p:nvPr>
        </p:nvGraphicFramePr>
        <p:xfrm>
          <a:off x="274320" y="2889504"/>
          <a:ext cx="8503920" cy="20098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709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Cost head</a:t>
                      </a:r>
                    </a:p>
                  </a:txBody>
                  <a:tcPr marT="18288" marB="18288" anchor="ctr">
                    <a:solidFill>
                      <a:srgbClr val="5700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Type</a:t>
                      </a:r>
                    </a:p>
                  </a:txBody>
                  <a:tcPr marT="18288" marB="18288" anchor="ctr">
                    <a:solidFill>
                      <a:srgbClr val="57001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</a:rPr>
                        <a:t>Estimate (INR)</a:t>
                      </a:r>
                    </a:p>
                  </a:txBody>
                  <a:tcPr marT="18288" marB="18288" anchor="ctr">
                    <a:solidFill>
                      <a:srgbClr val="5700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186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B2026"/>
                          </a:solidFill>
                        </a:rPr>
                        <a:t>Development - 3-member team, ~6-month build</a:t>
                      </a:r>
                    </a:p>
                  </a:txBody>
                  <a:tcPr marT="18288" marB="18288" anchor="ctr">
                    <a:solidFill>
                      <a:srgbClr val="FA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C4A50"/>
                          </a:solidFill>
                        </a:rPr>
                        <a:t>One-time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57001D"/>
                          </a:solidFill>
                        </a:rPr>
                        <a:t>₹ 18 L</a:t>
                      </a:r>
                    </a:p>
                  </a:txBody>
                  <a:tcPr marT="18288" marB="18288" anchor="ctr">
                    <a:solidFill>
                      <a:srgbClr val="F3EA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186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B2026"/>
                          </a:solidFill>
                        </a:rPr>
                        <a:t>Security testing &amp; RBI / DPDP compliance audit</a:t>
                      </a:r>
                    </a:p>
                  </a:txBody>
                  <a:tcPr marT="18288" marB="18288" anchor="ctr">
                    <a:solidFill>
                      <a:srgbClr val="FA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C4A50"/>
                          </a:solidFill>
                        </a:rPr>
                        <a:t>One-time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57001D"/>
                          </a:solidFill>
                        </a:rPr>
                        <a:t>₹ 4 L</a:t>
                      </a:r>
                    </a:p>
                  </a:txBody>
                  <a:tcPr marT="18288" marB="18288" anchor="ctr">
                    <a:solidFill>
                      <a:srgbClr val="F3EA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1868">
                <a:tc>
                  <a:txBody>
                    <a:bodyPr/>
                    <a:lstStyle/>
                    <a:p>
                      <a:r>
                        <a:rPr sz="1050" b="1" dirty="0">
                          <a:solidFill>
                            <a:srgbClr val="2B2026"/>
                          </a:solidFill>
                        </a:rPr>
                        <a:t>Cloud &amp; servers - Azure App Service, SQL, Blob, APIM</a:t>
                      </a:r>
                    </a:p>
                  </a:txBody>
                  <a:tcPr marT="18288" marB="18288" anchor="ctr">
                    <a:solidFill>
                      <a:srgbClr val="FA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C4A50"/>
                          </a:solidFill>
                        </a:rPr>
                        <a:t>Annual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57001D"/>
                          </a:solidFill>
                        </a:rPr>
                        <a:t>₹ 12 L</a:t>
                      </a:r>
                    </a:p>
                  </a:txBody>
                  <a:tcPr marT="18288" marB="18288" anchor="ctr">
                    <a:solidFill>
                      <a:srgbClr val="F3EA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1868">
                <a:tc>
                  <a:txBody>
                    <a:bodyPr/>
                    <a:lstStyle/>
                    <a:p>
                      <a:r>
                        <a:rPr sz="1050" b="1" dirty="0">
                          <a:solidFill>
                            <a:srgbClr val="2B2026"/>
                          </a:solidFill>
                        </a:rPr>
                        <a:t>Data &amp; API usage - AA (</a:t>
                      </a:r>
                      <a:r>
                        <a:rPr sz="1050" b="1" dirty="0" err="1">
                          <a:solidFill>
                            <a:srgbClr val="2B2026"/>
                          </a:solidFill>
                        </a:rPr>
                        <a:t>Finvu</a:t>
                      </a:r>
                      <a:r>
                        <a:rPr sz="1050" b="1" dirty="0">
                          <a:solidFill>
                            <a:srgbClr val="2B2026"/>
                          </a:solidFill>
                        </a:rPr>
                        <a:t>), </a:t>
                      </a:r>
                      <a:r>
                        <a:rPr sz="1050" b="1" dirty="0" smtClean="0">
                          <a:solidFill>
                            <a:srgbClr val="2B2026"/>
                          </a:solidFill>
                        </a:rPr>
                        <a:t>GST</a:t>
                      </a:r>
                      <a:r>
                        <a:rPr lang="en-US" sz="1050" b="1" dirty="0" smtClean="0">
                          <a:solidFill>
                            <a:srgbClr val="2B2026"/>
                          </a:solidFill>
                        </a:rPr>
                        <a:t>,GST1, GST2B, GST3B</a:t>
                      </a:r>
                      <a:r>
                        <a:rPr sz="1050" b="1" dirty="0" smtClean="0">
                          <a:solidFill>
                            <a:srgbClr val="2B2026"/>
                          </a:solidFill>
                        </a:rPr>
                        <a:t>, ITR</a:t>
                      </a:r>
                      <a:r>
                        <a:rPr lang="en-US" sz="1050" b="1" dirty="0" smtClean="0">
                          <a:solidFill>
                            <a:srgbClr val="2B2026"/>
                          </a:solidFill>
                        </a:rPr>
                        <a:t>,</a:t>
                      </a:r>
                      <a:r>
                        <a:rPr lang="en-US" sz="1050" b="1" baseline="0" dirty="0" smtClean="0">
                          <a:solidFill>
                            <a:srgbClr val="2B2026"/>
                          </a:solidFill>
                        </a:rPr>
                        <a:t> </a:t>
                      </a:r>
                      <a:r>
                        <a:rPr lang="en-US" sz="1050" b="1" baseline="0" dirty="0" err="1" smtClean="0">
                          <a:solidFill>
                            <a:srgbClr val="2B2026"/>
                          </a:solidFill>
                        </a:rPr>
                        <a:t>Udyam</a:t>
                      </a:r>
                      <a:r>
                        <a:rPr lang="en-US" sz="1050" b="1" baseline="0" dirty="0" smtClean="0">
                          <a:solidFill>
                            <a:srgbClr val="2B2026"/>
                          </a:solidFill>
                        </a:rPr>
                        <a:t> , </a:t>
                      </a:r>
                      <a:r>
                        <a:rPr lang="en-US" sz="1050" b="1" baseline="0" dirty="0" err="1" smtClean="0">
                          <a:solidFill>
                            <a:srgbClr val="2B2026"/>
                          </a:solidFill>
                        </a:rPr>
                        <a:t>Ministery</a:t>
                      </a:r>
                      <a:r>
                        <a:rPr lang="en-US" sz="1050" b="1" baseline="0" dirty="0" smtClean="0">
                          <a:solidFill>
                            <a:srgbClr val="2B2026"/>
                          </a:solidFill>
                        </a:rPr>
                        <a:t> Of Director Verification, IP Verification </a:t>
                      </a:r>
                      <a:endParaRPr sz="1050" b="1" dirty="0">
                        <a:solidFill>
                          <a:srgbClr val="2B2026"/>
                        </a:solidFill>
                      </a:endParaRPr>
                    </a:p>
                  </a:txBody>
                  <a:tcPr marT="18288" marB="18288" anchor="ctr">
                    <a:solidFill>
                      <a:srgbClr val="FA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C4A50"/>
                          </a:solidFill>
                        </a:rPr>
                        <a:t>Annual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57001D"/>
                          </a:solidFill>
                        </a:rPr>
                        <a:t>₹ 10 L</a:t>
                      </a:r>
                    </a:p>
                  </a:txBody>
                  <a:tcPr marT="18288" marB="18288" anchor="ctr">
                    <a:solidFill>
                      <a:srgbClr val="F3EA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186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B2026"/>
                          </a:solidFill>
                        </a:rPr>
                        <a:t>Maintenance, support &amp; ML model retraining</a:t>
                      </a:r>
                    </a:p>
                  </a:txBody>
                  <a:tcPr marT="18288" marB="18288" anchor="ctr">
                    <a:solidFill>
                      <a:srgbClr val="FA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C4A50"/>
                          </a:solidFill>
                        </a:rPr>
                        <a:t>Annual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 dirty="0">
                          <a:solidFill>
                            <a:srgbClr val="57001D"/>
                          </a:solidFill>
                        </a:rPr>
                        <a:t>₹ 9 L</a:t>
                      </a:r>
                    </a:p>
                  </a:txBody>
                  <a:tcPr marT="18288" marB="18288" anchor="ctr">
                    <a:solidFill>
                      <a:srgbClr val="F3EA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/>
          <p:nvPr/>
        </p:nvSpPr>
        <p:spPr>
          <a:xfrm>
            <a:off x="307391" y="593476"/>
            <a:ext cx="8521299" cy="401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Snapshots of the prototype</a:t>
            </a:r>
            <a:endParaRPr b="1"/>
          </a:p>
        </p:txBody>
      </p:sp>
      <p:pic>
        <p:nvPicPr>
          <p:cNvPr id="117" name="Google Shape;117;p22" title="IDBI banner deck 2.png"/>
          <p:cNvPicPr preferRelativeResize="0"/>
          <p:nvPr/>
        </p:nvPicPr>
        <p:blipFill rotWithShape="1">
          <a:blip r:embed="rId3">
            <a:alphaModFix/>
          </a:blip>
          <a:srcRect b="88462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2" title="IDBI banner deck 2.png"/>
          <p:cNvPicPr preferRelativeResize="0"/>
          <p:nvPr/>
        </p:nvPicPr>
        <p:blipFill rotWithShape="1">
          <a:blip r:embed="rId3">
            <a:alphaModFix/>
          </a:blip>
          <a:srcRect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814" y="994528"/>
            <a:ext cx="1719194" cy="405004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8400" y="994528"/>
            <a:ext cx="2613232" cy="1918793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8399" y="3019551"/>
            <a:ext cx="2613233" cy="191879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9338" y="1011715"/>
            <a:ext cx="3276829" cy="40156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/>
          <p:nvPr/>
        </p:nvSpPr>
        <p:spPr>
          <a:xfrm>
            <a:off x="307391" y="593476"/>
            <a:ext cx="8521299" cy="401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Snapshots of the prototype</a:t>
            </a:r>
            <a:endParaRPr b="1"/>
          </a:p>
        </p:txBody>
      </p:sp>
      <p:pic>
        <p:nvPicPr>
          <p:cNvPr id="117" name="Google Shape;117;p22" title="IDBI banner deck 2.png"/>
          <p:cNvPicPr preferRelativeResize="0"/>
          <p:nvPr/>
        </p:nvPicPr>
        <p:blipFill rotWithShape="1">
          <a:blip r:embed="rId3">
            <a:alphaModFix/>
          </a:blip>
          <a:srcRect b="88462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2" title="IDBI banner deck 2.png"/>
          <p:cNvPicPr preferRelativeResize="0"/>
          <p:nvPr/>
        </p:nvPicPr>
        <p:blipFill rotWithShape="1">
          <a:blip r:embed="rId3">
            <a:alphaModFix/>
          </a:blip>
          <a:srcRect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419" y="994529"/>
            <a:ext cx="2724042" cy="2026081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3650" y="1012488"/>
            <a:ext cx="2987749" cy="1730711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1946" y="1012489"/>
            <a:ext cx="2700670" cy="146106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461" y="3314723"/>
            <a:ext cx="2935957" cy="143573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7061" y="3306535"/>
            <a:ext cx="2969443" cy="145211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9147" y="3314723"/>
            <a:ext cx="2879062" cy="1407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5906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/>
          <p:nvPr/>
        </p:nvSpPr>
        <p:spPr>
          <a:xfrm>
            <a:off x="307391" y="593476"/>
            <a:ext cx="8521299" cy="401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Snapshots of the prototype</a:t>
            </a:r>
            <a:endParaRPr b="1"/>
          </a:p>
        </p:txBody>
      </p:sp>
      <p:pic>
        <p:nvPicPr>
          <p:cNvPr id="117" name="Google Shape;117;p22" title="IDBI banner deck 2.png"/>
          <p:cNvPicPr preferRelativeResize="0"/>
          <p:nvPr/>
        </p:nvPicPr>
        <p:blipFill rotWithShape="1">
          <a:blip r:embed="rId3">
            <a:alphaModFix/>
          </a:blip>
          <a:srcRect b="88462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2" title="IDBI banner deck 2.png"/>
          <p:cNvPicPr preferRelativeResize="0"/>
          <p:nvPr/>
        </p:nvPicPr>
        <p:blipFill rotWithShape="1">
          <a:blip r:embed="rId3">
            <a:alphaModFix/>
          </a:blip>
          <a:srcRect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391" y="994528"/>
            <a:ext cx="2603879" cy="1631713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9646" y="896208"/>
            <a:ext cx="2604977" cy="173003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2999" y="898249"/>
            <a:ext cx="3182537" cy="141420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391" y="2928973"/>
            <a:ext cx="4128185" cy="183441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95629" y="2666022"/>
            <a:ext cx="3980537" cy="2237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82012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/>
          <p:nvPr/>
        </p:nvSpPr>
        <p:spPr>
          <a:xfrm>
            <a:off x="307391" y="593476"/>
            <a:ext cx="8521299" cy="401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Snapshots of the prototype</a:t>
            </a:r>
            <a:endParaRPr b="1"/>
          </a:p>
        </p:txBody>
      </p:sp>
      <p:pic>
        <p:nvPicPr>
          <p:cNvPr id="117" name="Google Shape;117;p22" title="IDBI banner deck 2.png"/>
          <p:cNvPicPr preferRelativeResize="0"/>
          <p:nvPr/>
        </p:nvPicPr>
        <p:blipFill rotWithShape="1">
          <a:blip r:embed="rId3">
            <a:alphaModFix/>
          </a:blip>
          <a:srcRect b="88462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2" title="IDBI banner deck 2.png"/>
          <p:cNvPicPr preferRelativeResize="0"/>
          <p:nvPr/>
        </p:nvPicPr>
        <p:blipFill rotWithShape="1">
          <a:blip r:embed="rId3">
            <a:alphaModFix/>
          </a:blip>
          <a:srcRect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274" y="946543"/>
            <a:ext cx="3403372" cy="191346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8010" y="849457"/>
            <a:ext cx="3504633" cy="197039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274" y="3005578"/>
            <a:ext cx="3403372" cy="191346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08010" y="2918551"/>
            <a:ext cx="3504633" cy="1970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06717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/>
          <p:nvPr/>
        </p:nvSpPr>
        <p:spPr>
          <a:xfrm>
            <a:off x="307391" y="593476"/>
            <a:ext cx="8521299" cy="401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Snapshots of the prototype</a:t>
            </a:r>
            <a:endParaRPr b="1"/>
          </a:p>
        </p:txBody>
      </p:sp>
      <p:pic>
        <p:nvPicPr>
          <p:cNvPr id="117" name="Google Shape;117;p22" title="IDBI banner deck 2.png"/>
          <p:cNvPicPr preferRelativeResize="0"/>
          <p:nvPr/>
        </p:nvPicPr>
        <p:blipFill rotWithShape="1">
          <a:blip r:embed="rId3">
            <a:alphaModFix/>
          </a:blip>
          <a:srcRect b="88462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2" title="IDBI banner deck 2.png"/>
          <p:cNvPicPr preferRelativeResize="0"/>
          <p:nvPr/>
        </p:nvPicPr>
        <p:blipFill rotWithShape="1">
          <a:blip r:embed="rId3">
            <a:alphaModFix/>
          </a:blip>
          <a:srcRect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392" y="903768"/>
            <a:ext cx="3460814" cy="194575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68040" y="794002"/>
            <a:ext cx="3498453" cy="196691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7391" y="2964204"/>
            <a:ext cx="3496272" cy="196569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68040" y="2849526"/>
            <a:ext cx="3746620" cy="2106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39721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/>
          <p:nvPr/>
        </p:nvSpPr>
        <p:spPr>
          <a:xfrm>
            <a:off x="307391" y="593476"/>
            <a:ext cx="8521299" cy="401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Snapshots of the prototype</a:t>
            </a:r>
            <a:endParaRPr b="1"/>
          </a:p>
        </p:txBody>
      </p:sp>
      <p:pic>
        <p:nvPicPr>
          <p:cNvPr id="117" name="Google Shape;117;p22" title="IDBI banner deck 2.png"/>
          <p:cNvPicPr preferRelativeResize="0"/>
          <p:nvPr/>
        </p:nvPicPr>
        <p:blipFill rotWithShape="1">
          <a:blip r:embed="rId3">
            <a:alphaModFix/>
          </a:blip>
          <a:srcRect b="88462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2" title="IDBI banner deck 2.png"/>
          <p:cNvPicPr preferRelativeResize="0"/>
          <p:nvPr/>
        </p:nvPicPr>
        <p:blipFill rotWithShape="1">
          <a:blip r:embed="rId3">
            <a:alphaModFix/>
          </a:blip>
          <a:srcRect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285" y="1036331"/>
            <a:ext cx="3562860" cy="372632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8040" y="2848797"/>
            <a:ext cx="3328944" cy="202514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6039" y="794002"/>
            <a:ext cx="3852946" cy="1884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2476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3"/>
          <p:cNvSpPr txBox="1"/>
          <p:nvPr/>
        </p:nvSpPr>
        <p:spPr>
          <a:xfrm>
            <a:off x="265350" y="74457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/>
              <a:t>Prototype Performance report/Benchmarking</a:t>
            </a:r>
            <a:endParaRPr b="1" dirty="0"/>
          </a:p>
        </p:txBody>
      </p:sp>
      <p:pic>
        <p:nvPicPr>
          <p:cNvPr id="124" name="Google Shape;124;p23" title="IDBI banner deck 2.png"/>
          <p:cNvPicPr preferRelativeResize="0"/>
          <p:nvPr/>
        </p:nvPicPr>
        <p:blipFill rotWithShape="1">
          <a:blip r:embed="rId3">
            <a:alphaModFix/>
          </a:blip>
          <a:srcRect b="88462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3" title="IDBI banner deck 2.png"/>
          <p:cNvPicPr preferRelativeResize="0"/>
          <p:nvPr/>
        </p:nvPicPr>
        <p:blipFill rotWithShape="1">
          <a:blip r:embed="rId3">
            <a:alphaModFix/>
          </a:blip>
          <a:srcRect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perf_tile"/>
          <p:cNvSpPr/>
          <p:nvPr/>
        </p:nvSpPr>
        <p:spPr>
          <a:xfrm>
            <a:off x="274320" y="1481328"/>
            <a:ext cx="1975104" cy="932688"/>
          </a:xfrm>
          <a:prstGeom prst="roundRect">
            <a:avLst/>
          </a:prstGeom>
          <a:solidFill>
            <a:srgbClr val="570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64008" rIns="73152" bIns="64008" rtlCol="0" anchor="ctr"/>
          <a:lstStyle/>
          <a:p>
            <a:pPr algn="ctr"/>
            <a:r>
              <a:rPr sz="2400" b="1" dirty="0">
                <a:solidFill>
                  <a:srgbClr val="FFFFFF"/>
                </a:solidFill>
              </a:rPr>
              <a:t>719/1000</a:t>
            </a:r>
          </a:p>
          <a:p>
            <a:pPr algn="ctr"/>
            <a:r>
              <a:rPr sz="900" dirty="0">
                <a:solidFill>
                  <a:srgbClr val="F3D6DF"/>
                </a:solidFill>
              </a:rPr>
              <a:t>Live score on real 6</a:t>
            </a:r>
            <a:r>
              <a:rPr lang="en-US" sz="900" dirty="0">
                <a:solidFill>
                  <a:srgbClr val="F3D6DF"/>
                </a:solidFill>
              </a:rPr>
              <a:t> to 12</a:t>
            </a:r>
            <a:r>
              <a:rPr sz="900" dirty="0">
                <a:solidFill>
                  <a:srgbClr val="F3D6DF"/>
                </a:solidFill>
              </a:rPr>
              <a:t>mo GST data (band: Good)</a:t>
            </a:r>
          </a:p>
        </p:txBody>
      </p:sp>
      <p:sp>
        <p:nvSpPr>
          <p:cNvPr id="127" name="perf_tile"/>
          <p:cNvSpPr/>
          <p:nvPr/>
        </p:nvSpPr>
        <p:spPr>
          <a:xfrm>
            <a:off x="2450592" y="1481328"/>
            <a:ext cx="1975104" cy="932688"/>
          </a:xfrm>
          <a:prstGeom prst="roundRect">
            <a:avLst/>
          </a:prstGeom>
          <a:solidFill>
            <a:srgbClr val="570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64008" rIns="73152" bIns="64008" rtlCol="0" anchor="ctr"/>
          <a:lstStyle/>
          <a:p>
            <a:pPr algn="ctr"/>
            <a:r>
              <a:rPr sz="2400" b="1" dirty="0">
                <a:solidFill>
                  <a:srgbClr val="FFFFFF"/>
                </a:solidFill>
              </a:rPr>
              <a:t>&lt; </a:t>
            </a:r>
            <a:r>
              <a:rPr lang="en-US" sz="2400" b="1" dirty="0">
                <a:solidFill>
                  <a:srgbClr val="FFFFFF"/>
                </a:solidFill>
              </a:rPr>
              <a:t>10</a:t>
            </a:r>
            <a:r>
              <a:rPr sz="2400" b="1" dirty="0">
                <a:solidFill>
                  <a:srgbClr val="FFFFFF"/>
                </a:solidFill>
              </a:rPr>
              <a:t> s</a:t>
            </a:r>
          </a:p>
          <a:p>
            <a:pPr algn="ctr"/>
            <a:r>
              <a:rPr sz="900" dirty="0">
                <a:solidFill>
                  <a:srgbClr val="F3D6DF"/>
                </a:solidFill>
              </a:rPr>
              <a:t>End-to-end scoring (sub-second when warm)</a:t>
            </a:r>
          </a:p>
        </p:txBody>
      </p:sp>
      <p:sp>
        <p:nvSpPr>
          <p:cNvPr id="128" name="perf_tile"/>
          <p:cNvSpPr/>
          <p:nvPr/>
        </p:nvSpPr>
        <p:spPr>
          <a:xfrm>
            <a:off x="4626864" y="1481328"/>
            <a:ext cx="1975104" cy="932688"/>
          </a:xfrm>
          <a:prstGeom prst="roundRect">
            <a:avLst/>
          </a:prstGeom>
          <a:solidFill>
            <a:srgbClr val="570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64008" rIns="73152" bIns="64008" rtlCol="0" anchor="ctr"/>
          <a:lstStyle/>
          <a:p>
            <a:pPr algn="ctr"/>
            <a:r>
              <a:rPr sz="2400" b="1" dirty="0">
                <a:solidFill>
                  <a:srgbClr val="FFFFFF"/>
                </a:solidFill>
              </a:rPr>
              <a:t>4</a:t>
            </a:r>
          </a:p>
          <a:p>
            <a:pPr algn="ctr"/>
            <a:r>
              <a:rPr sz="900" dirty="0">
                <a:solidFill>
                  <a:srgbClr val="F3D6DF"/>
                </a:solidFill>
              </a:rPr>
              <a:t>DPI data sources fused: Udyam - GST - ITR </a:t>
            </a:r>
            <a:r>
              <a:rPr lang="en-IN" sz="900" dirty="0">
                <a:solidFill>
                  <a:srgbClr val="F3D6DF"/>
                </a:solidFill>
              </a:rPr>
              <a:t>–</a:t>
            </a:r>
            <a:r>
              <a:rPr sz="900">
                <a:solidFill>
                  <a:srgbClr val="F3D6DF"/>
                </a:solidFill>
              </a:rPr>
              <a:t> AA</a:t>
            </a:r>
            <a:r>
              <a:rPr lang="en-US" sz="900">
                <a:solidFill>
                  <a:srgbClr val="F3D6DF"/>
                </a:solidFill>
              </a:rPr>
              <a:t> (+1 - EPFO)</a:t>
            </a:r>
            <a:endParaRPr sz="900">
              <a:solidFill>
                <a:srgbClr val="F3D6DF"/>
              </a:solidFill>
            </a:endParaRPr>
          </a:p>
        </p:txBody>
      </p:sp>
      <p:sp>
        <p:nvSpPr>
          <p:cNvPr id="129" name="perf_tile"/>
          <p:cNvSpPr/>
          <p:nvPr/>
        </p:nvSpPr>
        <p:spPr>
          <a:xfrm>
            <a:off x="6803136" y="1481328"/>
            <a:ext cx="1975104" cy="932688"/>
          </a:xfrm>
          <a:prstGeom prst="roundRect">
            <a:avLst/>
          </a:prstGeom>
          <a:solidFill>
            <a:srgbClr val="570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64008" rIns="73152" bIns="64008" rtlCol="0" anchor="ctr"/>
          <a:lstStyle/>
          <a:p>
            <a:pPr algn="ctr"/>
            <a:r>
              <a:rPr sz="2400" b="1">
                <a:solidFill>
                  <a:srgbClr val="FFFFFF"/>
                </a:solidFill>
              </a:rPr>
              <a:t>3000</a:t>
            </a:r>
          </a:p>
          <a:p>
            <a:pPr algn="ctr"/>
            <a:r>
              <a:rPr sz="900">
                <a:solidFill>
                  <a:srgbClr val="F3D6DF"/>
                </a:solidFill>
              </a:rPr>
              <a:t>MSME profiles the model trains on</a:t>
            </a:r>
          </a:p>
        </p:txBody>
      </p:sp>
      <p:sp>
        <p:nvSpPr>
          <p:cNvPr id="130" name="perf_label"/>
          <p:cNvSpPr txBox="1"/>
          <p:nvPr/>
        </p:nvSpPr>
        <p:spPr>
          <a:xfrm>
            <a:off x="274320" y="2578608"/>
            <a:ext cx="8503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7001D"/>
                </a:solidFill>
              </a:rPr>
              <a:t>Benchmark vs. traditional credit assessment</a:t>
            </a:r>
          </a:p>
        </p:txBody>
      </p:sp>
      <p:graphicFrame>
        <p:nvGraphicFramePr>
          <p:cNvPr id="131" name="perf_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1614803"/>
              </p:ext>
            </p:extLst>
          </p:nvPr>
        </p:nvGraphicFramePr>
        <p:xfrm>
          <a:off x="274320" y="2907792"/>
          <a:ext cx="8503920" cy="19659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 marR="73152" marT="27432" marB="27432" anchor="ctr">
                    <a:solidFill>
                      <a:srgbClr val="5700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Traditional / bureau</a:t>
                      </a:r>
                    </a:p>
                  </a:txBody>
                  <a:tcPr marR="73152" marT="27432" marB="27432" anchor="ctr">
                    <a:solidFill>
                      <a:srgbClr val="5700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FinRiskLensAI</a:t>
                      </a:r>
                    </a:p>
                  </a:txBody>
                  <a:tcPr marR="73152" marT="27432" marB="27432" anchor="ctr">
                    <a:solidFill>
                      <a:srgbClr val="5700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B2026"/>
                          </a:solidFill>
                        </a:rPr>
                        <a:t>Turnaround time</a:t>
                      </a:r>
                    </a:p>
                  </a:txBody>
                  <a:tcPr marR="73152" marT="27432" marB="27432" anchor="ctr">
                    <a:solidFill>
                      <a:srgbClr val="FA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C4A50"/>
                          </a:solidFill>
                        </a:rPr>
                        <a:t>2-3 weeks (manual)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57001D"/>
                          </a:solidFill>
                        </a:rPr>
                        <a:t>Seconds (automated)</a:t>
                      </a:r>
                    </a:p>
                  </a:txBody>
                  <a:tcPr marR="73152" marT="27432" marB="27432" anchor="ctr">
                    <a:solidFill>
                      <a:srgbClr val="F3EA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B2026"/>
                          </a:solidFill>
                        </a:rPr>
                        <a:t>NTC / NTB borrowers</a:t>
                      </a:r>
                    </a:p>
                  </a:txBody>
                  <a:tcPr marR="73152" marT="27432" marB="27432" anchor="ctr">
                    <a:solidFill>
                      <a:srgbClr val="FA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C4A50"/>
                          </a:solidFill>
                        </a:rPr>
                        <a:t>Rejected - no history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57001D"/>
                          </a:solidFill>
                        </a:rPr>
                        <a:t>Scored on alternate data</a:t>
                      </a:r>
                    </a:p>
                  </a:txBody>
                  <a:tcPr marR="73152" marT="27432" marB="27432" anchor="ctr">
                    <a:solidFill>
                      <a:srgbClr val="F3EA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B2026"/>
                          </a:solidFill>
                        </a:rPr>
                        <a:t>Data sources</a:t>
                      </a:r>
                    </a:p>
                  </a:txBody>
                  <a:tcPr marR="73152" marT="27432" marB="27432" anchor="ctr">
                    <a:solidFill>
                      <a:srgbClr val="FA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C4A50"/>
                          </a:solidFill>
                        </a:rPr>
                        <a:t>1 - bureau file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dirty="0">
                          <a:solidFill>
                            <a:srgbClr val="57001D"/>
                          </a:solidFill>
                        </a:rPr>
                        <a:t>4 - Udyam, GST, ITR, AA</a:t>
                      </a:r>
                      <a:r>
                        <a:rPr lang="en-US" sz="1050" b="1" dirty="0">
                          <a:solidFill>
                            <a:srgbClr val="57001D"/>
                          </a:solidFill>
                        </a:rPr>
                        <a:t> (+1 - EPFO)</a:t>
                      </a:r>
                      <a:endParaRPr sz="1050" b="1" dirty="0">
                        <a:solidFill>
                          <a:srgbClr val="57001D"/>
                        </a:solidFill>
                      </a:endParaRPr>
                    </a:p>
                  </a:txBody>
                  <a:tcPr marR="73152" marT="27432" marB="27432" anchor="ctr">
                    <a:solidFill>
                      <a:srgbClr val="F3EA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B2026"/>
                          </a:solidFill>
                        </a:rPr>
                        <a:t>Explainability</a:t>
                      </a:r>
                    </a:p>
                  </a:txBody>
                  <a:tcPr marR="73152" marT="27432" marB="27432" anchor="ctr">
                    <a:solidFill>
                      <a:srgbClr val="FA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C4A50"/>
                          </a:solidFill>
                        </a:rPr>
                        <a:t>Black-box score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dirty="0">
                          <a:solidFill>
                            <a:srgbClr val="57001D"/>
                          </a:solidFill>
                        </a:rPr>
                        <a:t>PFI reason per dimension</a:t>
                      </a:r>
                    </a:p>
                  </a:txBody>
                  <a:tcPr marR="73152" marT="27432" marB="27432" anchor="ctr">
                    <a:solidFill>
                      <a:srgbClr val="F3EA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B2026"/>
                          </a:solidFill>
                        </a:rPr>
                        <a:t>Fraud / integrity check</a:t>
                      </a:r>
                    </a:p>
                  </a:txBody>
                  <a:tcPr marR="73152" marT="27432" marB="27432" anchor="ctr">
                    <a:solidFill>
                      <a:srgbClr val="FA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C4A50"/>
                          </a:solidFill>
                        </a:rPr>
                        <a:t>None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dirty="0">
                          <a:solidFill>
                            <a:srgbClr val="57001D"/>
                          </a:solidFill>
                        </a:rPr>
                        <a:t>3-way GST-ITR-bank anomaly</a:t>
                      </a:r>
                    </a:p>
                  </a:txBody>
                  <a:tcPr marR="73152" marT="27432" marB="27432" anchor="ctr">
                    <a:solidFill>
                      <a:srgbClr val="F3EA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"/>
          <p:cNvSpPr txBox="1"/>
          <p:nvPr/>
        </p:nvSpPr>
        <p:spPr>
          <a:xfrm>
            <a:off x="265350" y="74457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Additional Details/Future Development (if any)</a:t>
            </a:r>
            <a:endParaRPr b="1"/>
          </a:p>
        </p:txBody>
      </p:sp>
      <p:pic>
        <p:nvPicPr>
          <p:cNvPr id="131" name="Google Shape;131;p24" title="IDBI banner deck 2.png"/>
          <p:cNvPicPr preferRelativeResize="0"/>
          <p:nvPr/>
        </p:nvPicPr>
        <p:blipFill rotWithShape="1">
          <a:blip r:embed="rId3">
            <a:alphaModFix/>
          </a:blip>
          <a:srcRect b="88462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24" title="IDBI banner deck 2.png"/>
          <p:cNvPicPr preferRelativeResize="0"/>
          <p:nvPr/>
        </p:nvPicPr>
        <p:blipFill rotWithShape="1">
          <a:blip r:embed="rId3">
            <a:alphaModFix/>
          </a:blip>
          <a:srcRect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fut_card"/>
          <p:cNvSpPr/>
          <p:nvPr/>
        </p:nvSpPr>
        <p:spPr>
          <a:xfrm>
            <a:off x="274320" y="1417320"/>
            <a:ext cx="4160520" cy="1645920"/>
          </a:xfrm>
          <a:prstGeom prst="roundRect">
            <a:avLst/>
          </a:prstGeom>
          <a:solidFill>
            <a:srgbClr val="FAF3F6"/>
          </a:solidFill>
          <a:ln w="9525">
            <a:solidFill>
              <a:srgbClr val="EAD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28016" bIns="91440" rtlCol="0" anchor="t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57001D"/>
                </a:solidFill>
              </a:rPr>
              <a:t>Deeper Data Integrations</a:t>
            </a:r>
          </a:p>
          <a:p>
            <a:pPr>
              <a:spcAft>
                <a:spcPts val="200"/>
              </a:spcAft>
            </a:pPr>
            <a:r>
              <a:rPr sz="1050" b="1">
                <a:solidFill>
                  <a:srgbClr val="974354"/>
                </a:solidFill>
              </a:rPr>
              <a:t>•  </a:t>
            </a:r>
            <a:r>
              <a:rPr sz="1050">
                <a:solidFill>
                  <a:srgbClr val="2B2026"/>
                </a:solidFill>
              </a:rPr>
              <a:t>MCA21 API - company / director &amp; charge-registry checks</a:t>
            </a:r>
          </a:p>
          <a:p>
            <a:pPr>
              <a:spcAft>
                <a:spcPts val="200"/>
              </a:spcAft>
            </a:pPr>
            <a:r>
              <a:rPr sz="1050" b="1">
                <a:solidFill>
                  <a:srgbClr val="974354"/>
                </a:solidFill>
              </a:rPr>
              <a:t>•  </a:t>
            </a:r>
            <a:r>
              <a:rPr sz="1050">
                <a:solidFill>
                  <a:srgbClr val="2B2026"/>
                </a:solidFill>
              </a:rPr>
              <a:t>EPFO payroll + GST e-invoice / e-way bill signals</a:t>
            </a:r>
          </a:p>
          <a:p>
            <a:pPr>
              <a:spcAft>
                <a:spcPts val="200"/>
              </a:spcAft>
            </a:pPr>
            <a:r>
              <a:rPr sz="1050" b="1">
                <a:solidFill>
                  <a:srgbClr val="974354"/>
                </a:solidFill>
              </a:rPr>
              <a:t>•  </a:t>
            </a:r>
            <a:r>
              <a:rPr sz="1050">
                <a:solidFill>
                  <a:srgbClr val="2B2026"/>
                </a:solidFill>
              </a:rPr>
              <a:t>CERSAI - existing collateral / security-interest lookup</a:t>
            </a:r>
          </a:p>
        </p:txBody>
      </p:sp>
      <p:sp>
        <p:nvSpPr>
          <p:cNvPr id="134" name="fut_card"/>
          <p:cNvSpPr/>
          <p:nvPr/>
        </p:nvSpPr>
        <p:spPr>
          <a:xfrm>
            <a:off x="4617720" y="1417320"/>
            <a:ext cx="4160520" cy="1645920"/>
          </a:xfrm>
          <a:prstGeom prst="roundRect">
            <a:avLst/>
          </a:prstGeom>
          <a:solidFill>
            <a:srgbClr val="FAF3F6"/>
          </a:solidFill>
          <a:ln w="9525">
            <a:solidFill>
              <a:srgbClr val="EAD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28016" bIns="91440" rtlCol="0" anchor="t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57001D"/>
                </a:solidFill>
              </a:rPr>
              <a:t>AML, Fraud &amp; Compliance</a:t>
            </a:r>
          </a:p>
          <a:p>
            <a:pPr>
              <a:spcAft>
                <a:spcPts val="200"/>
              </a:spcAft>
            </a:pPr>
            <a:r>
              <a:rPr sz="1050" b="1">
                <a:solidFill>
                  <a:srgbClr val="974354"/>
                </a:solidFill>
              </a:rPr>
              <a:t>•  </a:t>
            </a:r>
            <a:r>
              <a:rPr sz="1050">
                <a:solidFill>
                  <a:srgbClr val="2B2026"/>
                </a:solidFill>
              </a:rPr>
              <a:t>Sanctions / PEP / adverse-media name screening</a:t>
            </a:r>
          </a:p>
          <a:p>
            <a:pPr>
              <a:spcAft>
                <a:spcPts val="200"/>
              </a:spcAft>
            </a:pPr>
            <a:r>
              <a:rPr sz="1050" b="1">
                <a:solidFill>
                  <a:srgbClr val="974354"/>
                </a:solidFill>
              </a:rPr>
              <a:t>•  </a:t>
            </a:r>
            <a:r>
              <a:rPr sz="1050">
                <a:solidFill>
                  <a:srgbClr val="2B2026"/>
                </a:solidFill>
              </a:rPr>
              <a:t>RBI Central Fraud Registry &amp; wilful-defaulter match</a:t>
            </a:r>
          </a:p>
          <a:p>
            <a:pPr>
              <a:spcAft>
                <a:spcPts val="200"/>
              </a:spcAft>
            </a:pPr>
            <a:r>
              <a:rPr sz="1050" b="1">
                <a:solidFill>
                  <a:srgbClr val="974354"/>
                </a:solidFill>
              </a:rPr>
              <a:t>•  </a:t>
            </a:r>
            <a:r>
              <a:rPr sz="1050">
                <a:solidFill>
                  <a:srgbClr val="2B2026"/>
                </a:solidFill>
              </a:rPr>
              <a:t>FIU-IND suspicious-transaction flags on AA data</a:t>
            </a:r>
          </a:p>
        </p:txBody>
      </p:sp>
      <p:sp>
        <p:nvSpPr>
          <p:cNvPr id="135" name="fut_card"/>
          <p:cNvSpPr/>
          <p:nvPr/>
        </p:nvSpPr>
        <p:spPr>
          <a:xfrm>
            <a:off x="274320" y="3227832"/>
            <a:ext cx="4160520" cy="1645920"/>
          </a:xfrm>
          <a:prstGeom prst="roundRect">
            <a:avLst/>
          </a:prstGeom>
          <a:solidFill>
            <a:srgbClr val="FAF3F6"/>
          </a:solidFill>
          <a:ln w="9525">
            <a:solidFill>
              <a:srgbClr val="EAD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28016" bIns="91440" rtlCol="0" anchor="t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57001D"/>
                </a:solidFill>
              </a:rPr>
              <a:t>Lending Ecosystem</a:t>
            </a:r>
          </a:p>
          <a:p>
            <a:pPr>
              <a:spcAft>
                <a:spcPts val="200"/>
              </a:spcAft>
            </a:pPr>
            <a:r>
              <a:rPr sz="1050" b="1">
                <a:solidFill>
                  <a:srgbClr val="974354"/>
                </a:solidFill>
              </a:rPr>
              <a:t>•  </a:t>
            </a:r>
            <a:r>
              <a:rPr sz="1050">
                <a:solidFill>
                  <a:srgbClr val="2B2026"/>
                </a:solidFill>
              </a:rPr>
              <a:t>Full ULI DSP + OCEN 2.0 certification &amp; go-live</a:t>
            </a:r>
          </a:p>
          <a:p>
            <a:pPr>
              <a:spcAft>
                <a:spcPts val="200"/>
              </a:spcAft>
            </a:pPr>
            <a:r>
              <a:rPr sz="1050" b="1">
                <a:solidFill>
                  <a:srgbClr val="974354"/>
                </a:solidFill>
              </a:rPr>
              <a:t>•  </a:t>
            </a:r>
            <a:r>
              <a:rPr sz="1050">
                <a:solidFill>
                  <a:srgbClr val="2B2026"/>
                </a:solidFill>
              </a:rPr>
              <a:t>CIBIL / CRIF commercial-bureau enrichment (NTB)</a:t>
            </a:r>
          </a:p>
          <a:p>
            <a:pPr>
              <a:spcAft>
                <a:spcPts val="200"/>
              </a:spcAft>
            </a:pPr>
            <a:r>
              <a:rPr sz="1050" b="1">
                <a:solidFill>
                  <a:srgbClr val="974354"/>
                </a:solidFill>
              </a:rPr>
              <a:t>•  </a:t>
            </a:r>
            <a:r>
              <a:rPr sz="1050">
                <a:solidFill>
                  <a:srgbClr val="2B2026"/>
                </a:solidFill>
              </a:rPr>
              <a:t>GST-invoice financing &amp; co-lending workflows</a:t>
            </a:r>
          </a:p>
        </p:txBody>
      </p:sp>
      <p:sp>
        <p:nvSpPr>
          <p:cNvPr id="136" name="fut_card"/>
          <p:cNvSpPr/>
          <p:nvPr/>
        </p:nvSpPr>
        <p:spPr>
          <a:xfrm>
            <a:off x="4617720" y="3227832"/>
            <a:ext cx="4160520" cy="1645920"/>
          </a:xfrm>
          <a:prstGeom prst="roundRect">
            <a:avLst/>
          </a:prstGeom>
          <a:solidFill>
            <a:srgbClr val="FAF3F6"/>
          </a:solidFill>
          <a:ln w="9525">
            <a:solidFill>
              <a:srgbClr val="EAD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28016" bIns="91440" rtlCol="0" anchor="t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57001D"/>
                </a:solidFill>
              </a:rPr>
              <a:t>Product &amp; Intelligence</a:t>
            </a:r>
          </a:p>
          <a:p>
            <a:pPr>
              <a:spcAft>
                <a:spcPts val="200"/>
              </a:spcAft>
            </a:pPr>
            <a:r>
              <a:rPr sz="1050" b="1">
                <a:solidFill>
                  <a:srgbClr val="974354"/>
                </a:solidFill>
              </a:rPr>
              <a:t>•  </a:t>
            </a:r>
            <a:r>
              <a:rPr sz="1050">
                <a:solidFill>
                  <a:srgbClr val="2B2026"/>
                </a:solidFill>
              </a:rPr>
              <a:t>Score trend history + PDF Health Card export</a:t>
            </a:r>
          </a:p>
          <a:p>
            <a:pPr>
              <a:spcAft>
                <a:spcPts val="200"/>
              </a:spcAft>
            </a:pPr>
            <a:r>
              <a:rPr sz="1050" b="1">
                <a:solidFill>
                  <a:srgbClr val="974354"/>
                </a:solidFill>
              </a:rPr>
              <a:t>•  </a:t>
            </a:r>
            <a:r>
              <a:rPr sz="1050">
                <a:solidFill>
                  <a:srgbClr val="2B2026"/>
                </a:solidFill>
              </a:rPr>
              <a:t>Portfolio early-warning analytics for IDBI teams</a:t>
            </a:r>
          </a:p>
          <a:p>
            <a:pPr>
              <a:spcAft>
                <a:spcPts val="200"/>
              </a:spcAft>
            </a:pPr>
            <a:r>
              <a:rPr sz="1050" b="1">
                <a:solidFill>
                  <a:srgbClr val="974354"/>
                </a:solidFill>
              </a:rPr>
              <a:t>•  </a:t>
            </a:r>
            <a:r>
              <a:rPr sz="1050">
                <a:solidFill>
                  <a:srgbClr val="2B2026"/>
                </a:solidFill>
              </a:rPr>
              <a:t>Vernacular AI assistant + continuous MLOps retraining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5"/>
          <p:cNvSpPr txBox="1"/>
          <p:nvPr/>
        </p:nvSpPr>
        <p:spPr>
          <a:xfrm>
            <a:off x="201000" y="744575"/>
            <a:ext cx="8943000" cy="3186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/>
              <a:t>Provide links to your:</a:t>
            </a:r>
            <a:endParaRPr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 dirty="0"/>
          </a:p>
          <a:p>
            <a:pPr marL="457200" lvl="0" indent="-317500">
              <a:buSzPts val="1400"/>
              <a:buChar char="●"/>
            </a:pPr>
            <a:r>
              <a:rPr lang="en-GB" dirty="0"/>
              <a:t>GitHub Public Repository : </a:t>
            </a:r>
            <a:r>
              <a:rPr lang="en-GB" dirty="0">
                <a:hlinkClick r:id="rId3"/>
              </a:rPr>
              <a:t>https://github.com/abhinavmukwane/FinRiskLensAI</a:t>
            </a:r>
            <a:endParaRPr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endParaRPr lang="en-GB"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dirty="0"/>
              <a:t>Demo Video Link (3 Minutes): </a:t>
            </a:r>
            <a:endParaRPr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endParaRPr lang="en-GB" dirty="0"/>
          </a:p>
          <a:p>
            <a:pPr marL="457200" lvl="0" indent="-317500">
              <a:buSzPts val="1400"/>
              <a:buChar char="●"/>
            </a:pPr>
            <a:r>
              <a:rPr lang="en-GB" dirty="0"/>
              <a:t>Final Product Link: </a:t>
            </a:r>
            <a:r>
              <a:rPr lang="en-GB" dirty="0">
                <a:hlinkClick r:id="rId4"/>
              </a:rPr>
              <a:t>https://finrisklensai.com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 dirty="0"/>
          </a:p>
        </p:txBody>
      </p:sp>
      <p:pic>
        <p:nvPicPr>
          <p:cNvPr id="138" name="Google Shape;138;p25" title="IDBI banner deck 2.png"/>
          <p:cNvPicPr preferRelativeResize="0"/>
          <p:nvPr/>
        </p:nvPicPr>
        <p:blipFill rotWithShape="1">
          <a:blip r:embed="rId5">
            <a:alphaModFix/>
          </a:blip>
          <a:srcRect b="88462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25" title="IDBI banner deck 2.png"/>
          <p:cNvPicPr preferRelativeResize="0"/>
          <p:nvPr/>
        </p:nvPicPr>
        <p:blipFill rotWithShape="1">
          <a:blip r:embed="rId5">
            <a:alphaModFix/>
          </a:blip>
          <a:srcRect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26" title="IDBI banner deck 2.png"/>
          <p:cNvPicPr preferRelativeResize="0"/>
          <p:nvPr/>
        </p:nvPicPr>
        <p:blipFill rotWithShape="1">
          <a:blip r:embed="rId3">
            <a:alphaModFix/>
          </a:blip>
          <a:srcRect b="88462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26" title="IDBI banner deck 2.png"/>
          <p:cNvPicPr preferRelativeResize="0"/>
          <p:nvPr/>
        </p:nvPicPr>
        <p:blipFill rotWithShape="1">
          <a:blip r:embed="rId3">
            <a:alphaModFix/>
          </a:blip>
          <a:srcRect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7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27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2" name="Google Shape;152;p27" title="IDBI banner deck 3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</TotalTime>
  <Words>1435</Words>
  <Application>Microsoft Office PowerPoint</Application>
  <PresentationFormat>On-screen Show (16:9)</PresentationFormat>
  <Paragraphs>172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3" baseType="lpstr">
      <vt:lpstr>Arial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Sourabh Thakre</cp:lastModifiedBy>
  <cp:revision>62</cp:revision>
  <dcterms:modified xsi:type="dcterms:W3CDTF">2026-07-08T11:07:56Z</dcterms:modified>
</cp:coreProperties>
</file>