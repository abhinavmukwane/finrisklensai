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2" r:id="rId9"/>
    <p:sldId id="263" r:id="rId10"/>
    <p:sldId id="272" r:id="rId11"/>
    <p:sldId id="264" r:id="rId12"/>
    <p:sldId id="265" r:id="rId13"/>
    <p:sldId id="273" r:id="rId14"/>
    <p:sldId id="274" r:id="rId15"/>
    <p:sldId id="275" r:id="rId16"/>
    <p:sldId id="276" r:id="rId17"/>
    <p:sldId id="277" r:id="rId18"/>
    <p:sldId id="266" r:id="rId19"/>
    <p:sldId id="267" r:id="rId20"/>
    <p:sldId id="268" r:id="rId21"/>
    <p:sldId id="269" r:id="rId22"/>
    <p:sldId id="270" r:id="rId2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8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048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d00c62399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ed00c62399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64474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05250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0390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83751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3411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d00c62399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d00c62399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finrisklensai.com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95585" y="639387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95584" y="1029929"/>
            <a:ext cx="8722292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and New-to-Bank 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: AI-Powered MSME Financial Health Score Platform</a:t>
            </a:r>
          </a:p>
          <a:p>
            <a:pPr lvl="0"/>
            <a:endParaRPr lang="en-GB" sz="7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Aggregates alternate data streams: GST returns, Account Aggregator </a:t>
            </a:r>
            <a:r>
              <a:rPr lang="en-GB" sz="1200" dirty="0" smtClean="0"/>
              <a:t>&amp; </a:t>
            </a:r>
            <a:r>
              <a:rPr lang="en-GB" sz="1200" dirty="0"/>
              <a:t>UPI statements, ITR filings, Udyam registry (EPFO slot ready)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ML.NET (LightGBM model + rules engine)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Near real-time scoring: end-to-end score in under 10 seconds from consent trigger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PFI-based explainability: every score carries a dimension-level reason - audit-ready for credit </a:t>
            </a:r>
            <a:r>
              <a:rPr lang="en-GB" sz="1200" dirty="0" smtClean="0"/>
              <a:t>officers</a:t>
            </a:r>
            <a:endParaRPr lang="en-GB" sz="12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Recommends CGTMSE/MUDRA-backed products for mid-range scorers to maximise viable </a:t>
            </a:r>
            <a:r>
              <a:rPr lang="en-GB" sz="1200" dirty="0" smtClean="0"/>
              <a:t>approvals</a:t>
            </a:r>
            <a:endParaRPr lang="en-GB" sz="12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Enables IDBI Bank to on-board 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71178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FinRiskLensAI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ITR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sub-10-second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PFI explainability 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penalization 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maximizing 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fintech rails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06659"/>
            <a:ext cx="862640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Udyam registry, GST API (</a:t>
            </a:r>
            <a:r>
              <a:rPr lang="en-GB" sz="1200" dirty="0" smtClean="0"/>
              <a:t>GSTR-1/2A/2B/3B</a:t>
            </a:r>
            <a:r>
              <a:rPr lang="en-GB" sz="1200" dirty="0"/>
              <a:t>, ITC), ITR filings, AA bank &amp; UPI statements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ML.NET LightGBM for tabular scoring + SSA time-series for 12-month trend + RandomizedPCA for cross-source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 (Permutation Feature Importance): per-dimension reasons for every score - 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artefact 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On-demand refresh: a new GST filing or AA consent re-runs the blob-based scoring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315" y="704613"/>
            <a:ext cx="4728906" cy="4311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63151"/>
            <a:ext cx="8522586" cy="414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653" y="974080"/>
            <a:ext cx="3548637" cy="40704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198" y="2293124"/>
            <a:ext cx="4145894" cy="158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44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Wireframes/Mock diagrams of the proposed solution (optional)</a:t>
            </a:r>
            <a:endParaRPr b="1" dirty="0"/>
          </a:p>
        </p:txBody>
      </p:sp>
      <p:pic>
        <p:nvPicPr>
          <p:cNvPr id="89" name="Google Shape;89;p18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8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486" y="608442"/>
            <a:ext cx="3670114" cy="45350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(C#): orchestration + Udyam/GST/ITR/AA (Finvu) connectors, ULI DSP, IDBI LOS webhook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(in-process): scoring, feature engineering &amp; PFI explainability -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Autofac: DI &amp; module auto-registration | Serilog: structured file/console logging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LightGBM: calibration model; final score = 0.6 rules engine + 0.4 ML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SSA (Singular Spectrum Analysis): 12-month cashflow / revenue trend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(PFI): per-dimension, audit-ready explanations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RandomizedPCA: 3-way GST vs ITR vs bank-credit anomaly / fraud signal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8: MSME profiles, consent &amp; OTP tables, audit trail (code-first migrations)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per-MSME data folder (raw source JSON + result.json)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Single ASP.NET Core 8 web app - Web + ML.NET in one deployable (monolith)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 (planned): ULI/OCEN gateway with mTLS + OAuth2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GitHub: source control &amp; CI | IIS / Azure App Service: hosting</a:t>
            </a:r>
          </a:p>
          <a:p>
            <a:pPr lvl="0"/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Views: server-rendered Health Card UI (.cshtml + Bootstrap, minimal JS)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marL="139700" lvl="0">
              <a:buSzPts val="1400"/>
            </a:pPr>
            <a:endParaRPr lang="en-US" sz="1200" dirty="0"/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via Finvu / FinFactor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| GST System API | Udyam Registry | EPFO REST API (planned)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31 L / yr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7001D"/>
                </a:solidFill>
              </a:rPr>
              <a:t>Cost breakdown  -  centralised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/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814" y="994528"/>
            <a:ext cx="1719194" cy="405004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400" y="994528"/>
            <a:ext cx="2613232" cy="191879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399" y="3019551"/>
            <a:ext cx="2613233" cy="191879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338" y="1011715"/>
            <a:ext cx="3276829" cy="40156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19" y="994529"/>
            <a:ext cx="2724042" cy="202608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2168" y="1012489"/>
            <a:ext cx="2899231" cy="141777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1946" y="1012489"/>
            <a:ext cx="2700670" cy="146106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1" y="3314723"/>
            <a:ext cx="2935957" cy="14357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7061" y="3306535"/>
            <a:ext cx="2969443" cy="14521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147" y="3314723"/>
            <a:ext cx="2879062" cy="140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0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91" y="994528"/>
            <a:ext cx="2603879" cy="163171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9646" y="896208"/>
            <a:ext cx="2604977" cy="173003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999" y="898249"/>
            <a:ext cx="3182537" cy="141420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91" y="2928973"/>
            <a:ext cx="4128185" cy="183441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5629" y="2666022"/>
            <a:ext cx="3980537" cy="223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12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74" y="946543"/>
            <a:ext cx="3403372" cy="191346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010" y="849457"/>
            <a:ext cx="3504633" cy="197039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74" y="3005578"/>
            <a:ext cx="3403372" cy="19134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8010" y="2918551"/>
            <a:ext cx="3504633" cy="1970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717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392" y="903768"/>
            <a:ext cx="3460814" cy="194575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8040" y="794002"/>
            <a:ext cx="3498453" cy="19669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391" y="2964204"/>
            <a:ext cx="3496272" cy="196569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8040" y="2849526"/>
            <a:ext cx="3746620" cy="210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721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285" y="1036331"/>
            <a:ext cx="3562860" cy="372632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040" y="2848797"/>
            <a:ext cx="3328944" cy="202514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039" y="794002"/>
            <a:ext cx="3852946" cy="1884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47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719/1000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Live score on real 6</a:t>
            </a:r>
            <a:r>
              <a:rPr lang="en-US" sz="900" dirty="0">
                <a:solidFill>
                  <a:srgbClr val="F3D6DF"/>
                </a:solidFill>
              </a:rPr>
              <a:t> to 12</a:t>
            </a:r>
            <a:r>
              <a:rPr sz="900" dirty="0">
                <a:solidFill>
                  <a:srgbClr val="F3D6DF"/>
                </a:solidFill>
              </a:rPr>
              <a:t>mo GST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DPI data sources fused: Udyam - GST - ITR </a:t>
            </a:r>
            <a:r>
              <a:rPr lang="en-IN" sz="900" dirty="0">
                <a:solidFill>
                  <a:srgbClr val="F3D6DF"/>
                </a:solidFill>
              </a:rPr>
              <a:t>–</a:t>
            </a:r>
            <a:r>
              <a:rPr sz="900">
                <a:solidFill>
                  <a:srgbClr val="F3D6DF"/>
                </a:solidFill>
              </a:rPr>
              <a:t> AA</a:t>
            </a:r>
            <a:r>
              <a:rPr lang="en-US" sz="900">
                <a:solidFill>
                  <a:srgbClr val="F3D6DF"/>
                </a:solidFill>
              </a:rPr>
              <a:t> (+1 - EPFO)</a:t>
            </a:r>
            <a:endParaRPr sz="900">
              <a:solidFill>
                <a:srgbClr val="F3D6DF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>
                <a:solidFill>
                  <a:srgbClr val="F3D6DF"/>
                </a:solidFill>
              </a:rPr>
              <a:t>MSME profiles the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7001D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614803"/>
              </p:ext>
            </p:extLst>
          </p:nvPr>
        </p:nvGraphicFramePr>
        <p:xfrm>
          <a:off x="274320" y="2907792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FinRiskLensAI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4 - Udyam, GST, ITR, AA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(+1 - EPFO)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3-way GST-ITR-bank anomaly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Deeper Data Integrations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MCA21 API - company / director &amp; charge-registry checks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EPFO payroll + GST e-invoice / e-way bill signals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CERSAI - existing collateral / security-interest lookup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AML, Fraud &amp; Compliance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Sanctions / PEP / adverse-media name screening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RBI Central Fraud Registry &amp; wilful-defaulter match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FIU-IND suspicious-transaction flags on AA data</a:t>
            </a: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Lending Ecosystem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Full ULI DSP + OCEN 2.0 certification &amp; go-live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CIBIL / CRIF commercial-bureau enrichment (NTB)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GST-invoice financing &amp; co-lending workflows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Product &amp; Intelligence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Score trend history + PDF Health Card export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Portfolio early-warning analytics for IDBI teams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Vernacular AI assistant + continuous MLOps retraining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3186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4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5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5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1407</Words>
  <Application>Microsoft Office PowerPoint</Application>
  <PresentationFormat>On-screen Show (16:9)</PresentationFormat>
  <Paragraphs>173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4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Abhinav Mukwane</cp:lastModifiedBy>
  <cp:revision>54</cp:revision>
  <dcterms:modified xsi:type="dcterms:W3CDTF">2026-07-08T10:01:40Z</dcterms:modified>
</cp:coreProperties>
</file>