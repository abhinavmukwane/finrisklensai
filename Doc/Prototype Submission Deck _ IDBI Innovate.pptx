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71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802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ed00c62399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ed00c62399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ed00c62399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3ed00c62399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ed00c62399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" name="Google Shape;72;g3ed00c62399_0_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ed00c62399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3ed00c62399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ed00c62399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3ed00c62399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9504815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3ed00c62399_0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" name="Google Shape;86;g3ed00c62399_0_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3ed00c62399_0_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" name="Google Shape;93;g3ed00c62399_0_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ed00c62399_0_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" name="Google Shape;100;g3ed00c62399_0_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ed00c62399_0_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3ed00c62399_0_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ed00c62399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ed00c62399_0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ed00c62399_0_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g3ed00c62399_0_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ed00c62399_0_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ed00c62399_0_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ed00c62399_0_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g3ed00c62399_0_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ed00c62399_0_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" name="Google Shape;142;g3ed00c62399_0_9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ed00c62399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" name="Google Shape;148;g3ed00c62399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bhinavmukwane/FinRiskLensAI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hyperlink" Target="https://finrisklensai.com/" TargetMode="Externa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 title="IDBI banner deck 1.png"/>
          <p:cNvPicPr preferRelativeResize="0"/>
          <p:nvPr/>
        </p:nvPicPr>
        <p:blipFill rotWithShape="1">
          <a:blip r:embed="rId3">
            <a:alphaModFix/>
          </a:blip>
          <a:srcRect b="40681"/>
          <a:stretch/>
        </p:blipFill>
        <p:spPr>
          <a:xfrm>
            <a:off x="0" y="0"/>
            <a:ext cx="9144000" cy="3051100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13"/>
          <p:cNvSpPr txBox="1"/>
          <p:nvPr/>
        </p:nvSpPr>
        <p:spPr>
          <a:xfrm>
            <a:off x="146600" y="3260725"/>
            <a:ext cx="8760000" cy="166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00" b="1" dirty="0"/>
              <a:t>Team Details</a:t>
            </a:r>
            <a:endParaRPr sz="1500" b="1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00" b="1" dirty="0"/>
          </a:p>
          <a:p>
            <a:pPr marL="914400" lvl="1" indent="-323850">
              <a:buSzPts val="1500"/>
              <a:buAutoNum type="alphaLcPeriod"/>
            </a:pPr>
            <a:r>
              <a:rPr lang="en-GB" sz="1500" b="1" dirty="0"/>
              <a:t>Team name: </a:t>
            </a:r>
            <a:r>
              <a:rPr lang="en-GB" sz="1500" dirty="0"/>
              <a:t>ASM </a:t>
            </a:r>
            <a:r>
              <a:rPr lang="en-GB" sz="1500" dirty="0" err="1"/>
              <a:t>FinTech</a:t>
            </a:r>
            <a:r>
              <a:rPr lang="en-GB" sz="1500" dirty="0"/>
              <a:t> Developer</a:t>
            </a:r>
            <a:endParaRPr sz="1500"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AutoNum type="alphaLcPeriod"/>
            </a:pPr>
            <a:r>
              <a:rPr lang="en-GB" sz="1500" b="1" dirty="0"/>
              <a:t>Team leader name: </a:t>
            </a:r>
            <a:r>
              <a:rPr lang="en-US" sz="1500" dirty="0"/>
              <a:t>Abhinav Mukwane</a:t>
            </a:r>
            <a:endParaRPr sz="1500" dirty="0"/>
          </a:p>
          <a:p>
            <a:pPr marL="914400" lvl="1" indent="-323850">
              <a:buSzPts val="1500"/>
              <a:buAutoNum type="alphaLcPeriod"/>
            </a:pPr>
            <a:r>
              <a:rPr lang="en-GB" sz="1500" b="1" dirty="0"/>
              <a:t>Problem Statement: </a:t>
            </a:r>
            <a:r>
              <a:rPr lang="en-US" sz="1500" dirty="0"/>
              <a:t>Financial Health Score</a:t>
            </a:r>
            <a:endParaRPr sz="15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00" b="1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Google Shape;60;p14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4"/>
          <p:cNvSpPr txBox="1"/>
          <p:nvPr/>
        </p:nvSpPr>
        <p:spPr>
          <a:xfrm>
            <a:off x="265350" y="744575"/>
            <a:ext cx="8552829" cy="3905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/>
              <a:t>Brief about the idea</a:t>
            </a:r>
            <a:endParaRPr b="1" dirty="0"/>
          </a:p>
        </p:txBody>
      </p:sp>
      <p:pic>
        <p:nvPicPr>
          <p:cNvPr id="62" name="Google Shape;62;p14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/>
          <p:cNvSpPr txBox="1"/>
          <p:nvPr/>
        </p:nvSpPr>
        <p:spPr>
          <a:xfrm>
            <a:off x="265350" y="1286216"/>
            <a:ext cx="8552829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GB" sz="1200" dirty="0"/>
              <a:t>India has 64 million MSMEs contributing ~30% of GDP, yet 80%+ lack formal credit access. New-to-Credit (NTC) and New-to-Bank (NTB) enterprises are routinely rejected despite genuine creditworthiness — simply due to missing paperwork.</a:t>
            </a:r>
          </a:p>
          <a:p>
            <a:pPr lvl="0"/>
            <a:endParaRPr lang="en-GB" sz="1200" dirty="0"/>
          </a:p>
          <a:p>
            <a:pPr lvl="0"/>
            <a:r>
              <a:rPr lang="en-GB" sz="1200" b="1" dirty="0"/>
              <a:t>FinRiskLensAI : AI-Powered MSME Financial Health Score Platform</a:t>
            </a:r>
          </a:p>
          <a:p>
            <a:pPr lvl="0"/>
            <a:endParaRPr lang="en-GB" sz="1200" dirty="0"/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Aggregates alternate data streams: GST returns, Account Aggregator bank &amp; UPI statements, ITR filings, Udyam registry (EPFO slot ready)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Computes a multi-dimensional Financial Health Score (0-1000) across 6 weighted pillars using ML.NET (LightGBM model + rules engine)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Generates a visual Financial Health Card with radar chart, trend graph, risk flags, and credit product recommendations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Integrates with ULI (DSP API), OCEN 2.0 (LSP interface), and AA FIU consent framework for near real-time assessment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Near real-time scoring: end-to-end score in under 10 seconds from consent trigger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PFI-based explainability: every score carries a dimension-level reason - audit-ready for credit officers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Recommends CGTMSE/MUDRA-backed products for mid-range scorers to maximise viable approvals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Enables IDBI Bank to on-board credit-invisible MSMEs while strengthening portfolio quality and sector diversification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5"/>
          <p:cNvSpPr txBox="1"/>
          <p:nvPr/>
        </p:nvSpPr>
        <p:spPr>
          <a:xfrm>
            <a:off x="285075" y="593476"/>
            <a:ext cx="8573850" cy="445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/>
              <a:t>Opportunities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b="1" dirty="0"/>
          </a:p>
          <a:p>
            <a:pPr lvl="0"/>
            <a:r>
              <a:rPr lang="en-US" sz="1200" b="1" dirty="0"/>
              <a:t>How different is it from any of the other existing ideas?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Unlike CIBIL/Experian bureau scores, FinRiskLensAI works for NTC/NTB borrowers with zero credit history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Unlike single-source tools, we unify 4 DPI data streams (GST + AA + UPI + ITR + EPFO) in one consent-based flow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First solution combining ULI DSP-compatible API + OCEN 2.0 LSP + AA FIU consent flow in a single platform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GST vs. bank-credit cross-validation as a proprietary fraud signal — no existing tool does this</a:t>
            </a:r>
          </a:p>
          <a:p>
            <a:pPr lvl="0"/>
            <a:endParaRPr lang="en-US" sz="1200" dirty="0"/>
          </a:p>
          <a:p>
            <a:pPr lvl="0"/>
            <a:r>
              <a:rPr lang="en-US" sz="1200" b="1" dirty="0"/>
              <a:t>How will it be able to solve the problem?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Eliminates the 'no document, no credit' rejection cycle by using MSMEs' existing digital footprints as credit proxies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Near real-time scoring replaces 2-3 week manual evaluation with a sub-10-second automated assessment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PFI explainability gives credit officers dimension-level reasons — no black-box decisions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Neutral baseline for NTC status prevents unfair penalization of first-time borrowers</a:t>
            </a:r>
          </a:p>
          <a:p>
            <a:pPr lvl="0"/>
            <a:endParaRPr lang="en-US" sz="1200" dirty="0"/>
          </a:p>
          <a:p>
            <a:pPr lvl="0"/>
            <a:r>
              <a:rPr lang="en-US" sz="1200" b="1" dirty="0"/>
              <a:t>USP of the proposed solution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6-dimensional score gives IDBI a far richer risk picture than any single metric (Revenue, Cash Flow, Transactions, Compliance, Stability, Debt)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Built entirely on India's DPI stack — zero proprietary data dependency, fully consent-based and DPDP Act 2023 compliant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Credit product recommender maps score band to CGTMSE/MUDRA schemes — maximizing both approval rate and safety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ULI DSP-compatible API means any OCEN-compliant lender can plug in — IDBI's infrastructure becomes reusable fintech rails</a:t>
            </a:r>
          </a:p>
        </p:txBody>
      </p:sp>
      <p:pic>
        <p:nvPicPr>
          <p:cNvPr id="68" name="Google Shape;68;p15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69" name="Google Shape;69;p15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6"/>
          <p:cNvSpPr txBox="1"/>
          <p:nvPr/>
        </p:nvSpPr>
        <p:spPr>
          <a:xfrm>
            <a:off x="265350" y="593476"/>
            <a:ext cx="8626402" cy="411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/>
              <a:t>List of features offered by the solution</a:t>
            </a:r>
            <a:endParaRPr b="1" dirty="0"/>
          </a:p>
        </p:txBody>
      </p:sp>
      <p:pic>
        <p:nvPicPr>
          <p:cNvPr id="75" name="Google Shape;75;p16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76" name="Google Shape;76;p16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/>
          <p:cNvSpPr txBox="1"/>
          <p:nvPr/>
        </p:nvSpPr>
        <p:spPr>
          <a:xfrm>
            <a:off x="265350" y="994078"/>
            <a:ext cx="8626402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GB" sz="1200" b="1" dirty="0"/>
              <a:t>Data Aggregation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Consent-based multi-source pull: Udyam registry, GST API (GSTR-1/3B, ITC), ITR filings, AA bank &amp; UPI statements (EPFO slot ready)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GST vs. bank-credit cross-validation for fraud/misrepresentation detection</a:t>
            </a:r>
          </a:p>
          <a:p>
            <a:pPr lvl="0"/>
            <a:endParaRPr lang="en-GB" sz="1200" dirty="0"/>
          </a:p>
          <a:p>
            <a:pPr lvl="0"/>
            <a:r>
              <a:rPr lang="en-GB" sz="1200" b="1" dirty="0"/>
              <a:t>AI / ML Scoring Engine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6-Dimension Weighted Score (0-1000): Revenue Vitality (25%), Cash Flow Health (20%), </a:t>
            </a:r>
            <a:r>
              <a:rPr lang="en-GB" sz="1200" dirty="0" err="1"/>
              <a:t>Tx</a:t>
            </a:r>
            <a:r>
              <a:rPr lang="en-GB" sz="1200" dirty="0"/>
              <a:t> Trustworthiness (15%), Compliance (15%), Business Stability (15%), Debt Serviceability (10%)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ML.NET LightGBM for tabular scoring + SSA time-series for 12-month trend + RandomizedPCA for cross-source anomaly detection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PFI (Permutation Feature Importance): per-dimension reasons for every score - audit-ready</a:t>
            </a:r>
          </a:p>
          <a:p>
            <a:pPr lvl="0"/>
            <a:endParaRPr lang="en-GB" sz="1200" dirty="0"/>
          </a:p>
          <a:p>
            <a:pPr lvl="0"/>
            <a:r>
              <a:rPr lang="en-GB" sz="1200" b="1" dirty="0"/>
              <a:t>Financial Health Card UI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Radar/spider chart for 6 dimensions, 12-month trend graph, green/yellow/red risk flags, top 3 strengths and risks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Recommended credit products (CGTMSE, MUDRA, standard working capital) mapped to score band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Downloadable PDF Health Card for branch-level use by IDBI credit officers</a:t>
            </a:r>
          </a:p>
          <a:p>
            <a:pPr lvl="0"/>
            <a:endParaRPr lang="en-GB" sz="1200" dirty="0"/>
          </a:p>
          <a:p>
            <a:pPr lvl="0"/>
            <a:r>
              <a:rPr lang="en-GB" sz="1200" b="1" dirty="0"/>
              <a:t>Integration &amp; API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ULI DSP-compatible REST API: any OCEN-compliant lender queries the score with </a:t>
            </a:r>
            <a:r>
              <a:rPr lang="en-GB" sz="1200" dirty="0" err="1"/>
              <a:t>mTLS</a:t>
            </a:r>
            <a:r>
              <a:rPr lang="en-GB" sz="1200" dirty="0"/>
              <a:t> + OAuth2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IDBI LOS Integration: score + Health Card delivered inline to Loan Origination System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AA FIU consent lifecycle: consent request, artefact verification, FIP data pull, auto-expiry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On-demand refresh: a new GST filing or AA consent re-runs the blob-based scoring pipeline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7"/>
          <p:cNvSpPr txBox="1"/>
          <p:nvPr/>
        </p:nvSpPr>
        <p:spPr>
          <a:xfrm>
            <a:off x="201000" y="593476"/>
            <a:ext cx="8606669" cy="4320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/>
              <a:t>Process flow diagram or Use-case diagram</a:t>
            </a:r>
            <a:endParaRPr b="1" dirty="0"/>
          </a:p>
        </p:txBody>
      </p:sp>
      <p:pic>
        <p:nvPicPr>
          <p:cNvPr id="82" name="Google Shape;82;p17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83" name="Google Shape;83;p17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7315" y="704613"/>
            <a:ext cx="4728906" cy="431165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7"/>
          <p:cNvSpPr txBox="1"/>
          <p:nvPr/>
        </p:nvSpPr>
        <p:spPr>
          <a:xfrm>
            <a:off x="201000" y="563151"/>
            <a:ext cx="8522586" cy="4148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/>
              <a:t>Process flow diagram or Use-case diagram</a:t>
            </a:r>
            <a:endParaRPr b="1" dirty="0"/>
          </a:p>
        </p:txBody>
      </p:sp>
      <p:pic>
        <p:nvPicPr>
          <p:cNvPr id="82" name="Google Shape;82;p17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83" name="Google Shape;83;p17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7653" y="974080"/>
            <a:ext cx="3548637" cy="4070496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32198" y="2293124"/>
            <a:ext cx="4145894" cy="15851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38445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8"/>
          <p:cNvSpPr txBox="1"/>
          <p:nvPr/>
        </p:nvSpPr>
        <p:spPr>
          <a:xfrm>
            <a:off x="265350" y="74457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/>
              <a:t>Wireframes/Mock diagrams of the proposed solution (optional)</a:t>
            </a:r>
            <a:endParaRPr b="1" dirty="0"/>
          </a:p>
        </p:txBody>
      </p:sp>
      <p:pic>
        <p:nvPicPr>
          <p:cNvPr id="89" name="Google Shape;89;p18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0" name="Google Shape;90;p18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9"/>
          <p:cNvSpPr txBox="1"/>
          <p:nvPr/>
        </p:nvSpPr>
        <p:spPr>
          <a:xfrm>
            <a:off x="275861" y="593476"/>
            <a:ext cx="8573849" cy="4050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/>
              <a:t>Architecture diagram of the proposed solution</a:t>
            </a:r>
            <a:endParaRPr b="1" dirty="0"/>
          </a:p>
        </p:txBody>
      </p:sp>
      <p:pic>
        <p:nvPicPr>
          <p:cNvPr id="96" name="Google Shape;96;p19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19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59486" y="608442"/>
            <a:ext cx="3670114" cy="453505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0"/>
          <p:cNvSpPr txBox="1"/>
          <p:nvPr/>
        </p:nvSpPr>
        <p:spPr>
          <a:xfrm>
            <a:off x="201000" y="593476"/>
            <a:ext cx="8722283" cy="4260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/>
              <a:t>Technologies to be used in the solution</a:t>
            </a:r>
            <a:endParaRPr b="1"/>
          </a:p>
        </p:txBody>
      </p:sp>
      <p:pic>
        <p:nvPicPr>
          <p:cNvPr id="103" name="Google Shape;103;p20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04" name="Google Shape;104;p20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/>
          <p:cNvSpPr txBox="1"/>
          <p:nvPr/>
        </p:nvSpPr>
        <p:spPr>
          <a:xfrm>
            <a:off x="201000" y="1019503"/>
            <a:ext cx="8648710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b="1" dirty="0"/>
              <a:t>Backend — Orchestration &amp; API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ASP.NET Core 8 MVC (C#): orchestration + Udyam/GST/ITR/AA (Finvu) connectors, ULI DSP, IDBI LOS webhook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ML.NET (in-process): scoring, feature engineering &amp; PFI explainability - no separate ML service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Autofac: DI &amp; module auto-registration | Serilog: structured file/console logging</a:t>
            </a:r>
          </a:p>
          <a:p>
            <a:pPr lvl="0"/>
            <a:endParaRPr lang="en-US" sz="1200" dirty="0"/>
          </a:p>
          <a:p>
            <a:pPr lvl="0"/>
            <a:r>
              <a:rPr lang="en-US" sz="1200" b="1" dirty="0"/>
              <a:t>AI / ML Stack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 err="1"/>
              <a:t>ML.NET LightGBM: calibration model; final score = 0.6 rules engine + 0.4 ML model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 err="1"/>
              <a:t>ML.NET SSA (Singular Spectrum Analysis): 12-month cashflow / revenue trend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Permutation Feature Importance (PFI): per-dimension, audit-ready explanations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 err="1"/>
              <a:t>ML.NET RandomizedPCA: 3-way GST vs ITR vs bank-credit anomaly / fraud signal</a:t>
            </a:r>
          </a:p>
          <a:p>
            <a:pPr lvl="0"/>
            <a:endParaRPr lang="en-US" sz="1200" dirty="0"/>
          </a:p>
          <a:p>
            <a:pPr lvl="0"/>
            <a:r>
              <a:rPr lang="en-US" sz="1200" b="1" dirty="0"/>
              <a:t>Data &amp; Storage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SQL Server + EF Core 8: MSME profiles, consent &amp; OTP tables, audit trail (code-first migrations)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Azure Blob Storage: per-MSME data folder (raw source JSON + result.json)</a:t>
            </a:r>
          </a:p>
          <a:p>
            <a:pPr lvl="0"/>
            <a:endParaRPr lang="en-US" sz="1200" dirty="0"/>
          </a:p>
          <a:p>
            <a:pPr lvl="0"/>
            <a:r>
              <a:rPr lang="en-US" sz="1200" b="1" dirty="0"/>
              <a:t>Infrastructure &amp; DevOps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Single ASP.NET Core 8 web app - Web + ML.NET in one deployable (monolith)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Azure API Management (planned): ULI/OCEN gateway with mTLS + OAuth2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GitHub: source control &amp; CI | IIS / Azure App Service: hosting</a:t>
            </a:r>
          </a:p>
          <a:p>
            <a:pPr lvl="0"/>
            <a:endParaRPr lang="en-US" sz="1200" dirty="0"/>
          </a:p>
          <a:p>
            <a:pPr lvl="0"/>
            <a:r>
              <a:rPr lang="en-US" sz="1200" b="1" dirty="0"/>
              <a:t>Frontend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ASP.NET Core MVC + Razor Views: server-rendered Health Card UI (.cshtml + Bootstrap, minimal JS)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Chart.js: radar/spider chart (6-dimension score pillars), line chart (12-month score trend), doughnut chart (score band indicator)</a:t>
            </a:r>
          </a:p>
          <a:p>
            <a:pPr lvl="0"/>
            <a:r>
              <a:rPr lang="en-US" sz="1200" b="1" dirty="0"/>
              <a:t>DPI Integrations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Account Aggregator (AA) via Finvu / FinFactor | Unified Lending Interface (ULI) DSP API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OCEN 2.0 | GST System API | Udyam Registry | EPFO REST API (planned)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1"/>
          <p:cNvSpPr txBox="1"/>
          <p:nvPr/>
        </p:nvSpPr>
        <p:spPr>
          <a:xfrm>
            <a:off x="265350" y="74457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/>
              <a:t>Estimated implementation cost (optional)</a:t>
            </a:r>
            <a:endParaRPr b="1"/>
          </a:p>
        </p:txBody>
      </p:sp>
      <p:pic>
        <p:nvPicPr>
          <p:cNvPr id="110" name="Google Shape;110;p21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1" name="Google Shape;111;p21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cost_tile"/>
          <p:cNvSpPr/>
          <p:nvPr/>
        </p:nvSpPr>
        <p:spPr>
          <a:xfrm>
            <a:off x="274320" y="1463040"/>
            <a:ext cx="2743200" cy="960120"/>
          </a:xfrm>
          <a:prstGeom prst="roundRect">
            <a:avLst/>
          </a:prstGeom>
          <a:solidFill>
            <a:srgbClr val="5700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bIns="54864" rtlCol="0" anchor="ctr"/>
          <a:lstStyle/>
          <a:p>
            <a:pPr algn="ctr"/>
            <a:r>
              <a:rPr sz="2600" b="1">
                <a:solidFill>
                  <a:srgbClr val="FFFFFF"/>
                </a:solidFill>
              </a:rPr>
              <a:t>₹ 22 L</a:t>
            </a:r>
          </a:p>
          <a:p>
            <a:pPr algn="ctr"/>
            <a:r>
              <a:rPr sz="950">
                <a:solidFill>
                  <a:srgbClr val="F3D6DF"/>
                </a:solidFill>
              </a:rPr>
              <a:t>One-time setup (build + security)</a:t>
            </a:r>
          </a:p>
        </p:txBody>
      </p:sp>
      <p:sp>
        <p:nvSpPr>
          <p:cNvPr id="113" name="cost_tile"/>
          <p:cNvSpPr/>
          <p:nvPr/>
        </p:nvSpPr>
        <p:spPr>
          <a:xfrm>
            <a:off x="3200400" y="1463040"/>
            <a:ext cx="2743200" cy="960120"/>
          </a:xfrm>
          <a:prstGeom prst="roundRect">
            <a:avLst/>
          </a:prstGeom>
          <a:solidFill>
            <a:srgbClr val="5700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bIns="54864" rtlCol="0" anchor="ctr"/>
          <a:lstStyle/>
          <a:p>
            <a:pPr algn="ctr"/>
            <a:r>
              <a:rPr sz="2600" b="1">
                <a:solidFill>
                  <a:srgbClr val="FFFFFF"/>
                </a:solidFill>
              </a:rPr>
              <a:t>₹ 31 L / yr</a:t>
            </a:r>
          </a:p>
          <a:p>
            <a:pPr algn="ctr"/>
            <a:r>
              <a:rPr sz="950">
                <a:solidFill>
                  <a:srgbClr val="F3D6DF"/>
                </a:solidFill>
              </a:rPr>
              <a:t>Recurring (cloud + data + support)</a:t>
            </a:r>
          </a:p>
        </p:txBody>
      </p:sp>
      <p:sp>
        <p:nvSpPr>
          <p:cNvPr id="114" name="cost_tile"/>
          <p:cNvSpPr/>
          <p:nvPr/>
        </p:nvSpPr>
        <p:spPr>
          <a:xfrm>
            <a:off x="6126480" y="1463040"/>
            <a:ext cx="2743200" cy="960120"/>
          </a:xfrm>
          <a:prstGeom prst="roundRect">
            <a:avLst/>
          </a:prstGeom>
          <a:solidFill>
            <a:srgbClr val="5700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bIns="54864" rtlCol="0" anchor="ctr"/>
          <a:lstStyle/>
          <a:p>
            <a:pPr algn="ctr"/>
            <a:r>
              <a:rPr sz="2600" b="1">
                <a:solidFill>
                  <a:srgbClr val="FFFFFF"/>
                </a:solidFill>
              </a:rPr>
              <a:t>~ ₹ 1.15 Cr</a:t>
            </a:r>
          </a:p>
          <a:p>
            <a:pPr algn="ctr"/>
            <a:r>
              <a:rPr sz="950">
                <a:solidFill>
                  <a:srgbClr val="F3D6DF"/>
                </a:solidFill>
              </a:rPr>
              <a:t>3-year total cost of ownership</a:t>
            </a:r>
          </a:p>
        </p:txBody>
      </p:sp>
      <p:sp>
        <p:nvSpPr>
          <p:cNvPr id="115" name="cost_label"/>
          <p:cNvSpPr txBox="1"/>
          <p:nvPr/>
        </p:nvSpPr>
        <p:spPr>
          <a:xfrm>
            <a:off x="274320" y="2560320"/>
            <a:ext cx="8503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57001D"/>
                </a:solidFill>
              </a:rPr>
              <a:t>Cost breakdown  -  centralised cloud deployment serving all IDBI branches pan-India</a:t>
            </a:r>
          </a:p>
        </p:txBody>
      </p:sp>
      <p:graphicFrame>
        <p:nvGraphicFramePr>
          <p:cNvPr id="116" name="cost_table"/>
          <p:cNvGraphicFramePr>
            <a:graphicFrameLocks noGrp="1"/>
          </p:cNvGraphicFramePr>
          <p:nvPr/>
        </p:nvGraphicFramePr>
        <p:xfrm>
          <a:off x="274320" y="2889504"/>
          <a:ext cx="8503920" cy="19751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709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Cost head</a:t>
                      </a:r>
                    </a:p>
                  </a:txBody>
                  <a:tcPr marT="18288" marB="18288" anchor="ctr">
                    <a:solidFill>
                      <a:srgbClr val="57001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Type</a:t>
                      </a:r>
                    </a:p>
                  </a:txBody>
                  <a:tcPr marT="18288" marB="18288" anchor="ctr">
                    <a:solidFill>
                      <a:srgbClr val="57001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</a:rPr>
                        <a:t>Estimate (INR)</a:t>
                      </a:r>
                    </a:p>
                  </a:txBody>
                  <a:tcPr marT="18288" marB="18288" anchor="ctr">
                    <a:solidFill>
                      <a:srgbClr val="57001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186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B2026"/>
                          </a:solidFill>
                        </a:rPr>
                        <a:t>Development - 3-member team, ~6-month build</a:t>
                      </a:r>
                    </a:p>
                  </a:txBody>
                  <a:tcPr marT="18288" marB="18288" anchor="ctr">
                    <a:solidFill>
                      <a:srgbClr val="F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5C4A50"/>
                          </a:solidFill>
                        </a:rPr>
                        <a:t>One-time</a:t>
                      </a: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57001D"/>
                          </a:solidFill>
                        </a:rPr>
                        <a:t>₹ 18 L</a:t>
                      </a:r>
                    </a:p>
                  </a:txBody>
                  <a:tcPr marT="18288" marB="18288" anchor="ctr">
                    <a:solidFill>
                      <a:srgbClr val="F3EA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186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B2026"/>
                          </a:solidFill>
                        </a:rPr>
                        <a:t>Security testing &amp; RBI / DPDP compliance audit</a:t>
                      </a:r>
                    </a:p>
                  </a:txBody>
                  <a:tcPr marT="18288" marB="18288" anchor="ctr">
                    <a:solidFill>
                      <a:srgbClr val="F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5C4A50"/>
                          </a:solidFill>
                        </a:rPr>
                        <a:t>One-time</a:t>
                      </a: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57001D"/>
                          </a:solidFill>
                        </a:rPr>
                        <a:t>₹ 4 L</a:t>
                      </a:r>
                    </a:p>
                  </a:txBody>
                  <a:tcPr marT="18288" marB="18288" anchor="ctr">
                    <a:solidFill>
                      <a:srgbClr val="F3EA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186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B2026"/>
                          </a:solidFill>
                        </a:rPr>
                        <a:t>Cloud &amp; servers - Azure App Service, SQL, Blob, APIM</a:t>
                      </a:r>
                    </a:p>
                  </a:txBody>
                  <a:tcPr marT="18288" marB="18288" anchor="ctr">
                    <a:solidFill>
                      <a:srgbClr val="F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5C4A50"/>
                          </a:solidFill>
                        </a:rPr>
                        <a:t>Annual</a:t>
                      </a: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57001D"/>
                          </a:solidFill>
                        </a:rPr>
                        <a:t>₹ 12 L</a:t>
                      </a:r>
                    </a:p>
                  </a:txBody>
                  <a:tcPr marT="18288" marB="18288" anchor="ctr">
                    <a:solidFill>
                      <a:srgbClr val="F3EA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186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B2026"/>
                          </a:solidFill>
                        </a:rPr>
                        <a:t>Data &amp; API usage - AA (Finvu), GST, ITR</a:t>
                      </a:r>
                    </a:p>
                  </a:txBody>
                  <a:tcPr marT="18288" marB="18288" anchor="ctr">
                    <a:solidFill>
                      <a:srgbClr val="F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5C4A50"/>
                          </a:solidFill>
                        </a:rPr>
                        <a:t>Annual</a:t>
                      </a: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57001D"/>
                          </a:solidFill>
                        </a:rPr>
                        <a:t>₹ 10 L</a:t>
                      </a:r>
                    </a:p>
                  </a:txBody>
                  <a:tcPr marT="18288" marB="18288" anchor="ctr">
                    <a:solidFill>
                      <a:srgbClr val="F3EA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186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B2026"/>
                          </a:solidFill>
                        </a:rPr>
                        <a:t>Maintenance, support &amp; ML model retraining</a:t>
                      </a:r>
                    </a:p>
                  </a:txBody>
                  <a:tcPr marT="18288" marB="18288" anchor="ctr">
                    <a:solidFill>
                      <a:srgbClr val="F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5C4A50"/>
                          </a:solidFill>
                        </a:rPr>
                        <a:t>Annual</a:t>
                      </a: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57001D"/>
                          </a:solidFill>
                        </a:rPr>
                        <a:t>₹ 9 L</a:t>
                      </a:r>
                    </a:p>
                  </a:txBody>
                  <a:tcPr marT="18288" marB="18288" anchor="ctr">
                    <a:solidFill>
                      <a:srgbClr val="F3EA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2"/>
          <p:cNvSpPr txBox="1"/>
          <p:nvPr/>
        </p:nvSpPr>
        <p:spPr>
          <a:xfrm>
            <a:off x="265350" y="74457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/>
              <a:t>Snapshots of the prototype</a:t>
            </a:r>
            <a:endParaRPr b="1"/>
          </a:p>
        </p:txBody>
      </p:sp>
      <p:pic>
        <p:nvPicPr>
          <p:cNvPr id="117" name="Google Shape;117;p22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22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23"/>
          <p:cNvSpPr txBox="1"/>
          <p:nvPr/>
        </p:nvSpPr>
        <p:spPr>
          <a:xfrm>
            <a:off x="265350" y="74457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/>
              <a:t>Prototype Performance report/Benchmarking</a:t>
            </a:r>
            <a:endParaRPr b="1" dirty="0"/>
          </a:p>
        </p:txBody>
      </p:sp>
      <p:pic>
        <p:nvPicPr>
          <p:cNvPr id="124" name="Google Shape;124;p23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3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perf_tile"/>
          <p:cNvSpPr/>
          <p:nvPr/>
        </p:nvSpPr>
        <p:spPr>
          <a:xfrm>
            <a:off x="274320" y="1481328"/>
            <a:ext cx="1975104" cy="932688"/>
          </a:xfrm>
          <a:prstGeom prst="roundRect">
            <a:avLst/>
          </a:prstGeom>
          <a:solidFill>
            <a:srgbClr val="5700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64008" rIns="73152" bIns="64008" rtlCol="0" anchor="ctr"/>
          <a:lstStyle/>
          <a:p>
            <a:pPr algn="ctr"/>
            <a:r>
              <a:rPr sz="2400" b="1" dirty="0">
                <a:solidFill>
                  <a:srgbClr val="FFFFFF"/>
                </a:solidFill>
              </a:rPr>
              <a:t>719/1000</a:t>
            </a:r>
          </a:p>
          <a:p>
            <a:pPr algn="ctr"/>
            <a:r>
              <a:rPr sz="900" dirty="0">
                <a:solidFill>
                  <a:srgbClr val="F3D6DF"/>
                </a:solidFill>
              </a:rPr>
              <a:t>Live score on real 6</a:t>
            </a:r>
            <a:r>
              <a:rPr lang="en-US" sz="900" dirty="0">
                <a:solidFill>
                  <a:srgbClr val="F3D6DF"/>
                </a:solidFill>
              </a:rPr>
              <a:t> to 12</a:t>
            </a:r>
            <a:r>
              <a:rPr sz="900" dirty="0">
                <a:solidFill>
                  <a:srgbClr val="F3D6DF"/>
                </a:solidFill>
              </a:rPr>
              <a:t>mo GST data (band: Good)</a:t>
            </a:r>
          </a:p>
        </p:txBody>
      </p:sp>
      <p:sp>
        <p:nvSpPr>
          <p:cNvPr id="127" name="perf_tile"/>
          <p:cNvSpPr/>
          <p:nvPr/>
        </p:nvSpPr>
        <p:spPr>
          <a:xfrm>
            <a:off x="2450592" y="1481328"/>
            <a:ext cx="1975104" cy="932688"/>
          </a:xfrm>
          <a:prstGeom prst="roundRect">
            <a:avLst/>
          </a:prstGeom>
          <a:solidFill>
            <a:srgbClr val="5700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64008" rIns="73152" bIns="64008" rtlCol="0" anchor="ctr"/>
          <a:lstStyle/>
          <a:p>
            <a:pPr algn="ctr"/>
            <a:r>
              <a:rPr sz="2400" b="1" dirty="0">
                <a:solidFill>
                  <a:srgbClr val="FFFFFF"/>
                </a:solidFill>
              </a:rPr>
              <a:t>&lt; </a:t>
            </a:r>
            <a:r>
              <a:rPr lang="en-US" sz="2400" b="1" dirty="0">
                <a:solidFill>
                  <a:srgbClr val="FFFFFF"/>
                </a:solidFill>
              </a:rPr>
              <a:t>10</a:t>
            </a:r>
            <a:r>
              <a:rPr sz="2400" b="1" dirty="0">
                <a:solidFill>
                  <a:srgbClr val="FFFFFF"/>
                </a:solidFill>
              </a:rPr>
              <a:t> s</a:t>
            </a:r>
          </a:p>
          <a:p>
            <a:pPr algn="ctr"/>
            <a:r>
              <a:rPr sz="900" dirty="0">
                <a:solidFill>
                  <a:srgbClr val="F3D6DF"/>
                </a:solidFill>
              </a:rPr>
              <a:t>End-to-end scoring (sub-second when warm)</a:t>
            </a:r>
          </a:p>
        </p:txBody>
      </p:sp>
      <p:sp>
        <p:nvSpPr>
          <p:cNvPr id="128" name="perf_tile"/>
          <p:cNvSpPr/>
          <p:nvPr/>
        </p:nvSpPr>
        <p:spPr>
          <a:xfrm>
            <a:off x="4626864" y="1481328"/>
            <a:ext cx="1975104" cy="932688"/>
          </a:xfrm>
          <a:prstGeom prst="roundRect">
            <a:avLst/>
          </a:prstGeom>
          <a:solidFill>
            <a:srgbClr val="5700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64008" rIns="73152" bIns="64008" rtlCol="0" anchor="ctr"/>
          <a:lstStyle/>
          <a:p>
            <a:pPr algn="ctr"/>
            <a:r>
              <a:rPr sz="2400" b="1" dirty="0">
                <a:solidFill>
                  <a:srgbClr val="FFFFFF"/>
                </a:solidFill>
              </a:rPr>
              <a:t>4</a:t>
            </a:r>
          </a:p>
          <a:p>
            <a:pPr algn="ctr"/>
            <a:r>
              <a:rPr sz="900" dirty="0">
                <a:solidFill>
                  <a:srgbClr val="F3D6DF"/>
                </a:solidFill>
              </a:rPr>
              <a:t>DPI data sources fused: Udyam - GST - ITR </a:t>
            </a:r>
            <a:r>
              <a:rPr lang="en-IN" sz="900" dirty="0">
                <a:solidFill>
                  <a:srgbClr val="F3D6DF"/>
                </a:solidFill>
              </a:rPr>
              <a:t>–</a:t>
            </a:r>
            <a:r>
              <a:rPr sz="900">
                <a:solidFill>
                  <a:srgbClr val="F3D6DF"/>
                </a:solidFill>
              </a:rPr>
              <a:t> AA</a:t>
            </a:r>
            <a:r>
              <a:rPr lang="en-US" sz="900">
                <a:solidFill>
                  <a:srgbClr val="F3D6DF"/>
                </a:solidFill>
              </a:rPr>
              <a:t> (+1 - EPFO)</a:t>
            </a:r>
            <a:endParaRPr sz="900">
              <a:solidFill>
                <a:srgbClr val="F3D6DF"/>
              </a:solidFill>
            </a:endParaRPr>
          </a:p>
        </p:txBody>
      </p:sp>
      <p:sp>
        <p:nvSpPr>
          <p:cNvPr id="129" name="perf_tile"/>
          <p:cNvSpPr/>
          <p:nvPr/>
        </p:nvSpPr>
        <p:spPr>
          <a:xfrm>
            <a:off x="6803136" y="1481328"/>
            <a:ext cx="1975104" cy="932688"/>
          </a:xfrm>
          <a:prstGeom prst="roundRect">
            <a:avLst/>
          </a:prstGeom>
          <a:solidFill>
            <a:srgbClr val="5700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64008" rIns="73152" bIns="64008" rtlCol="0" anchor="ctr"/>
          <a:lstStyle/>
          <a:p>
            <a:pPr algn="ctr"/>
            <a:r>
              <a:rPr sz="2400" b="1">
                <a:solidFill>
                  <a:srgbClr val="FFFFFF"/>
                </a:solidFill>
              </a:rPr>
              <a:t>3000</a:t>
            </a:r>
          </a:p>
          <a:p>
            <a:pPr algn="ctr"/>
            <a:r>
              <a:rPr sz="900">
                <a:solidFill>
                  <a:srgbClr val="F3D6DF"/>
                </a:solidFill>
              </a:rPr>
              <a:t>MSME profiles the model trains on</a:t>
            </a:r>
          </a:p>
        </p:txBody>
      </p:sp>
      <p:sp>
        <p:nvSpPr>
          <p:cNvPr id="130" name="perf_label"/>
          <p:cNvSpPr txBox="1"/>
          <p:nvPr/>
        </p:nvSpPr>
        <p:spPr>
          <a:xfrm>
            <a:off x="274320" y="2578608"/>
            <a:ext cx="8503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57001D"/>
                </a:solidFill>
              </a:rPr>
              <a:t>Benchmark vs. traditional credit assessment</a:t>
            </a:r>
          </a:p>
        </p:txBody>
      </p:sp>
      <p:graphicFrame>
        <p:nvGraphicFramePr>
          <p:cNvPr id="131" name="perf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1614803"/>
              </p:ext>
            </p:extLst>
          </p:nvPr>
        </p:nvGraphicFramePr>
        <p:xfrm>
          <a:off x="274320" y="2907792"/>
          <a:ext cx="8503920" cy="19659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68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80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54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Metric</a:t>
                      </a:r>
                    </a:p>
                  </a:txBody>
                  <a:tcPr marR="73152" marT="27432" marB="27432" anchor="ctr">
                    <a:solidFill>
                      <a:srgbClr val="57001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Traditional / bureau</a:t>
                      </a:r>
                    </a:p>
                  </a:txBody>
                  <a:tcPr marR="73152" marT="27432" marB="27432" anchor="ctr">
                    <a:solidFill>
                      <a:srgbClr val="57001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FinRiskLensAI</a:t>
                      </a:r>
                    </a:p>
                  </a:txBody>
                  <a:tcPr marR="73152" marT="27432" marB="27432" anchor="ctr">
                    <a:solidFill>
                      <a:srgbClr val="57001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B2026"/>
                          </a:solidFill>
                        </a:rPr>
                        <a:t>Turnaround time</a:t>
                      </a:r>
                    </a:p>
                  </a:txBody>
                  <a:tcPr marR="73152" marT="27432" marB="27432" anchor="ctr">
                    <a:solidFill>
                      <a:srgbClr val="F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5C4A50"/>
                          </a:solidFill>
                        </a:rPr>
                        <a:t>2-3 weeks (manual)</a:t>
                      </a:r>
                    </a:p>
                  </a:txBody>
                  <a:tcPr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57001D"/>
                          </a:solidFill>
                        </a:rPr>
                        <a:t>Seconds (automated)</a:t>
                      </a:r>
                    </a:p>
                  </a:txBody>
                  <a:tcPr marR="73152" marT="27432" marB="27432" anchor="ctr">
                    <a:solidFill>
                      <a:srgbClr val="F3EA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B2026"/>
                          </a:solidFill>
                        </a:rPr>
                        <a:t>NTC / NTB borrowers</a:t>
                      </a:r>
                    </a:p>
                  </a:txBody>
                  <a:tcPr marR="73152" marT="27432" marB="27432" anchor="ctr">
                    <a:solidFill>
                      <a:srgbClr val="F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5C4A50"/>
                          </a:solidFill>
                        </a:rPr>
                        <a:t>Rejected - no history</a:t>
                      </a:r>
                    </a:p>
                  </a:txBody>
                  <a:tcPr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57001D"/>
                          </a:solidFill>
                        </a:rPr>
                        <a:t>Scored on alternate data</a:t>
                      </a:r>
                    </a:p>
                  </a:txBody>
                  <a:tcPr marR="73152" marT="27432" marB="27432" anchor="ctr">
                    <a:solidFill>
                      <a:srgbClr val="F3EA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B2026"/>
                          </a:solidFill>
                        </a:rPr>
                        <a:t>Data sources</a:t>
                      </a:r>
                    </a:p>
                  </a:txBody>
                  <a:tcPr marR="73152" marT="27432" marB="27432" anchor="ctr">
                    <a:solidFill>
                      <a:srgbClr val="F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5C4A50"/>
                          </a:solidFill>
                        </a:rPr>
                        <a:t>1 - bureau file</a:t>
                      </a:r>
                    </a:p>
                  </a:txBody>
                  <a:tcPr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57001D"/>
                          </a:solidFill>
                        </a:rPr>
                        <a:t>4 - Udyam, GST, ITR, AA</a:t>
                      </a:r>
                      <a:r>
                        <a:rPr lang="en-US" sz="1050" b="1" dirty="0">
                          <a:solidFill>
                            <a:srgbClr val="57001D"/>
                          </a:solidFill>
                        </a:rPr>
                        <a:t> (+1 - EPFO)</a:t>
                      </a:r>
                      <a:endParaRPr sz="1050" b="1" dirty="0">
                        <a:solidFill>
                          <a:srgbClr val="57001D"/>
                        </a:solidFill>
                      </a:endParaRPr>
                    </a:p>
                  </a:txBody>
                  <a:tcPr marR="73152" marT="27432" marB="27432" anchor="ctr">
                    <a:solidFill>
                      <a:srgbClr val="F3EA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B2026"/>
                          </a:solidFill>
                        </a:rPr>
                        <a:t>Explainability</a:t>
                      </a:r>
                    </a:p>
                  </a:txBody>
                  <a:tcPr marR="73152" marT="27432" marB="27432" anchor="ctr">
                    <a:solidFill>
                      <a:srgbClr val="F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5C4A50"/>
                          </a:solidFill>
                        </a:rPr>
                        <a:t>Black-box score</a:t>
                      </a:r>
                    </a:p>
                  </a:txBody>
                  <a:tcPr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57001D"/>
                          </a:solidFill>
                        </a:rPr>
                        <a:t>PFI reason per dimension</a:t>
                      </a:r>
                    </a:p>
                  </a:txBody>
                  <a:tcPr marR="73152" marT="27432" marB="27432" anchor="ctr">
                    <a:solidFill>
                      <a:srgbClr val="F3EA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B2026"/>
                          </a:solidFill>
                        </a:rPr>
                        <a:t>Fraud / integrity check</a:t>
                      </a:r>
                    </a:p>
                  </a:txBody>
                  <a:tcPr marR="73152" marT="27432" marB="27432" anchor="ctr">
                    <a:solidFill>
                      <a:srgbClr val="F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5C4A50"/>
                          </a:solidFill>
                        </a:rPr>
                        <a:t>None</a:t>
                      </a:r>
                    </a:p>
                  </a:txBody>
                  <a:tcPr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57001D"/>
                          </a:solidFill>
                        </a:rPr>
                        <a:t>3-way GST-ITR-bank anomaly</a:t>
                      </a:r>
                    </a:p>
                  </a:txBody>
                  <a:tcPr marR="73152" marT="27432" marB="27432" anchor="ctr">
                    <a:solidFill>
                      <a:srgbClr val="F3EA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4"/>
          <p:cNvSpPr txBox="1"/>
          <p:nvPr/>
        </p:nvSpPr>
        <p:spPr>
          <a:xfrm>
            <a:off x="265350" y="74457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/>
              <a:t>Additional Details/Future Development (if any)</a:t>
            </a:r>
            <a:endParaRPr b="1"/>
          </a:p>
        </p:txBody>
      </p:sp>
      <p:pic>
        <p:nvPicPr>
          <p:cNvPr id="131" name="Google Shape;131;p24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32" name="Google Shape;132;p24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fut_card"/>
          <p:cNvSpPr/>
          <p:nvPr/>
        </p:nvSpPr>
        <p:spPr>
          <a:xfrm>
            <a:off x="274320" y="1417320"/>
            <a:ext cx="4160520" cy="1645920"/>
          </a:xfrm>
          <a:prstGeom prst="roundRect">
            <a:avLst/>
          </a:prstGeom>
          <a:solidFill>
            <a:srgbClr val="FAF3F6"/>
          </a:solidFill>
          <a:ln w="9525">
            <a:solidFill>
              <a:srgbClr val="EA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09728" rIns="128016" bIns="91440" rtlCol="0" anchor="t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57001D"/>
                </a:solidFill>
              </a:rPr>
              <a:t>Deeper Data Integrations</a:t>
            </a:r>
          </a:p>
          <a:p>
            <a:pPr>
              <a:spcAft>
                <a:spcPts val="200"/>
              </a:spcAft>
            </a:pPr>
            <a:r>
              <a:rPr sz="1050" b="1">
                <a:solidFill>
                  <a:srgbClr val="974354"/>
                </a:solidFill>
              </a:rPr>
              <a:t>•  </a:t>
            </a:r>
            <a:r>
              <a:rPr sz="1050">
                <a:solidFill>
                  <a:srgbClr val="2B2026"/>
                </a:solidFill>
              </a:rPr>
              <a:t>MCA21 API - company / director &amp; charge-registry checks</a:t>
            </a:r>
          </a:p>
          <a:p>
            <a:pPr>
              <a:spcAft>
                <a:spcPts val="200"/>
              </a:spcAft>
            </a:pPr>
            <a:r>
              <a:rPr sz="1050" b="1">
                <a:solidFill>
                  <a:srgbClr val="974354"/>
                </a:solidFill>
              </a:rPr>
              <a:t>•  </a:t>
            </a:r>
            <a:r>
              <a:rPr sz="1050">
                <a:solidFill>
                  <a:srgbClr val="2B2026"/>
                </a:solidFill>
              </a:rPr>
              <a:t>EPFO payroll + GST e-invoice / e-way bill signals</a:t>
            </a:r>
          </a:p>
          <a:p>
            <a:pPr>
              <a:spcAft>
                <a:spcPts val="200"/>
              </a:spcAft>
            </a:pPr>
            <a:r>
              <a:rPr sz="1050" b="1">
                <a:solidFill>
                  <a:srgbClr val="974354"/>
                </a:solidFill>
              </a:rPr>
              <a:t>•  </a:t>
            </a:r>
            <a:r>
              <a:rPr sz="1050">
                <a:solidFill>
                  <a:srgbClr val="2B2026"/>
                </a:solidFill>
              </a:rPr>
              <a:t>CERSAI - existing collateral / security-interest lookup</a:t>
            </a:r>
          </a:p>
        </p:txBody>
      </p:sp>
      <p:sp>
        <p:nvSpPr>
          <p:cNvPr id="134" name="fut_card"/>
          <p:cNvSpPr/>
          <p:nvPr/>
        </p:nvSpPr>
        <p:spPr>
          <a:xfrm>
            <a:off x="4617720" y="1417320"/>
            <a:ext cx="4160520" cy="1645920"/>
          </a:xfrm>
          <a:prstGeom prst="roundRect">
            <a:avLst/>
          </a:prstGeom>
          <a:solidFill>
            <a:srgbClr val="FAF3F6"/>
          </a:solidFill>
          <a:ln w="9525">
            <a:solidFill>
              <a:srgbClr val="EA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09728" rIns="128016" bIns="91440" rtlCol="0" anchor="t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57001D"/>
                </a:solidFill>
              </a:rPr>
              <a:t>AML, Fraud &amp; Compliance</a:t>
            </a:r>
          </a:p>
          <a:p>
            <a:pPr>
              <a:spcAft>
                <a:spcPts val="200"/>
              </a:spcAft>
            </a:pPr>
            <a:r>
              <a:rPr sz="1050" b="1">
                <a:solidFill>
                  <a:srgbClr val="974354"/>
                </a:solidFill>
              </a:rPr>
              <a:t>•  </a:t>
            </a:r>
            <a:r>
              <a:rPr sz="1050">
                <a:solidFill>
                  <a:srgbClr val="2B2026"/>
                </a:solidFill>
              </a:rPr>
              <a:t>Sanctions / PEP / adverse-media name screening</a:t>
            </a:r>
          </a:p>
          <a:p>
            <a:pPr>
              <a:spcAft>
                <a:spcPts val="200"/>
              </a:spcAft>
            </a:pPr>
            <a:r>
              <a:rPr sz="1050" b="1">
                <a:solidFill>
                  <a:srgbClr val="974354"/>
                </a:solidFill>
              </a:rPr>
              <a:t>•  </a:t>
            </a:r>
            <a:r>
              <a:rPr sz="1050">
                <a:solidFill>
                  <a:srgbClr val="2B2026"/>
                </a:solidFill>
              </a:rPr>
              <a:t>RBI Central Fraud Registry &amp; wilful-defaulter match</a:t>
            </a:r>
          </a:p>
          <a:p>
            <a:pPr>
              <a:spcAft>
                <a:spcPts val="200"/>
              </a:spcAft>
            </a:pPr>
            <a:r>
              <a:rPr sz="1050" b="1">
                <a:solidFill>
                  <a:srgbClr val="974354"/>
                </a:solidFill>
              </a:rPr>
              <a:t>•  </a:t>
            </a:r>
            <a:r>
              <a:rPr sz="1050">
                <a:solidFill>
                  <a:srgbClr val="2B2026"/>
                </a:solidFill>
              </a:rPr>
              <a:t>FIU-IND suspicious-transaction flags on AA data</a:t>
            </a:r>
          </a:p>
        </p:txBody>
      </p:sp>
      <p:sp>
        <p:nvSpPr>
          <p:cNvPr id="135" name="fut_card"/>
          <p:cNvSpPr/>
          <p:nvPr/>
        </p:nvSpPr>
        <p:spPr>
          <a:xfrm>
            <a:off x="274320" y="3227832"/>
            <a:ext cx="4160520" cy="1645920"/>
          </a:xfrm>
          <a:prstGeom prst="roundRect">
            <a:avLst/>
          </a:prstGeom>
          <a:solidFill>
            <a:srgbClr val="FAF3F6"/>
          </a:solidFill>
          <a:ln w="9525">
            <a:solidFill>
              <a:srgbClr val="EA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09728" rIns="128016" bIns="91440" rtlCol="0" anchor="t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57001D"/>
                </a:solidFill>
              </a:rPr>
              <a:t>Lending Ecosystem</a:t>
            </a:r>
          </a:p>
          <a:p>
            <a:pPr>
              <a:spcAft>
                <a:spcPts val="200"/>
              </a:spcAft>
            </a:pPr>
            <a:r>
              <a:rPr sz="1050" b="1">
                <a:solidFill>
                  <a:srgbClr val="974354"/>
                </a:solidFill>
              </a:rPr>
              <a:t>•  </a:t>
            </a:r>
            <a:r>
              <a:rPr sz="1050">
                <a:solidFill>
                  <a:srgbClr val="2B2026"/>
                </a:solidFill>
              </a:rPr>
              <a:t>Full ULI DSP + OCEN 2.0 certification &amp; go-live</a:t>
            </a:r>
          </a:p>
          <a:p>
            <a:pPr>
              <a:spcAft>
                <a:spcPts val="200"/>
              </a:spcAft>
            </a:pPr>
            <a:r>
              <a:rPr sz="1050" b="1">
                <a:solidFill>
                  <a:srgbClr val="974354"/>
                </a:solidFill>
              </a:rPr>
              <a:t>•  </a:t>
            </a:r>
            <a:r>
              <a:rPr sz="1050">
                <a:solidFill>
                  <a:srgbClr val="2B2026"/>
                </a:solidFill>
              </a:rPr>
              <a:t>CIBIL / CRIF commercial-bureau enrichment (NTB)</a:t>
            </a:r>
          </a:p>
          <a:p>
            <a:pPr>
              <a:spcAft>
                <a:spcPts val="200"/>
              </a:spcAft>
            </a:pPr>
            <a:r>
              <a:rPr sz="1050" b="1">
                <a:solidFill>
                  <a:srgbClr val="974354"/>
                </a:solidFill>
              </a:rPr>
              <a:t>•  </a:t>
            </a:r>
            <a:r>
              <a:rPr sz="1050">
                <a:solidFill>
                  <a:srgbClr val="2B2026"/>
                </a:solidFill>
              </a:rPr>
              <a:t>GST-invoice financing &amp; co-lending workflows</a:t>
            </a:r>
          </a:p>
        </p:txBody>
      </p:sp>
      <p:sp>
        <p:nvSpPr>
          <p:cNvPr id="136" name="fut_card"/>
          <p:cNvSpPr/>
          <p:nvPr/>
        </p:nvSpPr>
        <p:spPr>
          <a:xfrm>
            <a:off x="4617720" y="3227832"/>
            <a:ext cx="4160520" cy="1645920"/>
          </a:xfrm>
          <a:prstGeom prst="roundRect">
            <a:avLst/>
          </a:prstGeom>
          <a:solidFill>
            <a:srgbClr val="FAF3F6"/>
          </a:solidFill>
          <a:ln w="9525">
            <a:solidFill>
              <a:srgbClr val="EA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09728" rIns="128016" bIns="91440" rtlCol="0" anchor="t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57001D"/>
                </a:solidFill>
              </a:rPr>
              <a:t>Product &amp; Intelligence</a:t>
            </a:r>
          </a:p>
          <a:p>
            <a:pPr>
              <a:spcAft>
                <a:spcPts val="200"/>
              </a:spcAft>
            </a:pPr>
            <a:r>
              <a:rPr sz="1050" b="1">
                <a:solidFill>
                  <a:srgbClr val="974354"/>
                </a:solidFill>
              </a:rPr>
              <a:t>•  </a:t>
            </a:r>
            <a:r>
              <a:rPr sz="1050">
                <a:solidFill>
                  <a:srgbClr val="2B2026"/>
                </a:solidFill>
              </a:rPr>
              <a:t>Score trend history + PDF Health Card export</a:t>
            </a:r>
          </a:p>
          <a:p>
            <a:pPr>
              <a:spcAft>
                <a:spcPts val="200"/>
              </a:spcAft>
            </a:pPr>
            <a:r>
              <a:rPr sz="1050" b="1">
                <a:solidFill>
                  <a:srgbClr val="974354"/>
                </a:solidFill>
              </a:rPr>
              <a:t>•  </a:t>
            </a:r>
            <a:r>
              <a:rPr sz="1050">
                <a:solidFill>
                  <a:srgbClr val="2B2026"/>
                </a:solidFill>
              </a:rPr>
              <a:t>Portfolio early-warning analytics for IDBI teams</a:t>
            </a:r>
          </a:p>
          <a:p>
            <a:pPr>
              <a:spcAft>
                <a:spcPts val="200"/>
              </a:spcAft>
            </a:pPr>
            <a:r>
              <a:rPr sz="1050" b="1">
                <a:solidFill>
                  <a:srgbClr val="974354"/>
                </a:solidFill>
              </a:rPr>
              <a:t>•  </a:t>
            </a:r>
            <a:r>
              <a:rPr sz="1050">
                <a:solidFill>
                  <a:srgbClr val="2B2026"/>
                </a:solidFill>
              </a:rPr>
              <a:t>Vernacular AI assistant + continuous MLOps retraining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5"/>
          <p:cNvSpPr txBox="1"/>
          <p:nvPr/>
        </p:nvSpPr>
        <p:spPr>
          <a:xfrm>
            <a:off x="201000" y="744575"/>
            <a:ext cx="8943000" cy="31862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/>
              <a:t>Provide links to your:</a:t>
            </a:r>
            <a:endParaRPr b="1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b="1" dirty="0"/>
          </a:p>
          <a:p>
            <a:pPr marL="457200" lvl="0" indent="-317500">
              <a:buSzPts val="1400"/>
              <a:buChar char="●"/>
            </a:pPr>
            <a:r>
              <a:rPr lang="en-GB" dirty="0"/>
              <a:t>GitHub Public Repository : </a:t>
            </a:r>
            <a:r>
              <a:rPr lang="en-GB" dirty="0">
                <a:hlinkClick r:id="rId3"/>
              </a:rPr>
              <a:t>https://github.com/abhinavmukwane/FinRiskLensAI</a:t>
            </a:r>
            <a:endParaRPr dirty="0"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endParaRPr lang="en-GB" dirty="0"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-GB" dirty="0"/>
              <a:t>Demo Video Link (3 Minutes): </a:t>
            </a:r>
            <a:endParaRPr dirty="0"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endParaRPr lang="en-GB" dirty="0"/>
          </a:p>
          <a:p>
            <a:pPr marL="457200" lvl="0" indent="-317500">
              <a:buSzPts val="1400"/>
              <a:buChar char="●"/>
            </a:pPr>
            <a:r>
              <a:rPr lang="en-GB" dirty="0"/>
              <a:t>Final Product Link: </a:t>
            </a:r>
            <a:r>
              <a:rPr lang="en-GB" dirty="0">
                <a:hlinkClick r:id="rId4"/>
              </a:rPr>
              <a:t>https://finrisklensai.com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b="1" dirty="0"/>
          </a:p>
        </p:txBody>
      </p:sp>
      <p:pic>
        <p:nvPicPr>
          <p:cNvPr id="138" name="Google Shape;138;p25" title="IDBI banner deck 2.png"/>
          <p:cNvPicPr preferRelativeResize="0"/>
          <p:nvPr/>
        </p:nvPicPr>
        <p:blipFill rotWithShape="1">
          <a:blip r:embed="rId5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39" name="Google Shape;139;p25" title="IDBI banner deck 2.png"/>
          <p:cNvPicPr preferRelativeResize="0"/>
          <p:nvPr/>
        </p:nvPicPr>
        <p:blipFill rotWithShape="1">
          <a:blip r:embed="rId5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4" name="Google Shape;144;p26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26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27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" name="Google Shape;151;p27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52" name="Google Shape;152;p27" title="IDBI banner deck 3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101</TotalTime>
  <Words>1447</Words>
  <Application>Microsoft Office PowerPoint</Application>
  <PresentationFormat>On-screen Show (16:9)</PresentationFormat>
  <Paragraphs>167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8" baseType="lpstr">
      <vt:lpstr>Arial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Abhinav</cp:lastModifiedBy>
  <cp:revision>31</cp:revision>
  <dcterms:modified xsi:type="dcterms:W3CDTF">2026-07-07T16:36:37Z</dcterms:modified>
</cp:coreProperties>
</file>