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50481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ed00c62399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ed00c62399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ed00c62399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ed00c62399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 err="1" smtClean="0"/>
              <a:t>Sourabh</a:t>
            </a:r>
            <a:r>
              <a:rPr lang="en-US" sz="1500" dirty="0" smtClean="0"/>
              <a:t> </a:t>
            </a:r>
            <a:r>
              <a:rPr lang="en-US" sz="1500" dirty="0" err="1" smtClean="0"/>
              <a:t>Thakre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 smtClean="0"/>
              <a:t>Financial </a:t>
            </a:r>
            <a:r>
              <a:rPr lang="en-US" sz="1500" dirty="0"/>
              <a:t>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65350" y="744575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1286216"/>
            <a:ext cx="855282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</a:t>
            </a:r>
            <a:r>
              <a:rPr lang="en-GB" sz="1200" dirty="0" smtClean="0"/>
              <a:t>and New-to-Bank </a:t>
            </a:r>
            <a:r>
              <a:rPr lang="en-GB" sz="1200" dirty="0"/>
              <a:t>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 smtClean="0"/>
              <a:t>FinSight360 </a:t>
            </a:r>
            <a:r>
              <a:rPr lang="en-GB" sz="1200" b="1" dirty="0"/>
              <a:t>MSME </a:t>
            </a:r>
            <a:r>
              <a:rPr lang="en-GB" sz="1200" b="1" dirty="0" smtClean="0"/>
              <a:t>: </a:t>
            </a:r>
            <a:r>
              <a:rPr lang="en-GB" sz="1200" b="1" dirty="0"/>
              <a:t>AI-Powered MSME Financial Health Score Platform</a:t>
            </a:r>
          </a:p>
          <a:p>
            <a:pPr lvl="0"/>
            <a:endParaRPr lang="en-GB" sz="1200" dirty="0"/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Aggregates 4 alternate data streams: GST returns, AA bank statements, UPI transaction patterns, EPFO payroll records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XGBoost + LSTM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Near real-time scoring: end-to-end score in under 5 seconds from consent trigger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SHAP-based </a:t>
            </a:r>
            <a:r>
              <a:rPr lang="en-GB" sz="1200" dirty="0" smtClean="0"/>
              <a:t>explain ability: </a:t>
            </a:r>
            <a:r>
              <a:rPr lang="en-GB" sz="1200" dirty="0"/>
              <a:t>every score has a dimension-level reason — RBI audit-ready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Recommends CGTMSE/MUDRA-backed products for mid-range scorers to maximise viable approvals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Enables IDBI Bank to </a:t>
            </a:r>
            <a:r>
              <a:rPr lang="en-GB" sz="1200" dirty="0" smtClean="0"/>
              <a:t>on-board </a:t>
            </a:r>
            <a:r>
              <a:rPr lang="en-GB" sz="1200" dirty="0"/>
              <a:t>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57385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smtClean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</a:t>
            </a:r>
            <a:r>
              <a:rPr lang="en-US" sz="1200" dirty="0" smtClean="0"/>
              <a:t>FinSight360 </a:t>
            </a:r>
            <a:r>
              <a:rPr lang="en-US" sz="1200" dirty="0"/>
              <a:t>MSME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sub-5-second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SHAP </a:t>
            </a:r>
            <a:r>
              <a:rPr lang="en-US" sz="1200" dirty="0" smtClean="0"/>
              <a:t>explain ability </a:t>
            </a:r>
            <a:r>
              <a:rPr lang="en-US" sz="1200" dirty="0"/>
              <a:t>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</a:t>
            </a:r>
            <a:r>
              <a:rPr lang="en-US" sz="1200" dirty="0" smtClean="0"/>
              <a:t>penalization </a:t>
            </a:r>
            <a:r>
              <a:rPr lang="en-US" sz="1200" dirty="0"/>
              <a:t>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</a:t>
            </a:r>
            <a:r>
              <a:rPr lang="en-US" sz="1200" dirty="0" smtClean="0"/>
              <a:t>maximizing </a:t>
            </a:r>
            <a:r>
              <a:rPr lang="en-US" sz="1200" dirty="0"/>
              <a:t>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</a:t>
            </a:r>
            <a:r>
              <a:rPr lang="en-US" sz="1200" dirty="0" err="1"/>
              <a:t>fintech</a:t>
            </a:r>
            <a:r>
              <a:rPr lang="en-US" sz="1200" dirty="0"/>
              <a:t> </a:t>
            </a:r>
            <a:r>
              <a:rPr lang="en-US" sz="1200" dirty="0" smtClean="0"/>
              <a:t>rails</a:t>
            </a:r>
            <a:endParaRPr lang="en-US" sz="1200" dirty="0"/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1039648"/>
            <a:ext cx="862640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GST API (GSTR-1, GSTR-3B, ITC), AA FIP-AA-FIU bank statements, UPI patterns, EPFO records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XGBoost for tabular scoring + LSTM for 12-month trend analysis + Isolation Forest for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SHAP </a:t>
            </a:r>
            <a:r>
              <a:rPr lang="en-GB" sz="1200" dirty="0" smtClean="0"/>
              <a:t>(Shapley </a:t>
            </a:r>
            <a:r>
              <a:rPr lang="en-GB" sz="1200" dirty="0"/>
              <a:t>Additive Explanations): per-dimension reasons for every score — RBI-audit-ready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</a:t>
            </a:r>
            <a:r>
              <a:rPr lang="en-GB" sz="1200" dirty="0" smtClean="0"/>
              <a:t>artefact </a:t>
            </a:r>
            <a:r>
              <a:rPr lang="en-GB" sz="1200" dirty="0"/>
              <a:t>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Event-driven refresh: new GST filing or AA consent triggers score </a:t>
            </a:r>
            <a:r>
              <a:rPr lang="en-GB" sz="1200" dirty="0" smtClean="0"/>
              <a:t>recomputed </a:t>
            </a:r>
            <a:r>
              <a:rPr lang="en-GB" sz="1200" dirty="0"/>
              <a:t>via Azure Service </a:t>
            </a:r>
            <a:r>
              <a:rPr lang="en-GB" sz="1200" dirty="0" smtClean="0"/>
              <a:t>Bus</a:t>
            </a:r>
            <a:endParaRPr lang="en-GB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7315" y="704613"/>
            <a:ext cx="4728906" cy="4311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63151"/>
            <a:ext cx="8522586" cy="414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653" y="974080"/>
            <a:ext cx="3548637" cy="40704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2198" y="2293124"/>
            <a:ext cx="4145894" cy="158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8445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Wireframes/Mock diagrams of the proposed solution (optional)</a:t>
            </a:r>
            <a:endParaRPr b="1" dirty="0"/>
          </a:p>
        </p:txBody>
      </p:sp>
      <p:pic>
        <p:nvPicPr>
          <p:cNvPr id="89" name="Google Shape;89;p18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8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486" y="608442"/>
            <a:ext cx="3670114" cy="45350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 smtClean="0"/>
              <a:t>Backend </a:t>
            </a:r>
            <a:r>
              <a:rPr lang="en-US" sz="1200" b="1" dirty="0"/>
              <a:t>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(C#): main orchestration API, AA/GST/EPFO connectors, ULI DSP API, IDBI LOS </a:t>
            </a:r>
            <a:r>
              <a:rPr lang="en-US" sz="1200" dirty="0" err="1"/>
              <a:t>webhook</a:t>
            </a:r>
            <a:endParaRPr lang="en-US" sz="1200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Python 3.11 + </a:t>
            </a:r>
            <a:r>
              <a:rPr lang="en-US" sz="1200" dirty="0" err="1"/>
              <a:t>FastAPI</a:t>
            </a:r>
            <a:r>
              <a:rPr lang="en-US" sz="1200" dirty="0"/>
              <a:t>: ML model serving, feature engineering pipeline, SHAP </a:t>
            </a:r>
            <a:r>
              <a:rPr lang="en-US" sz="1200" dirty="0" err="1"/>
              <a:t>explainability</a:t>
            </a:r>
            <a:r>
              <a:rPr lang="en-US" sz="1200" dirty="0"/>
              <a:t> module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Service Bus: event-driven score refresh triggers | </a:t>
            </a:r>
            <a:r>
              <a:rPr lang="en-US" sz="1200" dirty="0" err="1"/>
              <a:t>Redis</a:t>
            </a:r>
            <a:r>
              <a:rPr lang="en-US" sz="1200" dirty="0"/>
              <a:t> Cache: score caching with TTL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XGBoost</a:t>
            </a:r>
            <a:r>
              <a:rPr lang="en-US" sz="1200" dirty="0"/>
              <a:t>: primary tabular scorer across 6 dimensions (</a:t>
            </a:r>
            <a:r>
              <a:rPr lang="en-US" sz="1200" dirty="0" err="1"/>
              <a:t>scikit</a:t>
            </a:r>
            <a:r>
              <a:rPr lang="en-US" sz="1200" dirty="0"/>
              <a:t>-learn wrapper)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PyTorch</a:t>
            </a:r>
            <a:r>
              <a:rPr lang="en-US" sz="1200" dirty="0"/>
              <a:t> LSTM: 12-month revenue and cash flow trend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SHAP (</a:t>
            </a:r>
            <a:r>
              <a:rPr lang="en-US" sz="1200" dirty="0" err="1"/>
              <a:t>SHapley</a:t>
            </a:r>
            <a:r>
              <a:rPr lang="en-US" sz="1200" dirty="0"/>
              <a:t> Additive Explanations): </a:t>
            </a:r>
            <a:r>
              <a:rPr lang="en-US" sz="1200" dirty="0" err="1"/>
              <a:t>explainability</a:t>
            </a:r>
            <a:r>
              <a:rPr lang="en-US" sz="1200" dirty="0"/>
              <a:t> layer for RBI-compliant audit trail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 err="1"/>
              <a:t>scikit</a:t>
            </a:r>
            <a:r>
              <a:rPr lang="en-US" sz="1200" dirty="0"/>
              <a:t>-learn Isolation Forest: anomaly and fraud signal detection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SQL Server: score store, MSME profiles, immutable audit trail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raw data staging, PDF Health Card exports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Container Apps: </a:t>
            </a:r>
            <a:r>
              <a:rPr lang="en-US" sz="1200" dirty="0" err="1"/>
              <a:t>microservices</a:t>
            </a:r>
            <a:r>
              <a:rPr lang="en-US" sz="1200" dirty="0"/>
              <a:t> deployment (3 containers: API, ML, Frontend)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Management: ULI/OCEN gateway with </a:t>
            </a:r>
            <a:r>
              <a:rPr lang="en-US" sz="1200" dirty="0" err="1"/>
              <a:t>mTLS</a:t>
            </a:r>
            <a:r>
              <a:rPr lang="en-US" sz="1200" dirty="0"/>
              <a:t> + OAuth2 security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Docker: </a:t>
            </a:r>
            <a:r>
              <a:rPr lang="en-US" sz="1200" dirty="0" err="1"/>
              <a:t>containerisation</a:t>
            </a:r>
            <a:r>
              <a:rPr lang="en-US" sz="1200" dirty="0"/>
              <a:t> | GitHub Actions: CI/CD pipeline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Razor Pages (MVC): server-rendered Financial Health Card UI — .</a:t>
            </a:r>
            <a:r>
              <a:rPr lang="en-US" sz="1200" dirty="0" err="1"/>
              <a:t>cshtml</a:t>
            </a:r>
            <a:r>
              <a:rPr lang="en-US" sz="1200" dirty="0"/>
              <a:t> views with Tag Helpers, minimal JS </a:t>
            </a:r>
            <a:r>
              <a:rPr lang="en-US" sz="1200" dirty="0" smtClean="0"/>
              <a:t>dependency.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FIP-AA-FIU framework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(Open Credit Enablement Network) | GST System API | EPFO REST API | </a:t>
            </a:r>
            <a:r>
              <a:rPr lang="en-US" sz="1200" dirty="0" err="1"/>
              <a:t>Udyam</a:t>
            </a:r>
            <a:r>
              <a:rPr lang="en-US" sz="1200" dirty="0"/>
              <a:t> </a:t>
            </a:r>
            <a:r>
              <a:rPr lang="en-US" sz="1200" dirty="0" smtClean="0"/>
              <a:t>Registry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Prototype Performance report/Benchmarking</a:t>
            </a:r>
            <a:endParaRPr b="1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</a:t>
            </a:r>
            <a:r>
              <a:rPr lang="en-GB" dirty="0" smtClean="0"/>
              <a:t>Repository </a:t>
            </a:r>
            <a:r>
              <a:rPr lang="en-GB" dirty="0"/>
              <a:t>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 smtClean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 smtClean="0"/>
              <a:t>Demo </a:t>
            </a:r>
            <a:r>
              <a:rPr lang="en-GB" dirty="0"/>
              <a:t>Video Link (3 Minutes</a:t>
            </a:r>
            <a:r>
              <a:rPr lang="en-GB" dirty="0" smtClean="0"/>
              <a:t>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 smtClean="0"/>
          </a:p>
          <a:p>
            <a:pPr marL="457200" lvl="0" indent="-317500">
              <a:buSzPts val="1400"/>
              <a:buChar char="●"/>
            </a:pPr>
            <a:r>
              <a:rPr lang="en-GB" dirty="0" smtClean="0"/>
              <a:t>Final </a:t>
            </a:r>
            <a:r>
              <a:rPr lang="en-GB" dirty="0"/>
              <a:t>Product </a:t>
            </a:r>
            <a:r>
              <a:rPr lang="en-GB" dirty="0" smtClean="0"/>
              <a:t>Link</a:t>
            </a:r>
            <a:r>
              <a:rPr lang="en-GB" dirty="0"/>
              <a:t>: </a:t>
            </a:r>
            <a:r>
              <a:rPr lang="en-GB" dirty="0">
                <a:hlinkClick r:id="rId4"/>
              </a:rPr>
              <a:t>https://finrisklensai.com/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1002</Words>
  <Application>Microsoft Office PowerPoint</Application>
  <PresentationFormat>On-screen Show (16:9)</PresentationFormat>
  <Paragraphs>99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Abhinav Mukwane</cp:lastModifiedBy>
  <cp:revision>21</cp:revision>
  <dcterms:modified xsi:type="dcterms:W3CDTF">2026-07-04T07:00:15Z</dcterms:modified>
</cp:coreProperties>
</file>