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72" r:id="rId9"/>
    <p:sldId id="264" r:id="rId10"/>
    <p:sldId id="265" r:id="rId11"/>
    <p:sldId id="273" r:id="rId12"/>
    <p:sldId id="274" r:id="rId13"/>
    <p:sldId id="275" r:id="rId14"/>
    <p:sldId id="276" r:id="rId15"/>
    <p:sldId id="277" r:id="rId16"/>
    <p:sldId id="266" r:id="rId17"/>
    <p:sldId id="267" r:id="rId18"/>
    <p:sldId id="268" r:id="rId19"/>
    <p:sldId id="270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021"/>
    <a:srgbClr val="00836C"/>
    <a:srgbClr val="02684F"/>
    <a:srgbClr val="FF4800"/>
    <a:srgbClr val="4FA9A7"/>
    <a:srgbClr val="037F61"/>
    <a:srgbClr val="03A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inrisklensai.com/" TargetMode="External"/><Relationship Id="rId5" Type="http://schemas.openxmlformats.org/officeDocument/2006/relationships/hyperlink" Target="https://drive.google.com/file/d/1XT7sGQz7xUhoUDwbNTN6Qij5t8e_v5ea/view?usp=sharing" TargetMode="External"/><Relationship Id="rId4" Type="http://schemas.openxmlformats.org/officeDocument/2006/relationships/hyperlink" Target="https://video.finrisklensai.com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Aggregates alternate data streams: GST returns, Account Aggregator &amp; UPI statements, ITR filings, Udyam registry (EPFO slot ready)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officers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Recommends CGTMSE/MUDRA-backed products for mid-range scorers to maximise viable approvals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06659"/>
            <a:ext cx="862640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(GSTR-1/2A/2B/3B,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9500"/>
            <a:ext cx="4728906" cy="43116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378" y="593476"/>
            <a:ext cx="3637593" cy="33253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377" y="3752656"/>
            <a:ext cx="3637593" cy="13908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3943" y="552166"/>
            <a:ext cx="3715657" cy="45913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web app - Web + ML.NET in one deployable (modern monolith Architecture)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Azure App Service / AWS : hosting</a:t>
            </a:r>
          </a:p>
          <a:p>
            <a:pPr lvl="0"/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marL="139700" lvl="0">
              <a:buSzPts val="1400"/>
            </a:pPr>
            <a:endParaRPr lang="en-US" sz="1200" dirty="0"/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697221" cy="40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31 L / </a:t>
            </a:r>
            <a:r>
              <a:rPr sz="2600" b="1" dirty="0" err="1">
                <a:solidFill>
                  <a:srgbClr val="FFFFFF"/>
                </a:solidFill>
              </a:rPr>
              <a:t>yr</a:t>
            </a:r>
            <a:endParaRPr sz="2600" b="1" dirty="0">
              <a:solidFill>
                <a:srgbClr val="FFFFFF"/>
              </a:solidFill>
            </a:endParaRPr>
          </a:p>
          <a:p>
            <a:pPr algn="ctr"/>
            <a:r>
              <a:rPr sz="950" dirty="0">
                <a:solidFill>
                  <a:schemeClr val="bg1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639149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37021"/>
                </a:solidFill>
              </a:rPr>
              <a:t>Cost breakdown  -  centralized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219178"/>
              </p:ext>
            </p:extLst>
          </p:nvPr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1814" y="1006289"/>
            <a:ext cx="1891170" cy="393205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448399" y="1006289"/>
            <a:ext cx="2780249" cy="18100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48399" y="3126925"/>
            <a:ext cx="2775807" cy="181005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399337" y="1006289"/>
            <a:ext cx="3614431" cy="39306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419" y="1108068"/>
            <a:ext cx="2734036" cy="18056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064551" y="1147298"/>
            <a:ext cx="3070996" cy="16381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295112" y="1012489"/>
            <a:ext cx="2638431" cy="20763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8594" y="3327405"/>
            <a:ext cx="2935957" cy="1409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101936" y="3327405"/>
            <a:ext cx="2969443" cy="14259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108765" y="3327406"/>
            <a:ext cx="2969444" cy="142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92" y="994528"/>
            <a:ext cx="2603879" cy="16317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/>
          <a:srcRect l="28316" r="26667"/>
          <a:stretch/>
        </p:blipFill>
        <p:spPr>
          <a:xfrm>
            <a:off x="2764716" y="1039270"/>
            <a:ext cx="1480457" cy="157922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6"/>
          <a:srcRect r="1270"/>
          <a:stretch/>
        </p:blipFill>
        <p:spPr>
          <a:xfrm>
            <a:off x="4301818" y="1039270"/>
            <a:ext cx="4762841" cy="267909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83133" y="2725555"/>
            <a:ext cx="3927647" cy="2209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03716" y="906753"/>
            <a:ext cx="3588850" cy="20187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67852" y="709980"/>
            <a:ext cx="3998967" cy="224941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3716" y="2973913"/>
            <a:ext cx="3588850" cy="201872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72909" y="3011334"/>
            <a:ext cx="3588851" cy="201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8594" y="919402"/>
            <a:ext cx="3588849" cy="201872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8594" y="2987594"/>
            <a:ext cx="3588849" cy="20187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36E08E-A7A9-64E4-4395-2CF209A468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2348" y="903697"/>
            <a:ext cx="4428100" cy="400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07391" y="1123900"/>
            <a:ext cx="3949809" cy="339025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76896" y="2850181"/>
            <a:ext cx="3719617" cy="199154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64591" y="742524"/>
            <a:ext cx="4078666" cy="195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Live score on real 6</a:t>
            </a:r>
            <a:r>
              <a:rPr lang="en-US" sz="900" dirty="0">
                <a:solidFill>
                  <a:schemeClr val="bg1"/>
                </a:solidFill>
              </a:rPr>
              <a:t> to 12</a:t>
            </a:r>
            <a:r>
              <a:rPr sz="900" dirty="0">
                <a:solidFill>
                  <a:schemeClr val="bg1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DPI data sources fused: Udyam - GST - ITR </a:t>
            </a:r>
            <a:r>
              <a:rPr lang="en-IN" sz="900" dirty="0">
                <a:solidFill>
                  <a:schemeClr val="bg1"/>
                </a:solidFill>
              </a:rPr>
              <a:t>–</a:t>
            </a:r>
            <a:r>
              <a:rPr sz="900" dirty="0">
                <a:solidFill>
                  <a:schemeClr val="bg1"/>
                </a:solidFill>
              </a:rPr>
              <a:t> AA</a:t>
            </a:r>
            <a:r>
              <a:rPr lang="en-US" sz="900" dirty="0">
                <a:solidFill>
                  <a:schemeClr val="bg1"/>
                </a:solidFill>
              </a:rPr>
              <a:t> (+1 - EPFO)</a:t>
            </a:r>
            <a:endParaRPr sz="900" dirty="0">
              <a:solidFill>
                <a:schemeClr val="bg1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37337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FF4800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191110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FinRiskLensAI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MCA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RBI Central Fraud Registry &amp; willful-defaulter match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FIU-IND suspicious-transaction flags on AA data</a:t>
            </a:r>
            <a:endParaRPr lang="en-US" sz="1050" dirty="0">
              <a:solidFill>
                <a:srgbClr val="2B2026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974354"/>
                </a:solidFill>
              </a:rPr>
              <a:t>•  </a:t>
            </a:r>
            <a:r>
              <a:rPr lang="en-US" sz="1050" dirty="0">
                <a:solidFill>
                  <a:srgbClr val="2B2026"/>
                </a:solidFill>
              </a:rPr>
              <a:t>AI-Powered Financial Insights Assistant with more features</a:t>
            </a:r>
          </a:p>
          <a:p>
            <a:pPr>
              <a:spcAft>
                <a:spcPts val="200"/>
              </a:spcAft>
            </a:pPr>
            <a:endParaRPr sz="1050" dirty="0">
              <a:solidFill>
                <a:srgbClr val="2B2026"/>
              </a:solidFill>
            </a:endParaRP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Vernacular AI assistant + continuous </a:t>
            </a:r>
            <a:r>
              <a:rPr sz="1050" dirty="0" err="1">
                <a:solidFill>
                  <a:srgbClr val="2B2026"/>
                </a:solidFill>
              </a:rPr>
              <a:t>MLOps</a:t>
            </a:r>
            <a:r>
              <a:rPr sz="1050" dirty="0">
                <a:solidFill>
                  <a:srgbClr val="2B2026"/>
                </a:solidFill>
              </a:rPr>
              <a:t> retraining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1730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r>
              <a:rPr lang="en-GB" dirty="0">
                <a:hlinkClick r:id="rId4"/>
              </a:rPr>
              <a:t>https://video.finrisklensai.com</a:t>
            </a:r>
            <a:r>
              <a:rPr lang="en-GB" dirty="0"/>
              <a:t> OR </a:t>
            </a:r>
            <a:r>
              <a:rPr lang="en-GB" dirty="0">
                <a:hlinkClick r:id="rId5"/>
              </a:rPr>
              <a:t>Google Drive Link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6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7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7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5FC94B-16A0-7AA0-B886-A4E00BA27A67}"/>
              </a:ext>
            </a:extLst>
          </p:cNvPr>
          <p:cNvSpPr txBox="1"/>
          <p:nvPr/>
        </p:nvSpPr>
        <p:spPr>
          <a:xfrm>
            <a:off x="544286" y="3084286"/>
            <a:ext cx="605245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Udyam Number for Demo Testing:</a:t>
            </a:r>
            <a:br>
              <a:rPr lang="en-US" dirty="0"/>
            </a:br>
            <a:endParaRPr lang="en-US" dirty="0"/>
          </a:p>
          <a:p>
            <a:r>
              <a:rPr lang="en-US" dirty="0"/>
              <a:t>UDYAM-MH-20-0067888</a:t>
            </a:r>
          </a:p>
          <a:p>
            <a:r>
              <a:rPr lang="en-US" dirty="0"/>
              <a:t>UDYAM-MH-20-0067111</a:t>
            </a:r>
            <a:br>
              <a:rPr lang="en-US" dirty="0"/>
            </a:br>
            <a:r>
              <a:rPr lang="en-US" dirty="0"/>
              <a:t>UDYAM-MH-20-0067394</a:t>
            </a:r>
            <a:br>
              <a:rPr lang="en-US" dirty="0"/>
            </a:br>
            <a:r>
              <a:rPr lang="en-IN" dirty="0"/>
              <a:t>UDYAM-GJ-01-0275433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1495</Words>
  <Application>Microsoft Office PowerPoint</Application>
  <PresentationFormat>On-screen Show (16:9)</PresentationFormat>
  <Paragraphs>175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1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Abhinav Mukwane</dc:creator>
  <cp:keywords>IDBI Innovate 2026</cp:keywords>
  <cp:lastModifiedBy>Abhinav</cp:lastModifiedBy>
  <cp:revision>81</cp:revision>
  <dcterms:modified xsi:type="dcterms:W3CDTF">2026-07-11T15:17:01Z</dcterms:modified>
</cp:coreProperties>
</file>