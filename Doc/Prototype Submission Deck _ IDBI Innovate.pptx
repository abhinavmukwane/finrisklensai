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71" r:id="rId7"/>
    <p:sldId id="262" r:id="rId8"/>
    <p:sldId id="263" r:id="rId9"/>
    <p:sldId id="272" r:id="rId10"/>
    <p:sldId id="264" r:id="rId11"/>
    <p:sldId id="265" r:id="rId12"/>
    <p:sldId id="273" r:id="rId13"/>
    <p:sldId id="274" r:id="rId14"/>
    <p:sldId id="275" r:id="rId15"/>
    <p:sldId id="276" r:id="rId16"/>
    <p:sldId id="277" r:id="rId17"/>
    <p:sldId id="266" r:id="rId18"/>
    <p:sldId id="267" r:id="rId19"/>
    <p:sldId id="268" r:id="rId20"/>
    <p:sldId id="269" r:id="rId21"/>
    <p:sldId id="270" r:id="rId2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Aggregates alternate data streams: GST returns, Account Aggregator </a:t>
            </a:r>
            <a:r>
              <a:rPr lang="en-GB" sz="1200" dirty="0" smtClean="0"/>
              <a:t>&amp; </a:t>
            </a:r>
            <a:r>
              <a:rPr lang="en-GB" sz="1200" dirty="0"/>
              <a:t>UPI statements, ITR filings, Udyam registry (EPFO slot ready)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</a:t>
            </a:r>
            <a:r>
              <a:rPr lang="en-GB" sz="1200" dirty="0" smtClean="0"/>
              <a:t>officers</a:t>
            </a:r>
            <a:endParaRPr lang="en-GB" sz="12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Recommends CGTMSE/MUDRA-backed products for mid-range scorers to maximise viable </a:t>
            </a:r>
            <a:r>
              <a:rPr lang="en-GB" sz="1200" dirty="0" smtClean="0"/>
              <a:t>approvals</a:t>
            </a:r>
            <a:endParaRPr lang="en-GB" sz="12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06659"/>
            <a:ext cx="862640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</a:t>
            </a:r>
            <a:r>
              <a:rPr lang="en-GB" sz="1200" dirty="0" smtClean="0"/>
              <a:t>GSTR-1/2A/2B/3B</a:t>
            </a:r>
            <a:r>
              <a:rPr lang="en-GB" sz="1200" dirty="0"/>
              <a:t>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ASP.NET Core 8 web app - Web + ML.NET in one deployable (monolith)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Azure App Service: hosting</a:t>
            </a:r>
          </a:p>
          <a:p>
            <a:pPr lvl="0"/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marL="139700" lvl="0">
              <a:buSzPts val="1400"/>
            </a:pPr>
            <a:endParaRPr lang="en-US" sz="1200" dirty="0"/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31 L / yr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7001D"/>
                </a:solidFill>
              </a:rPr>
              <a:t>Cost breakdown  -  centralised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/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814" y="994528"/>
            <a:ext cx="1719194" cy="405004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400" y="994528"/>
            <a:ext cx="2613232" cy="191879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399" y="3019551"/>
            <a:ext cx="2613233" cy="191879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338" y="1011715"/>
            <a:ext cx="3276829" cy="40156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19" y="994529"/>
            <a:ext cx="2724042" cy="202608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2168" y="1012489"/>
            <a:ext cx="2899231" cy="14177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1946" y="1012489"/>
            <a:ext cx="2700670" cy="14610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1" y="3314723"/>
            <a:ext cx="2935957" cy="14357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7061" y="3306535"/>
            <a:ext cx="2969443" cy="14521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147" y="3314723"/>
            <a:ext cx="2879062" cy="140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994528"/>
            <a:ext cx="2603879" cy="163171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9646" y="896208"/>
            <a:ext cx="2604977" cy="17300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999" y="898249"/>
            <a:ext cx="3182537" cy="141420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2928973"/>
            <a:ext cx="4128185" cy="18344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5629" y="2666022"/>
            <a:ext cx="3980537" cy="223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74" y="946543"/>
            <a:ext cx="3403372" cy="191346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010" y="849457"/>
            <a:ext cx="3504633" cy="197039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74" y="3005578"/>
            <a:ext cx="3403372" cy="19134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010" y="2918551"/>
            <a:ext cx="3504633" cy="197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392" y="903768"/>
            <a:ext cx="3460814" cy="194575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040" y="794002"/>
            <a:ext cx="3498453" cy="19669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391" y="2964204"/>
            <a:ext cx="3496272" cy="196569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8040" y="2849526"/>
            <a:ext cx="3746620" cy="210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285" y="1036331"/>
            <a:ext cx="3562860" cy="372632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040" y="2848797"/>
            <a:ext cx="3328944" cy="202514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039" y="794002"/>
            <a:ext cx="3852946" cy="1884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Live score on real 6</a:t>
            </a:r>
            <a:r>
              <a:rPr lang="en-US" sz="900" dirty="0">
                <a:solidFill>
                  <a:srgbClr val="F3D6DF"/>
                </a:solidFill>
              </a:rPr>
              <a:t> to 12</a:t>
            </a:r>
            <a:r>
              <a:rPr sz="900" dirty="0">
                <a:solidFill>
                  <a:srgbClr val="F3D6DF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DPI data sources fused: Udyam - GST - ITR </a:t>
            </a:r>
            <a:r>
              <a:rPr lang="en-IN" sz="900" dirty="0">
                <a:solidFill>
                  <a:srgbClr val="F3D6DF"/>
                </a:solidFill>
              </a:rPr>
              <a:t>–</a:t>
            </a:r>
            <a:r>
              <a:rPr sz="900">
                <a:solidFill>
                  <a:srgbClr val="F3D6DF"/>
                </a:solidFill>
              </a:rPr>
              <a:t> AA</a:t>
            </a:r>
            <a:r>
              <a:rPr lang="en-US" sz="900">
                <a:solidFill>
                  <a:srgbClr val="F3D6DF"/>
                </a:solidFill>
              </a:rPr>
              <a:t> (+1 - EPFO)</a:t>
            </a:r>
            <a:endParaRPr sz="900">
              <a:solidFill>
                <a:srgbClr val="F3D6DF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>
                <a:solidFill>
                  <a:srgbClr val="F3D6DF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7001D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14803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FinRiskLensAI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MCA21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RBI Central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FIU-IND suspicious-transaction flags on AA data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Vernacular AI assistant + continuous MLOps retraining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1398</Words>
  <Application>Microsoft Office PowerPoint</Application>
  <PresentationFormat>On-screen Show (16:9)</PresentationFormat>
  <Paragraphs>172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 Mukwane</cp:lastModifiedBy>
  <cp:revision>55</cp:revision>
  <dcterms:modified xsi:type="dcterms:W3CDTF">2026-07-08T10:04:25Z</dcterms:modified>
</cp:coreProperties>
</file>