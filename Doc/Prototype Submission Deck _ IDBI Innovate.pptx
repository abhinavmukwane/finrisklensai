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72" r:id="rId9"/>
    <p:sldId id="264" r:id="rId10"/>
    <p:sldId id="265" r:id="rId11"/>
    <p:sldId id="273" r:id="rId12"/>
    <p:sldId id="274" r:id="rId13"/>
    <p:sldId id="275" r:id="rId14"/>
    <p:sldId id="276" r:id="rId15"/>
    <p:sldId id="277" r:id="rId16"/>
    <p:sldId id="266" r:id="rId17"/>
    <p:sldId id="267" r:id="rId18"/>
    <p:sldId id="268" r:id="rId19"/>
    <p:sldId id="270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021"/>
    <a:srgbClr val="00836C"/>
    <a:srgbClr val="02684F"/>
    <a:srgbClr val="FF4800"/>
    <a:srgbClr val="4FA9A7"/>
    <a:srgbClr val="037F61"/>
    <a:srgbClr val="03A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hyperlink" Target="https://finrisklensai.com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64 million MSMEs contributing ~30% of GDP, yet 80%+ lack formal credit access. New-to-Credit (NTC) and New-to-Bank (NTB) enterprises are routinely rejected despite genuine creditworthiness — simply due to missing paperwork.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: AI-Powered MSME Financial Health Score Platform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Aggregates alternate data streams: GST returns, Account Aggregator &amp; UPI statements, ITR filings, Udyam registry (EPFO slot ready)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Computes a multi-dimensional Financial Health Score (0-1000) across 6 weighted pillars using ML.NET (LightGBM model + rules engine)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Generates a visual Financial Health Card with radar chart, trend graph, risk flags, and credit product recommendations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Integrates with ULI (DSP API), OCEN 2.0 (LSP interface), and AA FIU consent framework for near real-time assessment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Near real-time scoring: end-to-end score in under 10 seconds from consent trigger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PFI-based explainability: every score carries a dimension-level reason - audit-ready for credit officers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Recommends CGTMSE/MUDRA-backed products for mid-range scorers to maximise viable approvals</a:t>
            </a:r>
          </a:p>
          <a:p>
            <a:pPr marL="457200" lvl="0" indent="-317500">
              <a:lnSpc>
                <a:spcPct val="150000"/>
              </a:lnSpc>
              <a:buSzPts val="1400"/>
              <a:buChar char="●"/>
            </a:pPr>
            <a:r>
              <a:rPr lang="en-GB" sz="1200" dirty="0"/>
              <a:t>Enables IDBI Bank to on-board credit-invisible MSMEs while strengthening portfolio quality and sector diversification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lvl="0"/>
            <a:r>
              <a:rPr lang="en-US" sz="1200" b="1" dirty="0"/>
              <a:t>How different is it from any of the other existing ideas?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CIBIL/Experian bureau scores, FinRiskLensAI works for NTC/NTB borrowers with zero credit history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Unlike single-source tools, we unify 4 DPI data streams (GST + AA + UPI + ITR + EPFO) in one consent-based flow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First solution combining ULI DSP-compatible API + OCEN 2.0 LSP + AA FIU consent flow in a single platform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GST vs. bank-credit cross-validation as a proprietary fraud signal — no existing tool does this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How will it be able to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Eliminates the 'no document, no credit' rejection cycle by using MSMEs' existing digital footprints as credit proxies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Near real-time scoring replaces 2-3 week manual evaluation with a sub-10-second automated assessment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PFI explainability gives credit officers dimension-level reasons — no black-box decisions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NTC status prevents unfair penalization of first-time borrowers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6-dimensional score gives IDBI a far richer risk picture than any single metric (Revenue, Cash Flow, Transactions, Compliance, Stability, Debt)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entirely on India's DPI stack — zero proprietary data dependency, fully consent-based and DPDP Act 2023 compliant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Credit product recommender maps score band to CGTMSE/MUDRA schemes — maximizing both approval rate and safety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ULI DSP-compatible API means any OCEN-compliant lender can plug in — IDBI's infrastructure becomes reusable fintech rails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9347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906659"/>
            <a:ext cx="862640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Consent-based multi-source pull: Udyam registry, GST API (GSTR-1/2A/2B/3B, ITC), ITR filings, AA bank &amp; UPI statements (EPFO slot ready)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GST vs. bank-credit cross-validation for fraud/misrepresentation detection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6-Dimension Weighted Score (0-1000): Revenue Vitality (25%), Cash Flow Health (20%), </a:t>
            </a:r>
            <a:r>
              <a:rPr lang="en-GB" sz="1200" dirty="0" err="1"/>
              <a:t>Tx</a:t>
            </a:r>
            <a:r>
              <a:rPr lang="en-GB" sz="1200" dirty="0"/>
              <a:t> Trustworthiness (15%), Compliance (15%), Business Stability (15%), Debt Serviceability (10%)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ML.NET LightGBM for tabular scoring + SSA time-series for 12-month trend + RandomizedPCA for cross-source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PFI (Permutation Feature Importance): per-dimension reasons for every score - audit-ready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Financial Health Card UI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Radar/spider chart for 6 dimensions, 12-month trend graph, green/yellow/red risk flags, top 3 strengths and risks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Recommended credit products (CGTMSE, MUDRA, standard working capital) mapped to score band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Downloadable PDF Health Card for branch-level use by IDBI credit officers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Integration &amp; API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ULI DSP-compatible REST API: any OCEN-compliant lender queries the score with </a:t>
            </a:r>
            <a:r>
              <a:rPr lang="en-GB" sz="1200" dirty="0" err="1"/>
              <a:t>mTLS</a:t>
            </a:r>
            <a:r>
              <a:rPr lang="en-GB" sz="1200" dirty="0"/>
              <a:t> + OAuth2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IDBI LOS Integration: score + Health Card delivered inline to Loan Origination System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AA FIU consent lifecycle: consent request, artefact verification, FIP data pull, auto-expiry</a:t>
            </a:r>
          </a:p>
          <a:p>
            <a:pPr marL="457200" lvl="0" indent="-317500">
              <a:buSzPts val="1400"/>
              <a:buChar char="●"/>
            </a:pPr>
            <a:r>
              <a:rPr lang="en-GB" sz="1200" dirty="0"/>
              <a:t>On-demand refresh: a new GST filing or AA consent re-runs the blob-based scoring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09500"/>
            <a:ext cx="4728906" cy="43116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378" y="593476"/>
            <a:ext cx="3637593" cy="33253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377" y="3752656"/>
            <a:ext cx="3637593" cy="13908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3943" y="552166"/>
            <a:ext cx="3715657" cy="45913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(C#): orchestration + Udyam/GST/ITR/AA (Finvu) connectors, ULI DSP, IDBI LOS webhook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(in-process): scoring, feature engineering &amp; PFI explainability -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Autofac: DI &amp; module auto-registration | Serilog: structured file/console logging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LightGBM: calibration model; final score = 0.6 rules engine + 0.4 ML model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(Singular Spectrum Analysis): 12-month cashflow / revenue trend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(PFI): per-dimension, audit-ready explanations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RandomizedPCA: 3-way GST vs ITR vs bank-credit anomaly / fraud signal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8: MSME profiles, consent &amp; OTP tables, audit trail (code-first migrations)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Storage: per-MSME data folder (raw source JSON + result.json)</a:t>
            </a:r>
          </a:p>
          <a:p>
            <a:pPr lvl="0"/>
            <a:endParaRPr lang="en-US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web app - Web + ML.NET in one deployable (modern monolith Architecture)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API Management (planned): ULI/OCEN gateway with mTLS + OAuth2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GitHub: source control &amp; CI | IIS / Azure App Service / AWS : hosting</a:t>
            </a:r>
          </a:p>
          <a:p>
            <a:pPr lvl="0"/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Views: server-rendered Health Card UI (.cshtml + Bootstrap, minimal JS)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Chart.js: radar/spider chart (6-dimension score pillars), line chart (12-month score trend), doughnut chart (score band indicator)</a:t>
            </a:r>
          </a:p>
          <a:p>
            <a:pPr marL="139700" lvl="0">
              <a:buSzPts val="1400"/>
            </a:pPr>
            <a:endParaRPr lang="en-US" sz="1200" dirty="0"/>
          </a:p>
          <a:p>
            <a:pPr lvl="0"/>
            <a:r>
              <a:rPr lang="en-US" sz="1200" b="1" dirty="0"/>
              <a:t>DPI Integrations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(AA) via Finvu / FinFactor | Unified Lending Interface (ULI) DSP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OCEN 2.0 | GST System API | Udyam Registry | EPFO REST API (planned)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697221" cy="40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31 L / </a:t>
            </a:r>
            <a:r>
              <a:rPr sz="2600" b="1" dirty="0" err="1">
                <a:solidFill>
                  <a:srgbClr val="FFFFFF"/>
                </a:solidFill>
              </a:rPr>
              <a:t>yr</a:t>
            </a:r>
            <a:endParaRPr sz="2600" b="1" dirty="0">
              <a:solidFill>
                <a:srgbClr val="FFFFFF"/>
              </a:solidFill>
            </a:endParaRPr>
          </a:p>
          <a:p>
            <a:pPr algn="ctr"/>
            <a:r>
              <a:rPr sz="950" dirty="0">
                <a:solidFill>
                  <a:schemeClr val="bg1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639149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37021"/>
                </a:solidFill>
              </a:rPr>
              <a:t>Cost breakdown  -  centralized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219178"/>
              </p:ext>
            </p:extLst>
          </p:nvPr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1814" y="1006289"/>
            <a:ext cx="1891170" cy="393205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448399" y="1006289"/>
            <a:ext cx="2780249" cy="18100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48399" y="3126925"/>
            <a:ext cx="2775807" cy="181005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399337" y="1006289"/>
            <a:ext cx="3614431" cy="393069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419" y="1108068"/>
            <a:ext cx="2734036" cy="18056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064551" y="1147298"/>
            <a:ext cx="3070996" cy="163811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295112" y="1012489"/>
            <a:ext cx="2638431" cy="20763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28594" y="3327405"/>
            <a:ext cx="2935957" cy="1409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101936" y="3327405"/>
            <a:ext cx="2969443" cy="14259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108765" y="3327406"/>
            <a:ext cx="2969444" cy="142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92" y="994528"/>
            <a:ext cx="2603879" cy="16317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/>
          <a:srcRect l="28316" r="26667"/>
          <a:stretch/>
        </p:blipFill>
        <p:spPr>
          <a:xfrm>
            <a:off x="2764716" y="1039270"/>
            <a:ext cx="1480457" cy="157922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6"/>
          <a:srcRect r="1270"/>
          <a:stretch/>
        </p:blipFill>
        <p:spPr>
          <a:xfrm>
            <a:off x="4301818" y="1039270"/>
            <a:ext cx="4762841" cy="26790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83133" y="2725555"/>
            <a:ext cx="3927647" cy="2209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03716" y="906753"/>
            <a:ext cx="3588850" cy="20187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67852" y="709980"/>
            <a:ext cx="3998967" cy="224941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3716" y="2973913"/>
            <a:ext cx="3588850" cy="201872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72909" y="3011334"/>
            <a:ext cx="3588851" cy="20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8594" y="919402"/>
            <a:ext cx="3588849" cy="201872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58594" y="2987594"/>
            <a:ext cx="3588849" cy="20187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36E08E-A7A9-64E4-4395-2CF209A468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2348" y="903697"/>
            <a:ext cx="4428100" cy="4006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07391" y="1123900"/>
            <a:ext cx="3949809" cy="339025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676896" y="2850181"/>
            <a:ext cx="3719617" cy="199154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64591" y="742524"/>
            <a:ext cx="4078666" cy="195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719/1000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Live score on real 6</a:t>
            </a:r>
            <a:r>
              <a:rPr lang="en-US" sz="900" dirty="0">
                <a:solidFill>
                  <a:schemeClr val="bg1"/>
                </a:solidFill>
              </a:rPr>
              <a:t> to 12</a:t>
            </a:r>
            <a:r>
              <a:rPr sz="900" dirty="0">
                <a:solidFill>
                  <a:schemeClr val="bg1"/>
                </a:solidFill>
              </a:rPr>
              <a:t>mo GST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DPI data sources fused: Udyam - GST - ITR </a:t>
            </a:r>
            <a:r>
              <a:rPr lang="en-IN" sz="900" dirty="0">
                <a:solidFill>
                  <a:schemeClr val="bg1"/>
                </a:solidFill>
              </a:rPr>
              <a:t>–</a:t>
            </a:r>
            <a:r>
              <a:rPr sz="900" dirty="0">
                <a:solidFill>
                  <a:schemeClr val="bg1"/>
                </a:solidFill>
              </a:rPr>
              <a:t> AA</a:t>
            </a:r>
            <a:r>
              <a:rPr lang="en-US" sz="900" dirty="0">
                <a:solidFill>
                  <a:schemeClr val="bg1"/>
                </a:solidFill>
              </a:rPr>
              <a:t> (+1 - EPFO)</a:t>
            </a:r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MSME profiles the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37337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FF4800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191110"/>
              </p:ext>
            </p:extLst>
          </p:nvPr>
        </p:nvGraphicFramePr>
        <p:xfrm>
          <a:off x="274320" y="2907792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FinRiskLensAI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4 - Udyam, GST, ITR, AA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(+1 - EPFO)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3-way GST-ITR-bank anomaly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Deeper Data Integrations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MCA API - company / director &amp; charge-registry checks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EPFO payroll + GST e-invoice / e-way bill signals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CERSAI - existing collateral / security-interest lookup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AML, Fraud &amp; Compliance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Sanctions / PEP / adverse-media name screening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RBI Central Fraud Registry &amp; willful-defaulter match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FIU-IND suspicious-transaction flags on AA data</a:t>
            </a:r>
            <a:endParaRPr lang="en-US" sz="1050" dirty="0">
              <a:solidFill>
                <a:srgbClr val="2B2026"/>
              </a:solidFill>
            </a:endParaRPr>
          </a:p>
          <a:p>
            <a:pPr>
              <a:spcAft>
                <a:spcPts val="200"/>
              </a:spcAft>
            </a:pPr>
            <a:r>
              <a:rPr lang="en-US" sz="1050" b="1" dirty="0">
                <a:solidFill>
                  <a:srgbClr val="974354"/>
                </a:solidFill>
              </a:rPr>
              <a:t>•  </a:t>
            </a:r>
            <a:r>
              <a:rPr lang="en-US" sz="1050" dirty="0">
                <a:solidFill>
                  <a:srgbClr val="2B2026"/>
                </a:solidFill>
              </a:rPr>
              <a:t>AI-Powered Financial Insights Assistant with more features</a:t>
            </a:r>
          </a:p>
          <a:p>
            <a:pPr>
              <a:spcAft>
                <a:spcPts val="200"/>
              </a:spcAft>
            </a:pPr>
            <a:endParaRPr sz="1050" dirty="0">
              <a:solidFill>
                <a:srgbClr val="2B2026"/>
              </a:solidFill>
            </a:endParaRP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 Ecosystem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Full ULI DSP + OCEN 2.0 certification &amp; go-live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CIBIL / CRIF commercial-bureau enrichment (NTB)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GST-invoice financing &amp; co-lending workflows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Product &amp; Intelligence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Score trend history + PDF Health Card export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Portfolio early-warning analytics for IDBI teams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Vernacular AI assistant + continuous </a:t>
            </a:r>
            <a:r>
              <a:rPr sz="1050" dirty="0" err="1">
                <a:solidFill>
                  <a:srgbClr val="2B2026"/>
                </a:solidFill>
              </a:rPr>
              <a:t>MLOps</a:t>
            </a:r>
            <a:r>
              <a:rPr sz="1050" dirty="0">
                <a:solidFill>
                  <a:srgbClr val="2B2026"/>
                </a:solidFill>
              </a:rPr>
              <a:t> retraining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3186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4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5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5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1471</Words>
  <Application>Microsoft Office PowerPoint</Application>
  <PresentationFormat>On-screen Show (16:9)</PresentationFormat>
  <Paragraphs>172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1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Abhinav Mukwane</dc:creator>
  <cp:keywords>IDBI Innovate 2026</cp:keywords>
  <cp:lastModifiedBy>Abhinav</cp:lastModifiedBy>
  <cp:revision>77</cp:revision>
  <dcterms:modified xsi:type="dcterms:W3CDTF">2026-07-11T14:04:59Z</dcterms:modified>
</cp:coreProperties>
</file>