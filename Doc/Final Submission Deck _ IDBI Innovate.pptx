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78" r:id="rId6"/>
    <p:sldId id="260" r:id="rId7"/>
    <p:sldId id="262" r:id="rId8"/>
    <p:sldId id="263" r:id="rId9"/>
    <p:sldId id="272" r:id="rId10"/>
    <p:sldId id="264" r:id="rId11"/>
    <p:sldId id="265" r:id="rId12"/>
    <p:sldId id="273" r:id="rId13"/>
    <p:sldId id="274" r:id="rId14"/>
    <p:sldId id="275" r:id="rId15"/>
    <p:sldId id="276" r:id="rId16"/>
    <p:sldId id="277" r:id="rId17"/>
    <p:sldId id="266" r:id="rId18"/>
    <p:sldId id="267" r:id="rId19"/>
    <p:sldId id="268" r:id="rId20"/>
    <p:sldId id="270" r:id="rId21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37021"/>
    <a:srgbClr val="00836C"/>
    <a:srgbClr val="02684F"/>
    <a:srgbClr val="FF4800"/>
    <a:srgbClr val="4FA9A7"/>
    <a:srgbClr val="037F61"/>
    <a:srgbClr val="03A57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78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ed00c62399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ed00c62399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ed00c62399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ed00c62399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ed00c62399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ed00c62399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ed00c62399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ed00c62399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ed00c62399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ed00c62399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ed00c62399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ed00c62399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ed00c62399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ed00c62399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956479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ed00c62399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ed00c62399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ed00c62399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ed00c62399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ed00c62399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ed00c62399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6644744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ed00c62399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ed00c62399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7052507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ed00c62399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ed00c62399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203908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ed00c62399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ed00c62399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9837518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ed00c62399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ed00c62399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2634114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ed00c62399_0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ed00c62399_0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ed00c62399_0_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ed00c62399_0_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ed00c62399_0_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ed00c62399_0_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ed00c62399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ed00c62399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2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bhinavmukwane/FinRiskLensAI" TargetMode="External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finrisklensai.com/" TargetMode="External"/><Relationship Id="rId5" Type="http://schemas.openxmlformats.org/officeDocument/2006/relationships/hyperlink" Target="https://drive.google.com/file/d/1XT7sGQz7xUhoUDwbNTN6Qij5t8e_v5ea/view?usp=sharing" TargetMode="External"/><Relationship Id="rId4" Type="http://schemas.openxmlformats.org/officeDocument/2006/relationships/hyperlink" Target="https://video.finrisklensai.com/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IDBI banner deck 1.png"/>
          <p:cNvPicPr preferRelativeResize="0"/>
          <p:nvPr/>
        </p:nvPicPr>
        <p:blipFill rotWithShape="1">
          <a:blip r:embed="rId3">
            <a:alphaModFix/>
          </a:blip>
          <a:srcRect b="40681"/>
          <a:stretch/>
        </p:blipFill>
        <p:spPr>
          <a:xfrm>
            <a:off x="0" y="0"/>
            <a:ext cx="9144000" cy="30511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146600" y="3260725"/>
            <a:ext cx="8760000" cy="16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b="1" dirty="0"/>
              <a:t>Team Details</a:t>
            </a:r>
            <a:endParaRPr sz="1500"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b="1" dirty="0"/>
          </a:p>
          <a:p>
            <a:pPr marL="914400" lvl="1" indent="-323850">
              <a:buSzPts val="1500"/>
              <a:buAutoNum type="alphaLcPeriod"/>
            </a:pPr>
            <a:r>
              <a:rPr lang="en-GB" sz="1500" b="1" dirty="0"/>
              <a:t>Team name: </a:t>
            </a:r>
            <a:r>
              <a:rPr lang="en-GB" sz="1500" dirty="0"/>
              <a:t>ASM </a:t>
            </a:r>
            <a:r>
              <a:rPr lang="en-GB" sz="1500" dirty="0" err="1"/>
              <a:t>FinTech</a:t>
            </a:r>
            <a:r>
              <a:rPr lang="en-GB" sz="1500" dirty="0"/>
              <a:t> Developer</a:t>
            </a:r>
            <a:endParaRPr sz="1500"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AutoNum type="alphaLcPeriod"/>
            </a:pPr>
            <a:r>
              <a:rPr lang="en-GB" sz="1500" b="1" dirty="0"/>
              <a:t>Team leader name: </a:t>
            </a:r>
            <a:r>
              <a:rPr lang="en-US" sz="1500" dirty="0"/>
              <a:t>Abhinav Mukwane</a:t>
            </a:r>
            <a:endParaRPr sz="1500" dirty="0"/>
          </a:p>
          <a:p>
            <a:pPr marL="914400" lvl="1" indent="-323850">
              <a:buSzPts val="1500"/>
              <a:buAutoNum type="alphaLcPeriod"/>
            </a:pPr>
            <a:r>
              <a:rPr lang="en-GB" sz="1500" b="1" dirty="0"/>
              <a:t>Problem Statement: </a:t>
            </a:r>
            <a:r>
              <a:rPr lang="en-US" sz="1500" dirty="0"/>
              <a:t>Financial Health </a:t>
            </a:r>
            <a:r>
              <a:rPr lang="en-US" sz="1500" dirty="0" smtClean="0"/>
              <a:t>Score</a:t>
            </a:r>
            <a:endParaRPr sz="15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 title="IDBI banner deck 2.png"/>
          <p:cNvPicPr preferRelativeResize="0"/>
          <p:nvPr/>
        </p:nvPicPr>
        <p:blipFill rotWithShape="1">
          <a:blip r:embed="rId3">
            <a:alphaModFix/>
          </a:blip>
          <a:srcRect b="88462"/>
          <a:stretch/>
        </p:blipFill>
        <p:spPr>
          <a:xfrm>
            <a:off x="0" y="0"/>
            <a:ext cx="9144000" cy="593476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4"/>
          <p:cNvSpPr txBox="1"/>
          <p:nvPr/>
        </p:nvSpPr>
        <p:spPr>
          <a:xfrm>
            <a:off x="295585" y="639387"/>
            <a:ext cx="8552829" cy="3905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 dirty="0"/>
              <a:t>Brief about the idea</a:t>
            </a:r>
            <a:endParaRPr b="1" dirty="0"/>
          </a:p>
        </p:txBody>
      </p:sp>
      <p:pic>
        <p:nvPicPr>
          <p:cNvPr id="62" name="Google Shape;62;p14" title="IDBI banner deck 2.png"/>
          <p:cNvPicPr preferRelativeResize="0"/>
          <p:nvPr/>
        </p:nvPicPr>
        <p:blipFill rotWithShape="1">
          <a:blip r:embed="rId3">
            <a:alphaModFix/>
          </a:blip>
          <a:srcRect t="98077"/>
          <a:stretch/>
        </p:blipFill>
        <p:spPr>
          <a:xfrm>
            <a:off x="0" y="5044576"/>
            <a:ext cx="9144000" cy="989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/>
          <p:cNvSpPr txBox="1"/>
          <p:nvPr/>
        </p:nvSpPr>
        <p:spPr>
          <a:xfrm>
            <a:off x="295584" y="1029929"/>
            <a:ext cx="8722292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GB" sz="1200" dirty="0"/>
              <a:t>India has 6.4 crore MSMEs contributing ~30% of GDP, yet 80%+ have no formal credit. New-to-Credit (NTC) and New-to-Bank (NTB) enterprises are rejected for missing paperwork — not for being bad borrowers.</a:t>
            </a:r>
          </a:p>
          <a:p>
            <a:pPr lvl="0"/>
            <a:endParaRPr lang="en-GB" sz="1200" dirty="0"/>
          </a:p>
          <a:p>
            <a:pPr lvl="0"/>
            <a:r>
              <a:rPr lang="en-GB" sz="1200" b="1" dirty="0"/>
              <a:t>FinRiskLensAI — AI-powered MSME Financial Health Score platform (Top-5 Finalist build)</a:t>
            </a:r>
          </a:p>
          <a:p>
            <a:pPr lvl="0"/>
            <a:endParaRPr lang="en-GB" sz="700" dirty="0"/>
          </a:p>
          <a:p>
            <a:pPr marL="457200" lvl="0" indent="-317500">
              <a:lnSpc>
                <a:spcPct val="120000"/>
              </a:lnSpc>
              <a:buSzPts val="1400"/>
              <a:buChar char="●"/>
            </a:pPr>
            <a:r>
              <a:rPr lang="en-GB" sz="1200" dirty="0"/>
              <a:t>One consent, five sources: Udyam, GST (7 return types), ITR, bank statements via Account Aggregator, and MCA company &amp; director records</a:t>
            </a:r>
          </a:p>
          <a:p>
            <a:pPr marL="457200" lvl="0" indent="-317500">
              <a:lnSpc>
                <a:spcPct val="120000"/>
              </a:lnSpc>
              <a:buSzPts val="1400"/>
              <a:buChar char="●"/>
            </a:pPr>
            <a:r>
              <a:rPr lang="en-GB" sz="1200" dirty="0"/>
              <a:t>One score, six pillars: Financial Health Score 0–1000 from a rules engine + ML.NET LightGBM — every score comes with plain-language reasons</a:t>
            </a:r>
          </a:p>
          <a:p>
            <a:pPr marL="457200" lvl="0" indent="-317500">
              <a:lnSpc>
                <a:spcPct val="120000"/>
              </a:lnSpc>
              <a:buSzPts val="1400"/>
              <a:buChar char="●"/>
            </a:pPr>
            <a:r>
              <a:rPr lang="en-GB" sz="1200" dirty="0"/>
              <a:t>Financial Health Card: score gauge, 6-pillar radar, strengths &amp; risks, lending eligibility (working capital + term loan) and the right product (CGTMSE / MUDRA / standard)</a:t>
            </a:r>
          </a:p>
          <a:p>
            <a:pPr marL="457200" lvl="0" indent="-317500">
              <a:lnSpc>
                <a:spcPct val="120000"/>
              </a:lnSpc>
              <a:buSzPts val="1400"/>
              <a:buChar char="●"/>
            </a:pPr>
            <a:r>
              <a:rPr lang="en-GB" sz="1200" b="1" dirty="0"/>
              <a:t>NEW — Score History: </a:t>
            </a:r>
            <a:r>
              <a:rPr lang="en-GB" sz="1200" dirty="0"/>
              <a:t>every analysis is saved, so the bank sees the trend, not just today’s number</a:t>
            </a:r>
          </a:p>
          <a:p>
            <a:pPr marL="457200" lvl="0" indent="-317500">
              <a:lnSpc>
                <a:spcPct val="120000"/>
              </a:lnSpc>
              <a:buSzPts val="1400"/>
              <a:buChar char="●"/>
            </a:pPr>
            <a:r>
              <a:rPr lang="en-GB" sz="1200" b="1" dirty="0"/>
              <a:t>NEW — Bank Portal (Customer 360): </a:t>
            </a:r>
            <a:r>
              <a:rPr lang="en-GB" sz="1200" dirty="0"/>
              <a:t>one screen per MSME for the credit officer — score, GST, bank, ITR, MCA and directors</a:t>
            </a:r>
          </a:p>
          <a:p>
            <a:pPr marL="457200" lvl="0" indent="-317500">
              <a:lnSpc>
                <a:spcPct val="120000"/>
              </a:lnSpc>
              <a:buSzPts val="1400"/>
              <a:buChar char="●"/>
            </a:pPr>
            <a:r>
              <a:rPr lang="en-GB" sz="1200" dirty="0"/>
              <a:t>Integrity check: GST, ITR and bank credits are cross-checked; mismatches are flagged for officer review, not silently scored</a:t>
            </a:r>
          </a:p>
          <a:p>
            <a:pPr marL="457200" lvl="0" indent="-317500">
              <a:lnSpc>
                <a:spcPct val="120000"/>
              </a:lnSpc>
              <a:buSzPts val="1400"/>
              <a:buChar char="●"/>
            </a:pPr>
            <a:r>
              <a:rPr lang="en-GB" sz="1200" dirty="0"/>
              <a:t>Built for Bharat: 7 Indian languages (Bhashini), AI assistant, printable &amp; emailable Financial Report; score in seconds; API-ready for LOS / ULI / OCEN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/>
        </p:nvSpPr>
        <p:spPr>
          <a:xfrm>
            <a:off x="285075" y="593476"/>
            <a:ext cx="8711780" cy="445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 dirty="0"/>
              <a:t>Opportunities</a:t>
            </a:r>
          </a:p>
          <a:p>
            <a:pPr lvl="0"/>
            <a:endParaRPr lang="en-GB" sz="1200" dirty="0"/>
          </a:p>
          <a:p>
            <a:pPr lvl="0"/>
            <a:r>
              <a:rPr lang="en-US" sz="1200" b="1" dirty="0"/>
              <a:t>How is it different from existing solutions?</a:t>
            </a:r>
          </a:p>
          <a:p>
            <a:pPr marL="457200" lvl="0" indent="-317500">
              <a:buSzPts val="1400"/>
              <a:buChar char="●"/>
            </a:pPr>
            <a:r>
              <a:rPr lang="en-US" sz="1200" dirty="0"/>
              <a:t>Bureau scores (CIBIL / Experian) need credit history — we score NTC / NTB MSMEs with none, from their own digital footprint</a:t>
            </a:r>
          </a:p>
          <a:p>
            <a:pPr marL="457200" lvl="0" indent="-317500">
              <a:buSzPts val="1400"/>
              <a:buChar char="●"/>
            </a:pPr>
            <a:r>
              <a:rPr lang="en-US" sz="1200" dirty="0"/>
              <a:t>Five data sources in one consent flow — Udyam, GST, ITR, bank (AA) and MCA — instead of a single-source view</a:t>
            </a:r>
          </a:p>
          <a:p>
            <a:pPr marL="457200" lvl="0" indent="-317500">
              <a:buSzPts val="1400"/>
              <a:buChar char="●"/>
            </a:pPr>
            <a:r>
              <a:rPr lang="en-US" sz="1200" dirty="0"/>
              <a:t>Score + score history + bank portal: a working system a credit officer can use today, not just a number</a:t>
            </a:r>
          </a:p>
          <a:p>
            <a:pPr marL="457200" lvl="0" indent="-317500">
              <a:buSzPts val="1400"/>
              <a:buChar char="●"/>
            </a:pPr>
            <a:r>
              <a:rPr lang="en-US" sz="1200" dirty="0"/>
              <a:t>Cross-source check (GST vs ITR vs bank credits) as a built-in integrity signal — no existing tool does this</a:t>
            </a:r>
          </a:p>
          <a:p>
            <a:pPr lvl="0"/>
            <a:endParaRPr lang="en-GB" sz="1200" dirty="0"/>
          </a:p>
          <a:p>
            <a:pPr lvl="0"/>
            <a:r>
              <a:rPr lang="en-US" sz="1200" b="1" dirty="0"/>
              <a:t>How does it solve the problem?</a:t>
            </a:r>
          </a:p>
          <a:p>
            <a:pPr marL="457200" lvl="0" indent="-317500">
              <a:buSzPts val="1400"/>
              <a:buChar char="●"/>
            </a:pPr>
            <a:r>
              <a:rPr lang="en-US" sz="1200" dirty="0"/>
              <a:t>Ends the ‘no documents, no credit’ cycle — the MSME’s existing filings and statements are the documents</a:t>
            </a:r>
          </a:p>
          <a:p>
            <a:pPr marL="457200" lvl="0" indent="-317500">
              <a:buSzPts val="1400"/>
              <a:buChar char="●"/>
            </a:pPr>
            <a:r>
              <a:rPr lang="en-US" sz="1200" dirty="0"/>
              <a:t>2–3 weeks of manual appraisal becomes an automated assessment in seconds</a:t>
            </a:r>
          </a:p>
          <a:p>
            <a:pPr marL="457200" lvl="0" indent="-317500">
              <a:buSzPts val="1400"/>
              <a:buChar char="●"/>
            </a:pPr>
            <a:r>
              <a:rPr lang="en-US" sz="1200" dirty="0"/>
              <a:t>Every score carries dimension-level reasons — the officer sees why, not just what</a:t>
            </a:r>
          </a:p>
          <a:p>
            <a:pPr marL="457200" lvl="0" indent="-317500">
              <a:buSzPts val="1400"/>
              <a:buChar char="●"/>
            </a:pPr>
            <a:r>
              <a:rPr lang="en-US" sz="1200" dirty="0"/>
              <a:t>Neutral baseline for first-time borrowers — missing history is not treated as bad history</a:t>
            </a:r>
          </a:p>
          <a:p>
            <a:pPr lvl="0"/>
            <a:endParaRPr lang="en-GB" sz="1200" dirty="0"/>
          </a:p>
          <a:p>
            <a:pPr lvl="0"/>
            <a:r>
              <a:rPr lang="en-US" sz="1200" b="1" dirty="0"/>
              <a:t>USP of the proposed solution</a:t>
            </a:r>
          </a:p>
          <a:p>
            <a:pPr marL="457200" lvl="0" indent="-317500">
              <a:buSzPts val="1400"/>
              <a:buChar char="●"/>
            </a:pPr>
            <a:r>
              <a:rPr lang="en-US" sz="1200" dirty="0"/>
              <a:t>Six-pillar score (Revenue, Cash Flow, Transactions, Compliance, Stability, Debt) — a far richer picture than any single metric</a:t>
            </a:r>
          </a:p>
          <a:p>
            <a:pPr marL="457200" lvl="0" indent="-317500">
              <a:buSzPts val="1400"/>
              <a:buChar char="●"/>
            </a:pPr>
            <a:r>
              <a:rPr lang="en-US" sz="1200" dirty="0"/>
              <a:t>Built on India’s DPI stack — consent-based, no proprietary data, aligned with the DPDP Act 2023</a:t>
            </a:r>
          </a:p>
          <a:p>
            <a:pPr marL="457200" lvl="0" indent="-317500">
              <a:buSzPts val="1400"/>
              <a:buChar char="●"/>
            </a:pPr>
            <a:r>
              <a:rPr lang="en-US" sz="1200" dirty="0"/>
              <a:t>Product recommender maps the score band to CGTMSE / MUDRA / standard loans — more approvals, safely</a:t>
            </a:r>
          </a:p>
          <a:p>
            <a:pPr marL="457200" lvl="0" indent="-317500">
              <a:buSzPts val="1400"/>
              <a:buChar char="●"/>
            </a:pPr>
            <a:r>
              <a:rPr lang="en-US" sz="1200" dirty="0"/>
              <a:t>Score history gives IDBI post-disbursement monitoring — origination and monitoring from one platform</a:t>
            </a:r>
          </a:p>
        </p:txBody>
      </p:sp>
      <p:pic>
        <p:nvPicPr>
          <p:cNvPr id="68" name="Google Shape;68;p15" title="IDBI banner deck 2.png"/>
          <p:cNvPicPr preferRelativeResize="0"/>
          <p:nvPr/>
        </p:nvPicPr>
        <p:blipFill rotWithShape="1">
          <a:blip r:embed="rId3">
            <a:alphaModFix/>
          </a:blip>
          <a:srcRect b="88462"/>
          <a:stretch/>
        </p:blipFill>
        <p:spPr>
          <a:xfrm>
            <a:off x="0" y="0"/>
            <a:ext cx="9144000" cy="593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5" title="IDBI banner deck 2.png"/>
          <p:cNvPicPr preferRelativeResize="0"/>
          <p:nvPr/>
        </p:nvPicPr>
        <p:blipFill rotWithShape="1">
          <a:blip r:embed="rId3">
            <a:alphaModFix/>
          </a:blip>
          <a:srcRect t="98077"/>
          <a:stretch/>
        </p:blipFill>
        <p:spPr>
          <a:xfrm>
            <a:off x="0" y="5044576"/>
            <a:ext cx="9144000" cy="98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/>
        </p:nvSpPr>
        <p:spPr>
          <a:xfrm>
            <a:off x="265350" y="561946"/>
            <a:ext cx="8626402" cy="411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 dirty="0"/>
              <a:t>List of features offered by the solution</a:t>
            </a:r>
            <a:endParaRPr b="1" dirty="0"/>
          </a:p>
        </p:txBody>
      </p:sp>
      <p:pic>
        <p:nvPicPr>
          <p:cNvPr id="75" name="Google Shape;75;p16" title="IDBI banner deck 2.png"/>
          <p:cNvPicPr preferRelativeResize="0"/>
          <p:nvPr/>
        </p:nvPicPr>
        <p:blipFill rotWithShape="1">
          <a:blip r:embed="rId3">
            <a:alphaModFix/>
          </a:blip>
          <a:srcRect b="88462"/>
          <a:stretch/>
        </p:blipFill>
        <p:spPr>
          <a:xfrm>
            <a:off x="0" y="0"/>
            <a:ext cx="9144000" cy="593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6" title="IDBI banner deck 2.png"/>
          <p:cNvPicPr preferRelativeResize="0"/>
          <p:nvPr/>
        </p:nvPicPr>
        <p:blipFill rotWithShape="1">
          <a:blip r:embed="rId3">
            <a:alphaModFix/>
          </a:blip>
          <a:srcRect t="98077"/>
          <a:stretch/>
        </p:blipFill>
        <p:spPr>
          <a:xfrm>
            <a:off x="0" y="5044576"/>
            <a:ext cx="9144000" cy="989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/>
          <p:cNvSpPr txBox="1"/>
          <p:nvPr/>
        </p:nvSpPr>
        <p:spPr>
          <a:xfrm>
            <a:off x="265350" y="875129"/>
            <a:ext cx="8626402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GB" sz="1200" b="1" dirty="0"/>
              <a:t>Data Aggregation — 5 sources, one consent</a:t>
            </a:r>
          </a:p>
          <a:p>
            <a:pPr marL="457200" lvl="0" indent="-317500">
              <a:buSzPts val="1400"/>
              <a:buChar char="●"/>
            </a:pPr>
            <a:r>
              <a:rPr lang="en-GB" sz="1050" dirty="0"/>
              <a:t>Udyam registry · GST (GSTR-1 / 2A / 2B / 3B, HSN, credit notes, ITC) · ITR (ITR-4 / 5 / 6) · Account Aggregator bank statements (Finvu) · MCA company, charges &amp; DIN-verified directors</a:t>
            </a:r>
          </a:p>
          <a:p>
            <a:pPr marL="457200" lvl="0" indent="-317500">
              <a:buSzPts val="1400"/>
              <a:buChar char="●"/>
            </a:pPr>
            <a:r>
              <a:rPr lang="en-GB" sz="1050" dirty="0"/>
              <a:t>GST ↔ ITR ↔ bank-credit reconciliation with a cross-source anomaly flag for officer review</a:t>
            </a:r>
          </a:p>
          <a:p>
            <a:pPr lvl="0"/>
            <a:endParaRPr lang="en-GB" sz="600" dirty="0"/>
          </a:p>
          <a:p>
            <a:pPr lvl="0"/>
            <a:r>
              <a:rPr lang="en-GB" sz="1200" b="1" dirty="0"/>
              <a:t>AI / ML Scoring Engine</a:t>
            </a:r>
          </a:p>
          <a:p>
            <a:pPr marL="457200" lvl="0" indent="-317500">
              <a:buSzPts val="1400"/>
              <a:buChar char="●"/>
            </a:pPr>
            <a:r>
              <a:rPr lang="en-GB" sz="1050" dirty="0"/>
              <a:t>Six weighted pillars, 0–1000: Revenue Vitality 25% · Cash Flow Health 20% · Transaction Trust 15% · Compliance 15% · Business Stability 15% · Debt Serviceability 10%</a:t>
            </a:r>
          </a:p>
          <a:p>
            <a:pPr marL="457200" lvl="0" indent="-317500">
              <a:buSzPts val="1400"/>
              <a:buChar char="●"/>
            </a:pPr>
            <a:r>
              <a:rPr lang="en-GB" sz="1050" dirty="0"/>
              <a:t>Rules engine + ML.NET LightGBM calibration (0.6 / 0.4), SSA cash-flow trend, PFI explanations, neutral baseline when a source is missing</a:t>
            </a:r>
          </a:p>
          <a:p>
            <a:pPr lvl="0"/>
            <a:endParaRPr lang="en-GB" sz="600" dirty="0"/>
          </a:p>
          <a:p>
            <a:pPr lvl="0"/>
            <a:r>
              <a:rPr lang="en-GB" sz="1200" b="1" dirty="0"/>
              <a:t>Financial Health Card &amp; Report</a:t>
            </a:r>
          </a:p>
          <a:p>
            <a:pPr marL="457200" lvl="0" indent="-317500">
              <a:buSzPts val="1400"/>
              <a:buChar char="●"/>
            </a:pPr>
            <a:r>
              <a:rPr lang="en-GB" sz="1050" dirty="0"/>
              <a:t>Score gauge, 6-pillar radar, top strengths &amp; risks, lending eligibility — working-capital limit (Nayak) + term-loan capacity, 14-ratio appraisal</a:t>
            </a:r>
          </a:p>
          <a:p>
            <a:pPr marL="457200" lvl="0" indent="-317500">
              <a:buSzPts val="1400"/>
              <a:buChar char="●"/>
            </a:pPr>
            <a:r>
              <a:rPr lang="en-GB" sz="1050" dirty="0"/>
              <a:t>Product recommendation (CGTMSE / MUDRA / standard), Score History trend, printable Financial Report, email delivery</a:t>
            </a:r>
          </a:p>
          <a:p>
            <a:pPr lvl="0"/>
            <a:endParaRPr lang="en-GB" sz="600" dirty="0"/>
          </a:p>
          <a:p>
            <a:pPr lvl="0"/>
            <a:r>
              <a:rPr lang="en-GB" sz="1200" b="1" dirty="0"/>
              <a:t>Bank Portal — Customer 360 (new for the Finals)</a:t>
            </a:r>
          </a:p>
          <a:p>
            <a:pPr marL="457200" lvl="0" indent="-317500">
              <a:buSzPts val="1400"/>
              <a:buChar char="●"/>
            </a:pPr>
            <a:r>
              <a:rPr lang="en-GB" sz="1050" dirty="0"/>
              <a:t>Portfolio list with scores &amp; bands, bank dashboard, per-MSME tabs: Score, GST, Bank (AA deep analysis), ITR, MCA, Directors</a:t>
            </a:r>
          </a:p>
          <a:p>
            <a:pPr lvl="0"/>
            <a:endParaRPr lang="en-GB" sz="600" dirty="0"/>
          </a:p>
          <a:p>
            <a:pPr lvl="0"/>
            <a:r>
              <a:rPr lang="en-GB" sz="1200" b="1" dirty="0"/>
              <a:t>Hand-off to the lender (new for the Finals)</a:t>
            </a:r>
          </a:p>
          <a:p>
            <a:pPr marL="457200" lvl="0" indent="-317500">
              <a:buSzPts val="1400"/>
              <a:buChar char="●"/>
            </a:pPr>
            <a:r>
              <a:rPr lang="en-GB" sz="1050" dirty="0"/>
              <a:t>Raise a scored MSME as a loan case — IDBI LOS (appraisal case) · ULI (OCEN 4.0 derived data packet) · ONDC (beckn FIS12); the officer previews the exact payload before confirming</a:t>
            </a:r>
          </a:p>
          <a:p>
            <a:pPr marL="457200" lvl="0" indent="-317500">
              <a:buSzPts val="1400"/>
              <a:buChar char="●"/>
            </a:pPr>
            <a:r>
              <a:rPr lang="en-GB" sz="1050" dirty="0"/>
              <a:t>Append-only push audit with score, band and eligibility frozen at the moment the case was raised; pointing a channel at a live endpoint is configuration, not code</a:t>
            </a:r>
          </a:p>
          <a:p>
            <a:pPr lvl="0"/>
            <a:endParaRPr lang="en-GB" sz="600" dirty="0"/>
          </a:p>
          <a:p>
            <a:pPr lvl="0"/>
            <a:r>
              <a:rPr lang="en-GB" sz="1200" b="1" dirty="0"/>
              <a:t>Security &amp; Language</a:t>
            </a:r>
          </a:p>
          <a:p>
            <a:pPr marL="457200" lvl="0" indent="-317500">
              <a:buSzPts val="1400"/>
              <a:buChar char="●"/>
            </a:pPr>
            <a:r>
              <a:rPr lang="en-GB" sz="1050" dirty="0"/>
              <a:t>Email-OTP login, CSP security headers, source-IP fraud audit; 7 Indian languages via Bhashini; Groq AI assistant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4"/>
          <p:cNvSpPr txBox="1"/>
          <p:nvPr/>
        </p:nvSpPr>
        <p:spPr>
          <a:xfrm>
            <a:off x="265350" y="74457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What’s new since Round 1 — built for the Finals</a:t>
            </a:r>
            <a:endParaRPr b="1"/>
          </a:p>
        </p:txBody>
      </p:sp>
      <p:pic>
        <p:nvPicPr>
          <p:cNvPr id="131" name="Google Shape;131;p24" title="IDBI banner deck 2.png"/>
          <p:cNvPicPr preferRelativeResize="0"/>
          <p:nvPr/>
        </p:nvPicPr>
        <p:blipFill rotWithShape="1">
          <a:blip r:embed="rId2">
            <a:alphaModFix/>
          </a:blip>
          <a:srcRect b="88462"/>
          <a:stretch/>
        </p:blipFill>
        <p:spPr>
          <a:xfrm>
            <a:off x="0" y="0"/>
            <a:ext cx="9144000" cy="593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24" title="IDBI banner deck 2.png"/>
          <p:cNvPicPr preferRelativeResize="0"/>
          <p:nvPr/>
        </p:nvPicPr>
        <p:blipFill rotWithShape="1">
          <a:blip r:embed="rId2">
            <a:alphaModFix/>
          </a:blip>
          <a:srcRect t="98077"/>
          <a:stretch/>
        </p:blipFill>
        <p:spPr>
          <a:xfrm>
            <a:off x="0" y="5044576"/>
            <a:ext cx="9144000" cy="98925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fut_card"/>
          <p:cNvSpPr/>
          <p:nvPr/>
        </p:nvSpPr>
        <p:spPr>
          <a:xfrm>
            <a:off x="6126480" y="1306475"/>
            <a:ext cx="2743200" cy="1600200"/>
          </a:xfrm>
          <a:prstGeom prst="roundRect">
            <a:avLst/>
          </a:prstGeom>
          <a:solidFill>
            <a:srgbClr val="FAF3F6"/>
          </a:solidFill>
          <a:ln w="9525">
            <a:solidFill>
              <a:srgbClr val="EAD9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rIns="91440" bIns="73152" rtlCol="0" anchor="t"/>
          <a:lstStyle/>
          <a:p>
            <a:pPr algn="ctr">
              <a:spcAft>
                <a:spcPts val="400"/>
              </a:spcAft>
            </a:pPr>
            <a:r>
              <a:rPr sz="1300" b="1" dirty="0">
                <a:solidFill>
                  <a:srgbClr val="F37021"/>
                </a:solidFill>
              </a:rPr>
              <a:t>Loan case → LOS · ULI · ONDC</a:t>
            </a:r>
          </a:p>
          <a:p>
            <a:pPr>
              <a:spcAft>
                <a:spcPts val="200"/>
              </a:spcAft>
            </a:pPr>
            <a:r>
              <a:rPr sz="1000" b="1" dirty="0">
                <a:solidFill>
                  <a:srgbClr val="974354"/>
                </a:solidFill>
              </a:rPr>
              <a:t>•  </a:t>
            </a:r>
            <a:r>
              <a:rPr sz="1000" dirty="0">
                <a:solidFill>
                  <a:srgbClr val="2B2026"/>
                </a:solidFill>
              </a:rPr>
              <a:t>Raise a scored MSME as a case from Customer 360</a:t>
            </a:r>
          </a:p>
          <a:p>
            <a:pPr>
              <a:spcAft>
                <a:spcPts val="200"/>
              </a:spcAft>
            </a:pPr>
            <a:r>
              <a:rPr sz="1000" b="1" dirty="0">
                <a:solidFill>
                  <a:srgbClr val="974354"/>
                </a:solidFill>
              </a:rPr>
              <a:t>•  </a:t>
            </a:r>
            <a:r>
              <a:rPr sz="1000" dirty="0">
                <a:solidFill>
                  <a:srgbClr val="2B2026"/>
                </a:solidFill>
              </a:rPr>
              <a:t>Preview the exact payload, then confirm — never one click</a:t>
            </a:r>
          </a:p>
          <a:p>
            <a:pPr>
              <a:spcAft>
                <a:spcPts val="200"/>
              </a:spcAft>
            </a:pPr>
            <a:r>
              <a:rPr sz="1000" b="1" dirty="0">
                <a:solidFill>
                  <a:srgbClr val="974354"/>
                </a:solidFill>
              </a:rPr>
              <a:t>•  </a:t>
            </a:r>
            <a:r>
              <a:rPr sz="1000" dirty="0">
                <a:solidFill>
                  <a:srgbClr val="2B2026"/>
                </a:solidFill>
              </a:rPr>
              <a:t>A live endpoint is configuration, not a code change</a:t>
            </a:r>
          </a:p>
        </p:txBody>
      </p:sp>
      <p:sp>
        <p:nvSpPr>
          <p:cNvPr id="134" name="fut_card"/>
          <p:cNvSpPr/>
          <p:nvPr/>
        </p:nvSpPr>
        <p:spPr>
          <a:xfrm>
            <a:off x="274320" y="1325880"/>
            <a:ext cx="2743200" cy="1600200"/>
          </a:xfrm>
          <a:prstGeom prst="roundRect">
            <a:avLst/>
          </a:prstGeom>
          <a:solidFill>
            <a:srgbClr val="FAF3F6"/>
          </a:solidFill>
          <a:ln w="9525">
            <a:solidFill>
              <a:srgbClr val="EAD9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rIns="91440" bIns="73152" rtlCol="0" anchor="t"/>
          <a:lstStyle/>
          <a:p>
            <a:pPr algn="ctr">
              <a:spcAft>
                <a:spcPts val="400"/>
              </a:spcAft>
            </a:pPr>
            <a:r>
              <a:rPr sz="1300" b="1" dirty="0">
                <a:solidFill>
                  <a:srgbClr val="F37021"/>
                </a:solidFill>
              </a:rPr>
              <a:t>Score History &amp; Trend</a:t>
            </a:r>
          </a:p>
          <a:p>
            <a:pPr>
              <a:spcAft>
                <a:spcPts val="200"/>
              </a:spcAft>
            </a:pPr>
            <a:r>
              <a:rPr sz="1000" b="1" dirty="0">
                <a:solidFill>
                  <a:srgbClr val="974354"/>
                </a:solidFill>
              </a:rPr>
              <a:t>•  </a:t>
            </a:r>
            <a:r>
              <a:rPr sz="1000" dirty="0">
                <a:solidFill>
                  <a:srgbClr val="2B2026"/>
                </a:solidFill>
              </a:rPr>
              <a:t>Every analysis is saved (append-only), never overwritten</a:t>
            </a:r>
          </a:p>
          <a:p>
            <a:pPr>
              <a:spcAft>
                <a:spcPts val="200"/>
              </a:spcAft>
            </a:pPr>
            <a:r>
              <a:rPr sz="1000" b="1" dirty="0">
                <a:solidFill>
                  <a:srgbClr val="974354"/>
                </a:solidFill>
              </a:rPr>
              <a:t>•  </a:t>
            </a:r>
            <a:r>
              <a:rPr sz="1000" dirty="0">
                <a:solidFill>
                  <a:srgbClr val="2B2026"/>
                </a:solidFill>
              </a:rPr>
              <a:t>Trend chart on the Health Card and in the bank portal</a:t>
            </a:r>
          </a:p>
          <a:p>
            <a:pPr>
              <a:spcAft>
                <a:spcPts val="200"/>
              </a:spcAft>
            </a:pPr>
            <a:r>
              <a:rPr sz="1000" b="1" dirty="0">
                <a:solidFill>
                  <a:srgbClr val="974354"/>
                </a:solidFill>
              </a:rPr>
              <a:t>•  </a:t>
            </a:r>
            <a:r>
              <a:rPr sz="1000" dirty="0">
                <a:solidFill>
                  <a:srgbClr val="2B2026"/>
                </a:solidFill>
              </a:rPr>
              <a:t>The base for post-disbursement early warning</a:t>
            </a:r>
          </a:p>
        </p:txBody>
      </p:sp>
      <p:sp>
        <p:nvSpPr>
          <p:cNvPr id="135" name="fut_card"/>
          <p:cNvSpPr/>
          <p:nvPr/>
        </p:nvSpPr>
        <p:spPr>
          <a:xfrm>
            <a:off x="3195915" y="1325880"/>
            <a:ext cx="2743200" cy="1600200"/>
          </a:xfrm>
          <a:prstGeom prst="roundRect">
            <a:avLst/>
          </a:prstGeom>
          <a:solidFill>
            <a:srgbClr val="FAF3F6"/>
          </a:solidFill>
          <a:ln w="9525">
            <a:solidFill>
              <a:srgbClr val="EAD9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rIns="91440" bIns="73152" rtlCol="0" anchor="t"/>
          <a:lstStyle/>
          <a:p>
            <a:pPr algn="ctr">
              <a:spcAft>
                <a:spcPts val="400"/>
              </a:spcAft>
            </a:pPr>
            <a:r>
              <a:rPr sz="1300" b="1" dirty="0">
                <a:solidFill>
                  <a:srgbClr val="F37021"/>
                </a:solidFill>
              </a:rPr>
              <a:t>Bank Portal · Customer 360</a:t>
            </a:r>
          </a:p>
          <a:p>
            <a:pPr>
              <a:spcAft>
                <a:spcPts val="200"/>
              </a:spcAft>
            </a:pPr>
            <a:r>
              <a:rPr sz="1000" b="1" dirty="0">
                <a:solidFill>
                  <a:srgbClr val="974354"/>
                </a:solidFill>
              </a:rPr>
              <a:t>•  </a:t>
            </a:r>
            <a:r>
              <a:rPr sz="1000" dirty="0">
                <a:solidFill>
                  <a:srgbClr val="2B2026"/>
                </a:solidFill>
              </a:rPr>
              <a:t>Portfolio list with scores &amp; bands, bank dashboard</a:t>
            </a:r>
          </a:p>
          <a:p>
            <a:pPr>
              <a:spcAft>
                <a:spcPts val="200"/>
              </a:spcAft>
            </a:pPr>
            <a:r>
              <a:rPr sz="1000" b="1" dirty="0">
                <a:solidFill>
                  <a:srgbClr val="974354"/>
                </a:solidFill>
              </a:rPr>
              <a:t>•  </a:t>
            </a:r>
            <a:r>
              <a:rPr sz="1000" dirty="0">
                <a:solidFill>
                  <a:srgbClr val="2B2026"/>
                </a:solidFill>
              </a:rPr>
              <a:t>Per-MSME tabs: Score, GST, Bank, ITR, MCA</a:t>
            </a:r>
          </a:p>
          <a:p>
            <a:pPr>
              <a:spcAft>
                <a:spcPts val="200"/>
              </a:spcAft>
            </a:pPr>
            <a:r>
              <a:rPr sz="1000" b="1" dirty="0">
                <a:solidFill>
                  <a:srgbClr val="974354"/>
                </a:solidFill>
              </a:rPr>
              <a:t>•  </a:t>
            </a:r>
            <a:r>
              <a:rPr sz="1000" dirty="0">
                <a:solidFill>
                  <a:srgbClr val="2B2026"/>
                </a:solidFill>
              </a:rPr>
              <a:t>Director drill-down with DIN verification</a:t>
            </a:r>
          </a:p>
        </p:txBody>
      </p:sp>
      <p:sp>
        <p:nvSpPr>
          <p:cNvPr id="136" name="fut_card"/>
          <p:cNvSpPr/>
          <p:nvPr/>
        </p:nvSpPr>
        <p:spPr>
          <a:xfrm>
            <a:off x="274320" y="3108960"/>
            <a:ext cx="2743200" cy="1600200"/>
          </a:xfrm>
          <a:prstGeom prst="roundRect">
            <a:avLst/>
          </a:prstGeom>
          <a:solidFill>
            <a:srgbClr val="FAF3F6"/>
          </a:solidFill>
          <a:ln w="9525">
            <a:solidFill>
              <a:srgbClr val="EAD9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rIns="91440" bIns="73152" rtlCol="0" anchor="t"/>
          <a:lstStyle/>
          <a:p>
            <a:pPr algn="ctr">
              <a:spcAft>
                <a:spcPts val="400"/>
              </a:spcAft>
            </a:pPr>
            <a:r>
              <a:rPr sz="1300" b="1" dirty="0">
                <a:solidFill>
                  <a:srgbClr val="F37021"/>
                </a:solidFill>
              </a:rPr>
              <a:t>MCA + DIN — 5th data source</a:t>
            </a:r>
          </a:p>
          <a:p>
            <a:pPr>
              <a:spcAft>
                <a:spcPts val="200"/>
              </a:spcAft>
            </a:pPr>
            <a:r>
              <a:rPr sz="1000" b="1" dirty="0">
                <a:solidFill>
                  <a:srgbClr val="974354"/>
                </a:solidFill>
              </a:rPr>
              <a:t>•  </a:t>
            </a:r>
            <a:r>
              <a:rPr sz="1000" dirty="0">
                <a:solidFill>
                  <a:srgbClr val="2B2026"/>
                </a:solidFill>
              </a:rPr>
              <a:t>Company status, capital, charges &amp; AGM compliance</a:t>
            </a:r>
          </a:p>
          <a:p>
            <a:pPr>
              <a:spcAft>
                <a:spcPts val="200"/>
              </a:spcAft>
            </a:pPr>
            <a:r>
              <a:rPr sz="1000" b="1" dirty="0">
                <a:solidFill>
                  <a:srgbClr val="974354"/>
                </a:solidFill>
              </a:rPr>
              <a:t>•  </a:t>
            </a:r>
            <a:r>
              <a:rPr sz="1000" dirty="0">
                <a:solidFill>
                  <a:srgbClr val="2B2026"/>
                </a:solidFill>
              </a:rPr>
              <a:t>Directors verified against DIN with individual PAN</a:t>
            </a:r>
          </a:p>
          <a:p>
            <a:pPr>
              <a:spcAft>
                <a:spcPts val="200"/>
              </a:spcAft>
            </a:pPr>
            <a:r>
              <a:rPr sz="1000" b="1" dirty="0">
                <a:solidFill>
                  <a:srgbClr val="974354"/>
                </a:solidFill>
              </a:rPr>
              <a:t>•  </a:t>
            </a:r>
            <a:r>
              <a:rPr sz="1000" dirty="0">
                <a:solidFill>
                  <a:srgbClr val="2B2026"/>
                </a:solidFill>
              </a:rPr>
              <a:t>Follows entity type — shown only for companies</a:t>
            </a:r>
          </a:p>
        </p:txBody>
      </p:sp>
      <p:sp>
        <p:nvSpPr>
          <p:cNvPr id="137" name="fut_card"/>
          <p:cNvSpPr/>
          <p:nvPr/>
        </p:nvSpPr>
        <p:spPr>
          <a:xfrm>
            <a:off x="3200400" y="3108960"/>
            <a:ext cx="2743200" cy="1600200"/>
          </a:xfrm>
          <a:prstGeom prst="roundRect">
            <a:avLst/>
          </a:prstGeom>
          <a:solidFill>
            <a:srgbClr val="FAF3F6"/>
          </a:solidFill>
          <a:ln w="9525">
            <a:solidFill>
              <a:srgbClr val="EAD9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rIns="91440" bIns="73152" rtlCol="0" anchor="t"/>
          <a:lstStyle/>
          <a:p>
            <a:pPr algn="ctr">
              <a:spcAft>
                <a:spcPts val="400"/>
              </a:spcAft>
            </a:pPr>
            <a:r>
              <a:rPr sz="1300" b="1" dirty="0">
                <a:solidFill>
                  <a:srgbClr val="F37021"/>
                </a:solidFill>
              </a:rPr>
              <a:t>ITR now inside the score</a:t>
            </a:r>
          </a:p>
          <a:p>
            <a:pPr>
              <a:spcAft>
                <a:spcPts val="200"/>
              </a:spcAft>
            </a:pPr>
            <a:r>
              <a:rPr sz="1000" b="1" dirty="0">
                <a:solidFill>
                  <a:srgbClr val="974354"/>
                </a:solidFill>
              </a:rPr>
              <a:t>•  </a:t>
            </a:r>
            <a:r>
              <a:rPr sz="1000" dirty="0">
                <a:solidFill>
                  <a:srgbClr val="2B2026"/>
                </a:solidFill>
              </a:rPr>
              <a:t>Filing timeliness, e-verification, tax paid ratio</a:t>
            </a:r>
          </a:p>
          <a:p>
            <a:pPr>
              <a:spcAft>
                <a:spcPts val="200"/>
              </a:spcAft>
            </a:pPr>
            <a:r>
              <a:rPr sz="1000" b="1" dirty="0">
                <a:solidFill>
                  <a:srgbClr val="974354"/>
                </a:solidFill>
              </a:rPr>
              <a:t>•  </a:t>
            </a:r>
            <a:r>
              <a:rPr sz="1000" dirty="0">
                <a:solidFill>
                  <a:srgbClr val="2B2026"/>
                </a:solidFill>
              </a:rPr>
              <a:t>44AB audit and tax-demand signals</a:t>
            </a:r>
          </a:p>
          <a:p>
            <a:pPr>
              <a:spcAft>
                <a:spcPts val="200"/>
              </a:spcAft>
            </a:pPr>
            <a:r>
              <a:rPr sz="1000" b="1" dirty="0">
                <a:solidFill>
                  <a:srgbClr val="974354"/>
                </a:solidFill>
              </a:rPr>
              <a:t>•  </a:t>
            </a:r>
            <a:r>
              <a:rPr sz="1000" dirty="0">
                <a:solidFill>
                  <a:srgbClr val="2B2026"/>
                </a:solidFill>
              </a:rPr>
              <a:t>GST ↔ ITR turnover reconciliation</a:t>
            </a:r>
          </a:p>
        </p:txBody>
      </p:sp>
      <p:sp>
        <p:nvSpPr>
          <p:cNvPr id="138" name="fut_card"/>
          <p:cNvSpPr/>
          <p:nvPr/>
        </p:nvSpPr>
        <p:spPr>
          <a:xfrm>
            <a:off x="6126480" y="3108960"/>
            <a:ext cx="2743200" cy="1600200"/>
          </a:xfrm>
          <a:prstGeom prst="roundRect">
            <a:avLst/>
          </a:prstGeom>
          <a:solidFill>
            <a:srgbClr val="FAF3F6"/>
          </a:solidFill>
          <a:ln w="9525">
            <a:solidFill>
              <a:srgbClr val="EAD9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rIns="91440" bIns="73152" rtlCol="0" anchor="t"/>
          <a:lstStyle/>
          <a:p>
            <a:pPr algn="ctr">
              <a:spcAft>
                <a:spcPts val="400"/>
              </a:spcAft>
            </a:pPr>
            <a:r>
              <a:rPr sz="1300" b="1" dirty="0">
                <a:solidFill>
                  <a:srgbClr val="F37021"/>
                </a:solidFill>
              </a:rPr>
              <a:t>Lending, Report &amp; Access</a:t>
            </a:r>
          </a:p>
          <a:p>
            <a:pPr>
              <a:spcAft>
                <a:spcPts val="200"/>
              </a:spcAft>
            </a:pPr>
            <a:r>
              <a:rPr sz="1000" b="1" dirty="0">
                <a:solidFill>
                  <a:srgbClr val="974354"/>
                </a:solidFill>
              </a:rPr>
              <a:t>•  </a:t>
            </a:r>
            <a:r>
              <a:rPr sz="1000" dirty="0">
                <a:solidFill>
                  <a:srgbClr val="2B2026"/>
                </a:solidFill>
              </a:rPr>
              <a:t>Working-capital limit (Nayak) + term-loan capacity</a:t>
            </a:r>
          </a:p>
          <a:p>
            <a:pPr>
              <a:spcAft>
                <a:spcPts val="200"/>
              </a:spcAft>
            </a:pPr>
            <a:r>
              <a:rPr sz="1000" b="1" dirty="0">
                <a:solidFill>
                  <a:srgbClr val="974354"/>
                </a:solidFill>
              </a:rPr>
              <a:t>•  </a:t>
            </a:r>
            <a:r>
              <a:rPr sz="1000" dirty="0">
                <a:solidFill>
                  <a:srgbClr val="2B2026"/>
                </a:solidFill>
              </a:rPr>
              <a:t>14-ratio appraisal, printable report, email delivery</a:t>
            </a:r>
          </a:p>
          <a:p>
            <a:pPr>
              <a:spcAft>
                <a:spcPts val="200"/>
              </a:spcAft>
            </a:pPr>
            <a:r>
              <a:rPr sz="1000" b="1" dirty="0">
                <a:solidFill>
                  <a:srgbClr val="974354"/>
                </a:solidFill>
              </a:rPr>
              <a:t>•  </a:t>
            </a:r>
            <a:r>
              <a:rPr sz="1000" dirty="0">
                <a:solidFill>
                  <a:srgbClr val="2B2026"/>
                </a:solidFill>
              </a:rPr>
              <a:t>5 seeded demo MSMEs · 7 languages · IDBI palette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/>
        </p:nvSpPr>
        <p:spPr>
          <a:xfrm>
            <a:off x="201000" y="593476"/>
            <a:ext cx="8606669" cy="4320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 dirty="0"/>
              <a:t>Process flow diagram or Use-case diagram</a:t>
            </a:r>
            <a:endParaRPr b="1" dirty="0"/>
          </a:p>
        </p:txBody>
      </p:sp>
      <p:pic>
        <p:nvPicPr>
          <p:cNvPr id="82" name="Google Shape;82;p17" title="IDBI banner deck 2.png"/>
          <p:cNvPicPr preferRelativeResize="0"/>
          <p:nvPr/>
        </p:nvPicPr>
        <p:blipFill rotWithShape="1">
          <a:blip r:embed="rId3">
            <a:alphaModFix/>
          </a:blip>
          <a:srcRect b="88462"/>
          <a:stretch/>
        </p:blipFill>
        <p:spPr>
          <a:xfrm>
            <a:off x="0" y="0"/>
            <a:ext cx="9144000" cy="593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7" title="IDBI banner deck 2.png"/>
          <p:cNvPicPr preferRelativeResize="0"/>
          <p:nvPr/>
        </p:nvPicPr>
        <p:blipFill rotWithShape="1">
          <a:blip r:embed="rId3">
            <a:alphaModFix/>
          </a:blip>
          <a:srcRect t="98077"/>
          <a:stretch/>
        </p:blipFill>
        <p:spPr>
          <a:xfrm>
            <a:off x="0" y="5044576"/>
            <a:ext cx="9144000" cy="98925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arch_label"/>
          <p:cNvSpPr txBox="1"/>
          <p:nvPr/>
        </p:nvSpPr>
        <p:spPr>
          <a:xfrm>
            <a:off x="274320" y="1030000"/>
            <a:ext cx="2045970" cy="20000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l"/>
            <a:r>
              <a:rPr lang="en-US" sz="800" dirty="0">
                <a:solidFill>
                  <a:srgbClr val="6B6760"/>
                </a:solidFill>
              </a:rPr>
              <a:t>1 · Onboard &amp; log in</a:t>
            </a:r>
          </a:p>
        </p:txBody>
      </p:sp>
      <p:sp>
        <p:nvSpPr>
          <p:cNvPr id="336" name="arch_box"/>
          <p:cNvSpPr/>
          <p:nvPr/>
        </p:nvSpPr>
        <p:spPr>
          <a:xfrm>
            <a:off x="274320" y="1250000"/>
            <a:ext cx="2045970" cy="560000"/>
          </a:xfrm>
          <a:prstGeom prst="roundRect">
            <a:avLst>
              <a:gd name="adj" fmla="val 10000"/>
            </a:avLst>
          </a:prstGeom>
          <a:solidFill>
            <a:srgbClr val="EEEEFF"/>
          </a:solidFill>
          <a:ln w="9525">
            <a:solidFill>
              <a:srgbClr val="9A98E6"/>
            </a:solidFill>
          </a:ln>
        </p:spPr>
        <p:txBody>
          <a:bodyPr wrap="square" lIns="73152" tIns="27432" rIns="73152" bIns="27432" rtlCol="0" anchor="ctr">
            <a:normAutofit/>
          </a:bodyPr>
          <a:lstStyle/>
          <a:p>
            <a:pPr algn="l"/>
            <a:r>
              <a:rPr lang="en-US" sz="900" b="1" dirty="0">
                <a:solidFill>
                  <a:srgbClr val="2E2C8A"/>
                </a:solidFill>
              </a:rPr>
              <a:t>1. Enter Udyam number</a:t>
            </a:r>
          </a:p>
          <a:p>
            <a:pPr algn="l"/>
            <a:r>
              <a:rPr lang="en-US" sz="750" dirty="0">
                <a:solidFill>
                  <a:srgbClr val="5C5AB8"/>
                </a:solidFill>
              </a:rPr>
              <a:t>Udyam registry lookup fetches the enterprise profile</a:t>
            </a:r>
          </a:p>
        </p:txBody>
      </p:sp>
      <p:cxnSp>
        <p:nvCxnSpPr>
          <p:cNvPr id="337" name="arch_arrow"/>
          <p:cNvCxnSpPr/>
          <p:nvPr/>
        </p:nvCxnSpPr>
        <p:spPr>
          <a:xfrm>
            <a:off x="1297305" y="1810000"/>
            <a:ext cx="0" cy="120000"/>
          </a:xfrm>
          <a:prstGeom prst="straightConnector1">
            <a:avLst/>
          </a:prstGeom>
          <a:ln w="12700">
            <a:solidFill>
              <a:srgbClr val="8A8780"/>
            </a:solidFill>
            <a:tailEnd type="triangle" w="med" len="med"/>
          </a:ln>
        </p:spPr>
      </p:cxnSp>
      <p:sp>
        <p:nvSpPr>
          <p:cNvPr id="338" name="arch_box"/>
          <p:cNvSpPr/>
          <p:nvPr/>
        </p:nvSpPr>
        <p:spPr>
          <a:xfrm>
            <a:off x="274320" y="1930000"/>
            <a:ext cx="2045970" cy="700000"/>
          </a:xfrm>
          <a:prstGeom prst="roundRect">
            <a:avLst>
              <a:gd name="adj" fmla="val 10000"/>
            </a:avLst>
          </a:prstGeom>
          <a:solidFill>
            <a:srgbClr val="EEEEFF"/>
          </a:solidFill>
          <a:ln w="9525">
            <a:solidFill>
              <a:srgbClr val="9A98E6"/>
            </a:solidFill>
          </a:ln>
        </p:spPr>
        <p:txBody>
          <a:bodyPr wrap="square" lIns="73152" tIns="27432" rIns="73152" bIns="27432" rtlCol="0" anchor="ctr">
            <a:normAutofit/>
          </a:bodyPr>
          <a:lstStyle/>
          <a:p>
            <a:pPr algn="l"/>
            <a:r>
              <a:rPr lang="en-US" sz="900" b="1" dirty="0">
                <a:solidFill>
                  <a:srgbClr val="2E2C8A"/>
                </a:solidFill>
              </a:rPr>
              <a:t>2. Review &amp; consent</a:t>
            </a:r>
          </a:p>
          <a:p>
            <a:pPr algn="l"/>
            <a:r>
              <a:rPr lang="en-US" sz="750" dirty="0">
                <a:solidFill>
                  <a:srgbClr val="5C5AB8"/>
                </a:solidFill>
              </a:rPr>
              <a:t>Owner confirms details, email + mobile, gives consent and registers (mobile seeded in the Finvu SimBanks sandbox)</a:t>
            </a:r>
          </a:p>
        </p:txBody>
      </p:sp>
      <p:cxnSp>
        <p:nvCxnSpPr>
          <p:cNvPr id="339" name="arch_arrow"/>
          <p:cNvCxnSpPr/>
          <p:nvPr/>
        </p:nvCxnSpPr>
        <p:spPr>
          <a:xfrm>
            <a:off x="1297305" y="2630000"/>
            <a:ext cx="0" cy="120000"/>
          </a:xfrm>
          <a:prstGeom prst="straightConnector1">
            <a:avLst/>
          </a:prstGeom>
          <a:ln w="12700">
            <a:solidFill>
              <a:srgbClr val="8A8780"/>
            </a:solidFill>
            <a:tailEnd type="triangle" w="med" len="med"/>
          </a:ln>
        </p:spPr>
      </p:cxnSp>
      <p:sp>
        <p:nvSpPr>
          <p:cNvPr id="340" name="arch_box"/>
          <p:cNvSpPr/>
          <p:nvPr/>
        </p:nvSpPr>
        <p:spPr>
          <a:xfrm>
            <a:off x="274320" y="2750000"/>
            <a:ext cx="2045970" cy="560000"/>
          </a:xfrm>
          <a:prstGeom prst="roundRect">
            <a:avLst>
              <a:gd name="adj" fmla="val 10000"/>
            </a:avLst>
          </a:prstGeom>
          <a:solidFill>
            <a:srgbClr val="EEEEFF"/>
          </a:solidFill>
          <a:ln w="9525">
            <a:solidFill>
              <a:srgbClr val="9A98E6"/>
            </a:solidFill>
          </a:ln>
        </p:spPr>
        <p:txBody>
          <a:bodyPr wrap="square" lIns="73152" tIns="27432" rIns="73152" bIns="27432" rtlCol="0" anchor="ctr">
            <a:normAutofit/>
          </a:bodyPr>
          <a:lstStyle/>
          <a:p>
            <a:pPr algn="l"/>
            <a:r>
              <a:rPr lang="en-US" sz="900" b="1" dirty="0">
                <a:solidFill>
                  <a:srgbClr val="2E2C8A"/>
                </a:solidFill>
              </a:rPr>
              <a:t>3. Email OTP → dashboard</a:t>
            </a:r>
          </a:p>
          <a:p>
            <a:pPr algn="l"/>
            <a:r>
              <a:rPr lang="en-US" sz="750" dirty="0">
                <a:solidFill>
                  <a:srgbClr val="5C5AB8"/>
                </a:solidFill>
              </a:rPr>
              <a:t>OTP verified, session starts, routed by status</a:t>
            </a:r>
          </a:p>
        </p:txBody>
      </p:sp>
      <p:sp>
        <p:nvSpPr>
          <p:cNvPr id="341" name="arch_box"/>
          <p:cNvSpPr/>
          <p:nvPr/>
        </p:nvSpPr>
        <p:spPr>
          <a:xfrm>
            <a:off x="274320" y="3450000"/>
            <a:ext cx="2045970" cy="48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A9A69C"/>
            </a:solidFill>
            <a:prstDash val="dash"/>
          </a:ln>
        </p:spPr>
        <p:txBody>
          <a:bodyPr wrap="square" lIns="73152" tIns="27432" rIns="73152" bIns="27432" rtlCol="0" anchor="ctr">
            <a:normAutofit/>
          </a:bodyPr>
          <a:lstStyle/>
          <a:p>
            <a:pPr algn="l"/>
            <a:r>
              <a:rPr lang="en-US" sz="850" b="1" dirty="0">
                <a:solidFill>
                  <a:srgbClr val="7A766D"/>
                </a:solidFill>
              </a:rPr>
              <a:t>Existing MSME</a:t>
            </a:r>
          </a:p>
          <a:p>
            <a:pPr algn="l"/>
            <a:r>
              <a:rPr lang="en-US" sz="750" dirty="0">
                <a:solidFill>
                  <a:srgbClr val="8F8B82"/>
                </a:solidFill>
              </a:rPr>
              <a:t>/Auth/CustLogin → email → OTP → dashboard</a:t>
            </a:r>
          </a:p>
        </p:txBody>
      </p:sp>
      <p:cxnSp>
        <p:nvCxnSpPr>
          <p:cNvPr id="342" name="arch_arrow"/>
          <p:cNvCxnSpPr/>
          <p:nvPr/>
        </p:nvCxnSpPr>
        <p:spPr>
          <a:xfrm>
            <a:off x="2320290" y="1530000"/>
            <a:ext cx="137160" cy="0"/>
          </a:xfrm>
          <a:prstGeom prst="straightConnector1">
            <a:avLst/>
          </a:prstGeom>
          <a:ln w="12700">
            <a:solidFill>
              <a:srgbClr val="8A8780"/>
            </a:solidFill>
            <a:tailEnd type="triangle" w="med" len="med"/>
          </a:ln>
        </p:spPr>
      </p:cxnSp>
      <p:sp>
        <p:nvSpPr>
          <p:cNvPr id="343" name="arch_label"/>
          <p:cNvSpPr txBox="1"/>
          <p:nvPr/>
        </p:nvSpPr>
        <p:spPr>
          <a:xfrm>
            <a:off x="2457450" y="1030000"/>
            <a:ext cx="2045970" cy="20000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l"/>
            <a:r>
              <a:rPr lang="en-US" sz="800" dirty="0">
                <a:solidFill>
                  <a:srgbClr val="6B6760"/>
                </a:solidFill>
              </a:rPr>
              <a:t>2 · Collect data (one button each)</a:t>
            </a:r>
          </a:p>
        </p:txBody>
      </p:sp>
      <p:sp>
        <p:nvSpPr>
          <p:cNvPr id="344" name="arch_box"/>
          <p:cNvSpPr/>
          <p:nvPr/>
        </p:nvSpPr>
        <p:spPr>
          <a:xfrm>
            <a:off x="2457450" y="1250000"/>
            <a:ext cx="2045970" cy="560000"/>
          </a:xfrm>
          <a:prstGeom prst="roundRect">
            <a:avLst>
              <a:gd name="adj" fmla="val 10000"/>
            </a:avLst>
          </a:prstGeom>
          <a:solidFill>
            <a:srgbClr val="F1EFE8"/>
          </a:solidFill>
          <a:ln w="9525">
            <a:solidFill>
              <a:srgbClr val="A9A69C"/>
            </a:solidFill>
          </a:ln>
        </p:spPr>
        <p:txBody>
          <a:bodyPr wrap="square" lIns="73152" tIns="27432" rIns="73152" bIns="27432" rtlCol="0" anchor="ctr">
            <a:normAutofit/>
          </a:bodyPr>
          <a:lstStyle/>
          <a:p>
            <a:pPr algn="l"/>
            <a:r>
              <a:rPr lang="en-US" sz="900" b="1" dirty="0">
                <a:solidFill>
                  <a:srgbClr val="3B3833"/>
                </a:solidFill>
              </a:rPr>
              <a:t>4a. GST</a:t>
            </a:r>
          </a:p>
          <a:p>
            <a:pPr algn="l"/>
            <a:r>
              <a:rPr lang="en-US" sz="750" dirty="0">
                <a:solidFill>
                  <a:srgbClr val="5E5A52"/>
                </a:solidFill>
              </a:rPr>
              <a:t>12 months × 7 return files — GSTR-1, 2A, 2B, 3B, HSN, credit notes</a:t>
            </a:r>
          </a:p>
        </p:txBody>
      </p:sp>
      <p:cxnSp>
        <p:nvCxnSpPr>
          <p:cNvPr id="345" name="arch_arrow"/>
          <p:cNvCxnSpPr/>
          <p:nvPr/>
        </p:nvCxnSpPr>
        <p:spPr>
          <a:xfrm>
            <a:off x="3480435" y="1810000"/>
            <a:ext cx="0" cy="120000"/>
          </a:xfrm>
          <a:prstGeom prst="straightConnector1">
            <a:avLst/>
          </a:prstGeom>
          <a:ln w="12700">
            <a:solidFill>
              <a:srgbClr val="8A8780"/>
            </a:solidFill>
            <a:tailEnd type="triangle" w="med" len="med"/>
          </a:ln>
        </p:spPr>
      </p:cxnSp>
      <p:sp>
        <p:nvSpPr>
          <p:cNvPr id="346" name="arch_box"/>
          <p:cNvSpPr/>
          <p:nvPr/>
        </p:nvSpPr>
        <p:spPr>
          <a:xfrm>
            <a:off x="2457450" y="1930000"/>
            <a:ext cx="2045970" cy="560000"/>
          </a:xfrm>
          <a:prstGeom prst="roundRect">
            <a:avLst>
              <a:gd name="adj" fmla="val 10000"/>
            </a:avLst>
          </a:prstGeom>
          <a:solidFill>
            <a:srgbClr val="F1EFE8"/>
          </a:solidFill>
          <a:ln w="9525">
            <a:solidFill>
              <a:srgbClr val="A9A69C"/>
            </a:solidFill>
          </a:ln>
        </p:spPr>
        <p:txBody>
          <a:bodyPr wrap="square" lIns="73152" tIns="27432" rIns="73152" bIns="27432" rtlCol="0" anchor="ctr">
            <a:normAutofit/>
          </a:bodyPr>
          <a:lstStyle/>
          <a:p>
            <a:pPr algn="l"/>
            <a:r>
              <a:rPr lang="en-US" sz="900" b="1" dirty="0">
                <a:solidFill>
                  <a:srgbClr val="3B3833"/>
                </a:solidFill>
              </a:rPr>
              <a:t>4b. Bank statements (AA)</a:t>
            </a:r>
          </a:p>
          <a:p>
            <a:pPr algn="l"/>
            <a:r>
              <a:rPr lang="en-US" sz="750" dirty="0">
                <a:solidFill>
                  <a:srgbClr val="5E5A52"/>
                </a:solidFill>
              </a:rPr>
              <a:t>Finvu consent → owner approves → FI fetch of the statement</a:t>
            </a:r>
          </a:p>
        </p:txBody>
      </p:sp>
      <p:cxnSp>
        <p:nvCxnSpPr>
          <p:cNvPr id="347" name="arch_arrow"/>
          <p:cNvCxnSpPr/>
          <p:nvPr/>
        </p:nvCxnSpPr>
        <p:spPr>
          <a:xfrm>
            <a:off x="3480435" y="2490000"/>
            <a:ext cx="0" cy="120000"/>
          </a:xfrm>
          <a:prstGeom prst="straightConnector1">
            <a:avLst/>
          </a:prstGeom>
          <a:ln w="12700">
            <a:solidFill>
              <a:srgbClr val="8A8780"/>
            </a:solidFill>
            <a:tailEnd type="triangle" w="med" len="med"/>
          </a:ln>
        </p:spPr>
      </p:cxnSp>
      <p:sp>
        <p:nvSpPr>
          <p:cNvPr id="348" name="arch_box"/>
          <p:cNvSpPr/>
          <p:nvPr/>
        </p:nvSpPr>
        <p:spPr>
          <a:xfrm>
            <a:off x="2457450" y="2610000"/>
            <a:ext cx="2045970" cy="460000"/>
          </a:xfrm>
          <a:prstGeom prst="roundRect">
            <a:avLst>
              <a:gd name="adj" fmla="val 10000"/>
            </a:avLst>
          </a:prstGeom>
          <a:solidFill>
            <a:srgbClr val="F1EFE8"/>
          </a:solidFill>
          <a:ln w="9525">
            <a:solidFill>
              <a:srgbClr val="A9A69C"/>
            </a:solidFill>
          </a:ln>
        </p:spPr>
        <p:txBody>
          <a:bodyPr wrap="square" lIns="73152" tIns="27432" rIns="73152" bIns="27432" rtlCol="0" anchor="ctr">
            <a:normAutofit/>
          </a:bodyPr>
          <a:lstStyle/>
          <a:p>
            <a:pPr algn="l"/>
            <a:r>
              <a:rPr lang="en-US" sz="900" b="1" dirty="0">
                <a:solidFill>
                  <a:srgbClr val="3B3833"/>
                </a:solidFill>
              </a:rPr>
              <a:t>4c. ITR</a:t>
            </a:r>
          </a:p>
          <a:p>
            <a:pPr algn="l"/>
            <a:r>
              <a:rPr lang="en-US" sz="750" dirty="0">
                <a:solidFill>
                  <a:srgbClr val="5E5A52"/>
                </a:solidFill>
              </a:rPr>
              <a:t>Filing, income, tax paid, audit</a:t>
            </a:r>
          </a:p>
        </p:txBody>
      </p:sp>
      <p:cxnSp>
        <p:nvCxnSpPr>
          <p:cNvPr id="349" name="arch_arrow"/>
          <p:cNvCxnSpPr/>
          <p:nvPr/>
        </p:nvCxnSpPr>
        <p:spPr>
          <a:xfrm>
            <a:off x="3480435" y="3070000"/>
            <a:ext cx="0" cy="120000"/>
          </a:xfrm>
          <a:prstGeom prst="straightConnector1">
            <a:avLst/>
          </a:prstGeom>
          <a:ln w="12700">
            <a:solidFill>
              <a:srgbClr val="8A8780"/>
            </a:solidFill>
            <a:tailEnd type="triangle" w="med" len="med"/>
          </a:ln>
        </p:spPr>
      </p:cxnSp>
      <p:sp>
        <p:nvSpPr>
          <p:cNvPr id="350" name="arch_box"/>
          <p:cNvSpPr/>
          <p:nvPr/>
        </p:nvSpPr>
        <p:spPr>
          <a:xfrm>
            <a:off x="2457450" y="3190000"/>
            <a:ext cx="2045970" cy="460000"/>
          </a:xfrm>
          <a:prstGeom prst="roundRect">
            <a:avLst>
              <a:gd name="adj" fmla="val 10000"/>
            </a:avLst>
          </a:prstGeom>
          <a:solidFill>
            <a:srgbClr val="F1EFE8"/>
          </a:solidFill>
          <a:ln w="9525">
            <a:solidFill>
              <a:srgbClr val="A9A69C"/>
            </a:solidFill>
          </a:ln>
        </p:spPr>
        <p:txBody>
          <a:bodyPr wrap="square" lIns="73152" tIns="27432" rIns="73152" bIns="27432" rtlCol="0" anchor="ctr">
            <a:normAutofit/>
          </a:bodyPr>
          <a:lstStyle/>
          <a:p>
            <a:pPr algn="l"/>
            <a:r>
              <a:rPr lang="en-US" sz="900" b="1" dirty="0">
                <a:solidFill>
                  <a:srgbClr val="3B3833"/>
                </a:solidFill>
              </a:rPr>
              <a:t>4d. MCA + DIN</a:t>
            </a:r>
          </a:p>
          <a:p>
            <a:pPr algn="l"/>
            <a:r>
              <a:rPr lang="en-US" sz="750" dirty="0">
                <a:solidFill>
                  <a:srgbClr val="5E5A52"/>
                </a:solidFill>
              </a:rPr>
              <a:t>Companies only — status, charges, directors</a:t>
            </a:r>
          </a:p>
        </p:txBody>
      </p:sp>
      <p:sp>
        <p:nvSpPr>
          <p:cNvPr id="351" name="arch_box"/>
          <p:cNvSpPr/>
          <p:nvPr/>
        </p:nvSpPr>
        <p:spPr>
          <a:xfrm>
            <a:off x="2457450" y="3790000"/>
            <a:ext cx="2045970" cy="48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A9A69C"/>
            </a:solidFill>
            <a:prstDash val="dash"/>
          </a:ln>
        </p:spPr>
        <p:txBody>
          <a:bodyPr wrap="square" lIns="73152" tIns="27432" rIns="73152" bIns="27432" rtlCol="0" anchor="ctr">
            <a:normAutofit/>
          </a:bodyPr>
          <a:lstStyle/>
          <a:p>
            <a:pPr algn="l"/>
            <a:r>
              <a:rPr lang="en-US" sz="850" b="1" dirty="0">
                <a:solidFill>
                  <a:srgbClr val="7A766D"/>
                </a:solidFill>
              </a:rPr>
              <a:t>Stored per MSME</a:t>
            </a:r>
          </a:p>
          <a:p>
            <a:pPr algn="l"/>
            <a:r>
              <a:rPr lang="en-US" sz="750" dirty="0">
                <a:solidFill>
                  <a:srgbClr val="8F8B82"/>
                </a:solidFill>
              </a:rPr>
              <a:t>each source saved as JSON in the &lt;UAN&gt;/ blob folder; fetched sources are locked</a:t>
            </a:r>
          </a:p>
        </p:txBody>
      </p:sp>
      <p:cxnSp>
        <p:nvCxnSpPr>
          <p:cNvPr id="352" name="arch_arrow"/>
          <p:cNvCxnSpPr/>
          <p:nvPr/>
        </p:nvCxnSpPr>
        <p:spPr>
          <a:xfrm>
            <a:off x="4503420" y="1530000"/>
            <a:ext cx="137160" cy="0"/>
          </a:xfrm>
          <a:prstGeom prst="straightConnector1">
            <a:avLst/>
          </a:prstGeom>
          <a:ln w="12700">
            <a:solidFill>
              <a:srgbClr val="8A8780"/>
            </a:solidFill>
            <a:tailEnd type="triangle" w="med" len="med"/>
          </a:ln>
        </p:spPr>
      </p:cxnSp>
      <p:sp>
        <p:nvSpPr>
          <p:cNvPr id="353" name="arch_label"/>
          <p:cNvSpPr txBox="1"/>
          <p:nvPr/>
        </p:nvSpPr>
        <p:spPr>
          <a:xfrm>
            <a:off x="4640580" y="1030000"/>
            <a:ext cx="2045970" cy="20000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l"/>
            <a:r>
              <a:rPr lang="en-US" sz="800" dirty="0">
                <a:solidFill>
                  <a:srgbClr val="6B6760"/>
                </a:solidFill>
              </a:rPr>
              <a:t>3 · Score</a:t>
            </a:r>
          </a:p>
        </p:txBody>
      </p:sp>
      <p:sp>
        <p:nvSpPr>
          <p:cNvPr id="354" name="arch_box"/>
          <p:cNvSpPr/>
          <p:nvPr/>
        </p:nvSpPr>
        <p:spPr>
          <a:xfrm>
            <a:off x="4640580" y="1250000"/>
            <a:ext cx="2045970" cy="700000"/>
          </a:xfrm>
          <a:prstGeom prst="roundRect">
            <a:avLst>
              <a:gd name="adj" fmla="val 10000"/>
            </a:avLst>
          </a:prstGeom>
          <a:solidFill>
            <a:srgbClr val="FCF1DD"/>
          </a:solidFill>
          <a:ln w="9525">
            <a:solidFill>
              <a:srgbClr val="C07E12"/>
            </a:solidFill>
          </a:ln>
        </p:spPr>
        <p:txBody>
          <a:bodyPr wrap="square" lIns="73152" tIns="27432" rIns="73152" bIns="27432" rtlCol="0" anchor="ctr">
            <a:normAutofit/>
          </a:bodyPr>
          <a:lstStyle/>
          <a:p>
            <a:pPr algn="l"/>
            <a:r>
              <a:rPr lang="en-US" sz="900" b="1" dirty="0">
                <a:solidFill>
                  <a:srgbClr val="7A4B00"/>
                </a:solidFill>
              </a:rPr>
              <a:t>5. Analyze</a:t>
            </a:r>
          </a:p>
          <a:p>
            <a:pPr algn="l"/>
            <a:r>
              <a:rPr lang="en-US" sz="750" dirty="0">
                <a:solidFill>
                  <a:srgbClr val="9C6510"/>
                </a:solidFill>
              </a:rPr>
              <a:t>Five extractors read every file; a missing source redistributes its weight (neutral baseline)</a:t>
            </a:r>
          </a:p>
        </p:txBody>
      </p:sp>
      <p:cxnSp>
        <p:nvCxnSpPr>
          <p:cNvPr id="355" name="arch_arrow"/>
          <p:cNvCxnSpPr/>
          <p:nvPr/>
        </p:nvCxnSpPr>
        <p:spPr>
          <a:xfrm>
            <a:off x="5663565" y="1950000"/>
            <a:ext cx="0" cy="120000"/>
          </a:xfrm>
          <a:prstGeom prst="straightConnector1">
            <a:avLst/>
          </a:prstGeom>
          <a:ln w="12700">
            <a:solidFill>
              <a:srgbClr val="8A8780"/>
            </a:solidFill>
            <a:tailEnd type="triangle" w="med" len="med"/>
          </a:ln>
        </p:spPr>
      </p:cxnSp>
      <p:sp>
        <p:nvSpPr>
          <p:cNvPr id="356" name="arch_box"/>
          <p:cNvSpPr/>
          <p:nvPr/>
        </p:nvSpPr>
        <p:spPr>
          <a:xfrm>
            <a:off x="4640580" y="2070000"/>
            <a:ext cx="2045970" cy="760000"/>
          </a:xfrm>
          <a:prstGeom prst="roundRect">
            <a:avLst>
              <a:gd name="adj" fmla="val 10000"/>
            </a:avLst>
          </a:prstGeom>
          <a:solidFill>
            <a:srgbClr val="FCF1DD"/>
          </a:solidFill>
          <a:ln w="9525">
            <a:solidFill>
              <a:srgbClr val="C07E12"/>
            </a:solidFill>
          </a:ln>
        </p:spPr>
        <p:txBody>
          <a:bodyPr wrap="square" lIns="73152" tIns="27432" rIns="73152" bIns="27432" rtlCol="0" anchor="ctr">
            <a:normAutofit/>
          </a:bodyPr>
          <a:lstStyle/>
          <a:p>
            <a:pPr algn="l"/>
            <a:r>
              <a:rPr lang="en-US" sz="900" b="1" dirty="0">
                <a:solidFill>
                  <a:srgbClr val="7A4B00"/>
                </a:solidFill>
              </a:rPr>
              <a:t>6. Rules 0.6 + LightGBM 0.4</a:t>
            </a:r>
          </a:p>
          <a:p>
            <a:pPr algn="l"/>
            <a:r>
              <a:rPr lang="en-US" sz="750" dirty="0">
                <a:solidFill>
                  <a:srgbClr val="9C6510"/>
                </a:solidFill>
              </a:rPr>
              <a:t>Six dimensions · 0–1000 · band · PFI reasons · GST-ITR-bank anomaly · lending eligibility &amp; products</a:t>
            </a:r>
          </a:p>
        </p:txBody>
      </p:sp>
      <p:cxnSp>
        <p:nvCxnSpPr>
          <p:cNvPr id="357" name="arch_arrow"/>
          <p:cNvCxnSpPr/>
          <p:nvPr/>
        </p:nvCxnSpPr>
        <p:spPr>
          <a:xfrm>
            <a:off x="5663565" y="2830000"/>
            <a:ext cx="0" cy="120000"/>
          </a:xfrm>
          <a:prstGeom prst="straightConnector1">
            <a:avLst/>
          </a:prstGeom>
          <a:ln w="12700">
            <a:solidFill>
              <a:srgbClr val="8A8780"/>
            </a:solidFill>
            <a:tailEnd type="triangle" w="med" len="med"/>
          </a:ln>
        </p:spPr>
      </p:cxnSp>
      <p:sp>
        <p:nvSpPr>
          <p:cNvPr id="358" name="arch_box"/>
          <p:cNvSpPr/>
          <p:nvPr/>
        </p:nvSpPr>
        <p:spPr>
          <a:xfrm>
            <a:off x="4640580" y="2950000"/>
            <a:ext cx="2045970" cy="620000"/>
          </a:xfrm>
          <a:prstGeom prst="roundRect">
            <a:avLst>
              <a:gd name="adj" fmla="val 10000"/>
            </a:avLst>
          </a:prstGeom>
          <a:solidFill>
            <a:srgbClr val="FCF1DD"/>
          </a:solidFill>
          <a:ln w="9525">
            <a:solidFill>
              <a:srgbClr val="C07E12"/>
            </a:solidFill>
          </a:ln>
        </p:spPr>
        <p:txBody>
          <a:bodyPr wrap="square" lIns="73152" tIns="27432" rIns="73152" bIns="27432" rtlCol="0" anchor="ctr">
            <a:normAutofit/>
          </a:bodyPr>
          <a:lstStyle/>
          <a:p>
            <a:pPr algn="l"/>
            <a:r>
              <a:rPr lang="en-US" sz="900" b="1" dirty="0">
                <a:solidFill>
                  <a:srgbClr val="7A4B00"/>
                </a:solidFill>
              </a:rPr>
              <a:t>7. Persist</a:t>
            </a:r>
          </a:p>
          <a:p>
            <a:pPr algn="l"/>
            <a:r>
              <a:rPr lang="en-US" sz="750" dirty="0">
                <a:solidFill>
                  <a:srgbClr val="9C6510"/>
                </a:solidFill>
              </a:rPr>
              <a:t>result.json → Blob · score summary → SQL · score history appended → SQL</a:t>
            </a:r>
          </a:p>
        </p:txBody>
      </p:sp>
      <p:sp>
        <p:nvSpPr>
          <p:cNvPr id="359" name="arch_box"/>
          <p:cNvSpPr/>
          <p:nvPr/>
        </p:nvSpPr>
        <p:spPr>
          <a:xfrm>
            <a:off x="4640580" y="3710000"/>
            <a:ext cx="2045970" cy="48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A9A69C"/>
            </a:solidFill>
            <a:prstDash val="dash"/>
          </a:ln>
        </p:spPr>
        <p:txBody>
          <a:bodyPr wrap="square" lIns="73152" tIns="27432" rIns="73152" bIns="27432" rtlCol="0" anchor="ctr">
            <a:normAutofit/>
          </a:bodyPr>
          <a:lstStyle/>
          <a:p>
            <a:pPr algn="l"/>
            <a:r>
              <a:rPr lang="en-US" sz="850" b="1" dirty="0">
                <a:solidFill>
                  <a:srgbClr val="7A766D"/>
                </a:solidFill>
              </a:rPr>
              <a:t>Re-analyze</a:t>
            </a:r>
          </a:p>
          <a:p>
            <a:pPr algn="l"/>
            <a:r>
              <a:rPr lang="en-US" sz="750" dirty="0">
                <a:solidFill>
                  <a:srgbClr val="8F8B82"/>
                </a:solidFill>
              </a:rPr>
              <a:t>any time — re-runs 5–7 from the stored files; every run adds a history point</a:t>
            </a:r>
          </a:p>
        </p:txBody>
      </p:sp>
      <p:cxnSp>
        <p:nvCxnSpPr>
          <p:cNvPr id="360" name="arch_arrow"/>
          <p:cNvCxnSpPr/>
          <p:nvPr/>
        </p:nvCxnSpPr>
        <p:spPr>
          <a:xfrm>
            <a:off x="6686550" y="1530000"/>
            <a:ext cx="137160" cy="0"/>
          </a:xfrm>
          <a:prstGeom prst="straightConnector1">
            <a:avLst/>
          </a:prstGeom>
          <a:ln w="12700">
            <a:solidFill>
              <a:srgbClr val="8A8780"/>
            </a:solidFill>
            <a:tailEnd type="triangle" w="med" len="med"/>
          </a:ln>
        </p:spPr>
      </p:cxnSp>
      <p:sp>
        <p:nvSpPr>
          <p:cNvPr id="361" name="arch_label"/>
          <p:cNvSpPr txBox="1"/>
          <p:nvPr/>
        </p:nvSpPr>
        <p:spPr>
          <a:xfrm>
            <a:off x="6823710" y="1030000"/>
            <a:ext cx="2045970" cy="20000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l"/>
            <a:r>
              <a:rPr lang="en-US" sz="800" dirty="0">
                <a:solidFill>
                  <a:srgbClr val="6B6760"/>
                </a:solidFill>
              </a:rPr>
              <a:t>4 · Use the score</a:t>
            </a:r>
          </a:p>
        </p:txBody>
      </p:sp>
      <p:sp>
        <p:nvSpPr>
          <p:cNvPr id="362" name="arch_box"/>
          <p:cNvSpPr/>
          <p:nvPr/>
        </p:nvSpPr>
        <p:spPr>
          <a:xfrm>
            <a:off x="6823710" y="1250000"/>
            <a:ext cx="2045970" cy="560000"/>
          </a:xfrm>
          <a:prstGeom prst="roundRect">
            <a:avLst>
              <a:gd name="adj" fmla="val 10000"/>
            </a:avLst>
          </a:prstGeom>
          <a:solidFill>
            <a:srgbClr val="EEEBFF"/>
          </a:solidFill>
          <a:ln w="9525">
            <a:solidFill>
              <a:srgbClr val="7A78D6"/>
            </a:solidFill>
          </a:ln>
        </p:spPr>
        <p:txBody>
          <a:bodyPr wrap="square" lIns="73152" tIns="27432" rIns="73152" bIns="27432" rtlCol="0" anchor="ctr">
            <a:normAutofit/>
          </a:bodyPr>
          <a:lstStyle/>
          <a:p>
            <a:pPr algn="l"/>
            <a:r>
              <a:rPr lang="en-US" sz="900" b="1" dirty="0">
                <a:solidFill>
                  <a:srgbClr val="2E2C8A"/>
                </a:solidFill>
              </a:rPr>
              <a:t>8. Financial Health Card</a:t>
            </a:r>
          </a:p>
          <a:p>
            <a:pPr algn="l"/>
            <a:r>
              <a:rPr lang="en-US" sz="750" dirty="0">
                <a:solidFill>
                  <a:srgbClr val="5C5AB8"/>
                </a:solidFill>
              </a:rPr>
              <a:t>Gauge, 6-pillar radar, strengths &amp; risks, products, Score History</a:t>
            </a:r>
          </a:p>
        </p:txBody>
      </p:sp>
      <p:cxnSp>
        <p:nvCxnSpPr>
          <p:cNvPr id="363" name="arch_arrow"/>
          <p:cNvCxnSpPr/>
          <p:nvPr/>
        </p:nvCxnSpPr>
        <p:spPr>
          <a:xfrm>
            <a:off x="7846695" y="1810000"/>
            <a:ext cx="0" cy="120000"/>
          </a:xfrm>
          <a:prstGeom prst="straightConnector1">
            <a:avLst/>
          </a:prstGeom>
          <a:ln w="12700">
            <a:solidFill>
              <a:srgbClr val="8A8780"/>
            </a:solidFill>
            <a:tailEnd type="triangle" w="med" len="med"/>
          </a:ln>
        </p:spPr>
      </p:cxnSp>
      <p:sp>
        <p:nvSpPr>
          <p:cNvPr id="364" name="arch_box"/>
          <p:cNvSpPr/>
          <p:nvPr/>
        </p:nvSpPr>
        <p:spPr>
          <a:xfrm>
            <a:off x="6823710" y="1930000"/>
            <a:ext cx="2045970" cy="460000"/>
          </a:xfrm>
          <a:prstGeom prst="roundRect">
            <a:avLst>
              <a:gd name="adj" fmla="val 10000"/>
            </a:avLst>
          </a:prstGeom>
          <a:solidFill>
            <a:srgbClr val="EEEBFF"/>
          </a:solidFill>
          <a:ln w="9525">
            <a:solidFill>
              <a:srgbClr val="7A78D6"/>
            </a:solidFill>
          </a:ln>
        </p:spPr>
        <p:txBody>
          <a:bodyPr wrap="square" lIns="73152" tIns="27432" rIns="73152" bIns="27432" rtlCol="0" anchor="ctr">
            <a:normAutofit/>
          </a:bodyPr>
          <a:lstStyle/>
          <a:p>
            <a:pPr algn="l"/>
            <a:r>
              <a:rPr lang="en-US" sz="900" b="1" dirty="0">
                <a:solidFill>
                  <a:srgbClr val="2E2C8A"/>
                </a:solidFill>
              </a:rPr>
              <a:t>9. Financial Report</a:t>
            </a:r>
          </a:p>
          <a:p>
            <a:pPr algn="l"/>
            <a:r>
              <a:rPr lang="en-US" sz="750" dirty="0">
                <a:solidFill>
                  <a:srgbClr val="5C5AB8"/>
                </a:solidFill>
              </a:rPr>
              <a:t>Printable appraisal — print or email</a:t>
            </a:r>
          </a:p>
        </p:txBody>
      </p:sp>
      <p:cxnSp>
        <p:nvCxnSpPr>
          <p:cNvPr id="365" name="arch_arrow"/>
          <p:cNvCxnSpPr/>
          <p:nvPr/>
        </p:nvCxnSpPr>
        <p:spPr>
          <a:xfrm>
            <a:off x="7846695" y="2390000"/>
            <a:ext cx="0" cy="120000"/>
          </a:xfrm>
          <a:prstGeom prst="straightConnector1">
            <a:avLst/>
          </a:prstGeom>
          <a:ln w="12700">
            <a:solidFill>
              <a:srgbClr val="8A8780"/>
            </a:solidFill>
            <a:tailEnd type="triangle" w="med" len="med"/>
          </a:ln>
        </p:spPr>
      </p:cxnSp>
      <p:sp>
        <p:nvSpPr>
          <p:cNvPr id="366" name="arch_box"/>
          <p:cNvSpPr/>
          <p:nvPr/>
        </p:nvSpPr>
        <p:spPr>
          <a:xfrm>
            <a:off x="6823710" y="2510000"/>
            <a:ext cx="2045970" cy="620000"/>
          </a:xfrm>
          <a:prstGeom prst="roundRect">
            <a:avLst>
              <a:gd name="adj" fmla="val 10000"/>
            </a:avLst>
          </a:prstGeom>
          <a:solidFill>
            <a:srgbClr val="EEEBFF"/>
          </a:solidFill>
          <a:ln w="9525">
            <a:solidFill>
              <a:srgbClr val="7A78D6"/>
            </a:solidFill>
          </a:ln>
        </p:spPr>
        <p:txBody>
          <a:bodyPr wrap="square" lIns="73152" tIns="27432" rIns="73152" bIns="27432" rtlCol="0" anchor="ctr">
            <a:normAutofit/>
          </a:bodyPr>
          <a:lstStyle/>
          <a:p>
            <a:pPr algn="l"/>
            <a:r>
              <a:rPr lang="en-US" sz="900" b="1" dirty="0">
                <a:solidFill>
                  <a:srgbClr val="2E2C8A"/>
                </a:solidFill>
              </a:rPr>
              <a:t>10. Bank Portal</a:t>
            </a:r>
          </a:p>
          <a:p>
            <a:pPr algn="l"/>
            <a:r>
              <a:rPr lang="en-US" sz="750" dirty="0">
                <a:solidFill>
                  <a:srgbClr val="5C5AB8"/>
                </a:solidFill>
              </a:rPr>
              <a:t>Bank login → customer list → Customer 360: Score, GST, AA, ITR, MCA, Directors</a:t>
            </a:r>
          </a:p>
        </p:txBody>
      </p:sp>
      <p:cxnSp>
        <p:nvCxnSpPr>
          <p:cNvPr id="367" name="arch_arrow"/>
          <p:cNvCxnSpPr/>
          <p:nvPr/>
        </p:nvCxnSpPr>
        <p:spPr>
          <a:xfrm>
            <a:off x="7846695" y="3130000"/>
            <a:ext cx="0" cy="120000"/>
          </a:xfrm>
          <a:prstGeom prst="straightConnector1">
            <a:avLst/>
          </a:prstGeom>
          <a:ln w="12700">
            <a:solidFill>
              <a:srgbClr val="8A8780"/>
            </a:solidFill>
            <a:tailEnd type="triangle" w="med" len="med"/>
          </a:ln>
        </p:spPr>
      </p:cxnSp>
      <p:sp>
        <p:nvSpPr>
          <p:cNvPr id="368" name="arch_box"/>
          <p:cNvSpPr/>
          <p:nvPr/>
        </p:nvSpPr>
        <p:spPr>
          <a:xfrm>
            <a:off x="6823710" y="3250000"/>
            <a:ext cx="2045970" cy="620000"/>
          </a:xfrm>
          <a:prstGeom prst="roundRect">
            <a:avLst>
              <a:gd name="adj" fmla="val 10000"/>
            </a:avLst>
          </a:prstGeom>
          <a:solidFill>
            <a:srgbClr val="EEEBFF"/>
          </a:solidFill>
          <a:ln w="9525">
            <a:solidFill>
              <a:srgbClr val="7A78D6"/>
            </a:solidFill>
          </a:ln>
        </p:spPr>
        <p:txBody>
          <a:bodyPr wrap="square" lIns="73152" tIns="27432" rIns="73152" bIns="27432" rtlCol="0" anchor="ctr">
            <a:normAutofit/>
          </a:bodyPr>
          <a:lstStyle/>
          <a:p>
            <a:pPr algn="l"/>
            <a:r>
              <a:rPr lang="en-US" sz="900" b="1" dirty="0">
                <a:solidFill>
                  <a:srgbClr val="2E2C8A"/>
                </a:solidFill>
              </a:rPr>
              <a:t>11. Raise the loan case</a:t>
            </a:r>
          </a:p>
          <a:p>
            <a:pPr algn="l"/>
            <a:r>
              <a:rPr lang="en-US" sz="750" dirty="0">
                <a:solidFill>
                  <a:srgbClr val="5C5AB8"/>
                </a:solidFill>
              </a:rPr>
              <a:t>Push to LOS · ULI (OCEN 4.0) · ONDC (beckn) — preview the payload, then confirm</a:t>
            </a:r>
          </a:p>
        </p:txBody>
      </p:sp>
      <p:sp>
        <p:nvSpPr>
          <p:cNvPr id="369" name="arch_box"/>
          <p:cNvSpPr/>
          <p:nvPr/>
        </p:nvSpPr>
        <p:spPr>
          <a:xfrm>
            <a:off x="6823710" y="4010000"/>
            <a:ext cx="2045970" cy="48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A9A69C"/>
            </a:solidFill>
            <a:prstDash val="dash"/>
          </a:ln>
        </p:spPr>
        <p:txBody>
          <a:bodyPr wrap="square" lIns="73152" tIns="27432" rIns="73152" bIns="27432" rtlCol="0" anchor="ctr">
            <a:normAutofit/>
          </a:bodyPr>
          <a:lstStyle/>
          <a:p>
            <a:pPr algn="l"/>
            <a:r>
              <a:rPr lang="en-US" sz="850" b="1" dirty="0">
                <a:solidFill>
                  <a:srgbClr val="7A766D"/>
                </a:solidFill>
              </a:rPr>
              <a:t>Inbound API — planned</a:t>
            </a:r>
          </a:p>
          <a:p>
            <a:pPr algn="l"/>
            <a:r>
              <a:rPr lang="en-US" sz="750" dirty="0">
                <a:solidFill>
                  <a:srgbClr val="8F8B82"/>
                </a:solidFill>
              </a:rPr>
              <a:t>JWT + OpenAPI so the LOS pulls a score from us; the outbound push above is built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/>
        </p:nvSpPr>
        <p:spPr>
          <a:xfrm>
            <a:off x="275861" y="593476"/>
            <a:ext cx="8573849" cy="405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 dirty="0"/>
              <a:t>Architecture diagram of the proposed solution</a:t>
            </a:r>
            <a:endParaRPr b="1" dirty="0"/>
          </a:p>
        </p:txBody>
      </p:sp>
      <p:pic>
        <p:nvPicPr>
          <p:cNvPr id="96" name="Google Shape;96;p19" title="IDBI banner deck 2.png"/>
          <p:cNvPicPr preferRelativeResize="0"/>
          <p:nvPr/>
        </p:nvPicPr>
        <p:blipFill rotWithShape="1">
          <a:blip r:embed="rId3">
            <a:alphaModFix/>
          </a:blip>
          <a:srcRect b="88462"/>
          <a:stretch/>
        </p:blipFill>
        <p:spPr>
          <a:xfrm>
            <a:off x="0" y="0"/>
            <a:ext cx="9144000" cy="593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9" title="IDBI banner deck 2.png"/>
          <p:cNvPicPr preferRelativeResize="0"/>
          <p:nvPr/>
        </p:nvPicPr>
        <p:blipFill rotWithShape="1">
          <a:blip r:embed="rId3">
            <a:alphaModFix/>
          </a:blip>
          <a:srcRect t="98077"/>
          <a:stretch/>
        </p:blipFill>
        <p:spPr>
          <a:xfrm>
            <a:off x="0" y="5044576"/>
            <a:ext cx="9144000" cy="98925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arch_label"/>
          <p:cNvSpPr txBox="1"/>
          <p:nvPr/>
        </p:nvSpPr>
        <p:spPr>
          <a:xfrm>
            <a:off x="274320" y="960000"/>
            <a:ext cx="8595360" cy="20000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l"/>
            <a:r>
              <a:rPr lang="en-US" sz="800" dirty="0">
                <a:solidFill>
                  <a:srgbClr val="6B6760"/>
                </a:solidFill>
              </a:rPr>
              <a:t>Data sources — one consent, pulled per MSME into its own blob folder</a:t>
            </a:r>
          </a:p>
        </p:txBody>
      </p:sp>
      <p:sp>
        <p:nvSpPr>
          <p:cNvPr id="301" name="arch_box"/>
          <p:cNvSpPr/>
          <p:nvPr/>
        </p:nvSpPr>
        <p:spPr>
          <a:xfrm>
            <a:off x="274320" y="1170000"/>
            <a:ext cx="1356360" cy="400000"/>
          </a:xfrm>
          <a:prstGeom prst="roundRect">
            <a:avLst>
              <a:gd name="adj" fmla="val 14000"/>
            </a:avLst>
          </a:prstGeom>
          <a:solidFill>
            <a:srgbClr val="F1EFE8"/>
          </a:solidFill>
          <a:ln w="9525">
            <a:solidFill>
              <a:srgbClr val="A9A69C"/>
            </a:solidFill>
          </a:ln>
        </p:spPr>
        <p:txBody>
          <a:bodyPr wrap="square" lIns="73152" tIns="27432" rIns="73152" bIns="27432" rtlCol="0" anchor="ctr">
            <a:normAutofit/>
          </a:bodyPr>
          <a:lstStyle/>
          <a:p>
            <a:pPr algn="ctr"/>
            <a:r>
              <a:rPr lang="en-US" sz="1000" b="1" dirty="0">
                <a:solidFill>
                  <a:srgbClr val="3B3833"/>
                </a:solidFill>
              </a:rPr>
              <a:t>Udyam</a:t>
            </a:r>
          </a:p>
          <a:p>
            <a:pPr algn="ctr"/>
            <a:r>
              <a:rPr lang="en-US" sz="800" dirty="0">
                <a:solidFill>
                  <a:srgbClr val="5E5A52"/>
                </a:solidFill>
              </a:rPr>
              <a:t>identity, NIC, vintage</a:t>
            </a:r>
          </a:p>
        </p:txBody>
      </p:sp>
      <p:cxnSp>
        <p:nvCxnSpPr>
          <p:cNvPr id="302" name="arch_arrow"/>
          <p:cNvCxnSpPr/>
          <p:nvPr/>
        </p:nvCxnSpPr>
        <p:spPr>
          <a:xfrm>
            <a:off x="952500" y="1570000"/>
            <a:ext cx="0" cy="160000"/>
          </a:xfrm>
          <a:prstGeom prst="straightConnector1">
            <a:avLst/>
          </a:prstGeom>
          <a:ln w="12700">
            <a:solidFill>
              <a:srgbClr val="8A8780"/>
            </a:solidFill>
            <a:tailEnd type="triangle" w="med" len="med"/>
          </a:ln>
        </p:spPr>
      </p:cxnSp>
      <p:sp>
        <p:nvSpPr>
          <p:cNvPr id="303" name="arch_box"/>
          <p:cNvSpPr/>
          <p:nvPr/>
        </p:nvSpPr>
        <p:spPr>
          <a:xfrm>
            <a:off x="1722120" y="1170000"/>
            <a:ext cx="1356360" cy="400000"/>
          </a:xfrm>
          <a:prstGeom prst="roundRect">
            <a:avLst>
              <a:gd name="adj" fmla="val 14000"/>
            </a:avLst>
          </a:prstGeom>
          <a:solidFill>
            <a:srgbClr val="F1EFE8"/>
          </a:solidFill>
          <a:ln w="9525">
            <a:solidFill>
              <a:srgbClr val="A9A69C"/>
            </a:solidFill>
          </a:ln>
        </p:spPr>
        <p:txBody>
          <a:bodyPr wrap="square" lIns="73152" tIns="27432" rIns="73152" bIns="27432" rtlCol="0" anchor="ctr">
            <a:normAutofit fontScale="92500"/>
          </a:bodyPr>
          <a:lstStyle/>
          <a:p>
            <a:pPr algn="ctr"/>
            <a:r>
              <a:rPr lang="en-US" sz="1000" b="1" dirty="0">
                <a:solidFill>
                  <a:srgbClr val="3B3833"/>
                </a:solidFill>
              </a:rPr>
              <a:t>GST</a:t>
            </a:r>
          </a:p>
          <a:p>
            <a:pPr algn="ctr"/>
            <a:r>
              <a:rPr lang="en-US" sz="800" dirty="0">
                <a:solidFill>
                  <a:srgbClr val="5E5A52"/>
                </a:solidFill>
              </a:rPr>
              <a:t>7 return types · 12 months</a:t>
            </a:r>
          </a:p>
        </p:txBody>
      </p:sp>
      <p:cxnSp>
        <p:nvCxnSpPr>
          <p:cNvPr id="304" name="arch_arrow"/>
          <p:cNvCxnSpPr/>
          <p:nvPr/>
        </p:nvCxnSpPr>
        <p:spPr>
          <a:xfrm>
            <a:off x="2400300" y="1570000"/>
            <a:ext cx="0" cy="160000"/>
          </a:xfrm>
          <a:prstGeom prst="straightConnector1">
            <a:avLst/>
          </a:prstGeom>
          <a:ln w="12700">
            <a:solidFill>
              <a:srgbClr val="8A8780"/>
            </a:solidFill>
            <a:tailEnd type="triangle" w="med" len="med"/>
          </a:ln>
        </p:spPr>
      </p:cxnSp>
      <p:sp>
        <p:nvSpPr>
          <p:cNvPr id="305" name="arch_box"/>
          <p:cNvSpPr/>
          <p:nvPr/>
        </p:nvSpPr>
        <p:spPr>
          <a:xfrm>
            <a:off x="3169920" y="1170000"/>
            <a:ext cx="1356360" cy="400000"/>
          </a:xfrm>
          <a:prstGeom prst="roundRect">
            <a:avLst>
              <a:gd name="adj" fmla="val 14000"/>
            </a:avLst>
          </a:prstGeom>
          <a:solidFill>
            <a:srgbClr val="F1EFE8"/>
          </a:solidFill>
          <a:ln w="9525">
            <a:solidFill>
              <a:srgbClr val="A9A69C"/>
            </a:solidFill>
          </a:ln>
        </p:spPr>
        <p:txBody>
          <a:bodyPr wrap="square" lIns="73152" tIns="27432" rIns="73152" bIns="27432" rtlCol="0" anchor="ctr">
            <a:normAutofit/>
          </a:bodyPr>
          <a:lstStyle/>
          <a:p>
            <a:pPr algn="ctr"/>
            <a:r>
              <a:rPr lang="en-US" sz="1000" b="1" dirty="0">
                <a:solidFill>
                  <a:srgbClr val="3B3833"/>
                </a:solidFill>
              </a:rPr>
              <a:t>ITR</a:t>
            </a:r>
          </a:p>
          <a:p>
            <a:pPr algn="ctr"/>
            <a:r>
              <a:rPr lang="en-US" sz="800" dirty="0">
                <a:solidFill>
                  <a:srgbClr val="5E5A52"/>
                </a:solidFill>
              </a:rPr>
              <a:t>ITR-4 / 5 / 6 · filing &amp; tax</a:t>
            </a:r>
          </a:p>
        </p:txBody>
      </p:sp>
      <p:cxnSp>
        <p:nvCxnSpPr>
          <p:cNvPr id="306" name="arch_arrow"/>
          <p:cNvCxnSpPr/>
          <p:nvPr/>
        </p:nvCxnSpPr>
        <p:spPr>
          <a:xfrm>
            <a:off x="3848100" y="1570000"/>
            <a:ext cx="0" cy="160000"/>
          </a:xfrm>
          <a:prstGeom prst="straightConnector1">
            <a:avLst/>
          </a:prstGeom>
          <a:ln w="12700">
            <a:solidFill>
              <a:srgbClr val="8A8780"/>
            </a:solidFill>
            <a:tailEnd type="triangle" w="med" len="med"/>
          </a:ln>
        </p:spPr>
      </p:cxnSp>
      <p:sp>
        <p:nvSpPr>
          <p:cNvPr id="307" name="arch_box"/>
          <p:cNvSpPr/>
          <p:nvPr/>
        </p:nvSpPr>
        <p:spPr>
          <a:xfrm>
            <a:off x="4617720" y="1170000"/>
            <a:ext cx="1356360" cy="400000"/>
          </a:xfrm>
          <a:prstGeom prst="roundRect">
            <a:avLst>
              <a:gd name="adj" fmla="val 14000"/>
            </a:avLst>
          </a:prstGeom>
          <a:solidFill>
            <a:srgbClr val="F1EFE8"/>
          </a:solidFill>
          <a:ln w="9525">
            <a:solidFill>
              <a:srgbClr val="A9A69C"/>
            </a:solidFill>
          </a:ln>
        </p:spPr>
        <p:txBody>
          <a:bodyPr wrap="square" lIns="73152" tIns="27432" rIns="73152" bIns="27432" rtlCol="0" anchor="ctr">
            <a:normAutofit fontScale="92500"/>
          </a:bodyPr>
          <a:lstStyle/>
          <a:p>
            <a:pPr algn="ctr"/>
            <a:r>
              <a:rPr lang="en-US" sz="1000" b="1" dirty="0">
                <a:solidFill>
                  <a:srgbClr val="3B3833"/>
                </a:solidFill>
              </a:rPr>
              <a:t>Account Aggregator</a:t>
            </a:r>
          </a:p>
          <a:p>
            <a:pPr algn="ctr"/>
            <a:r>
              <a:rPr lang="en-US" sz="800" dirty="0">
                <a:solidFill>
                  <a:srgbClr val="5E5A52"/>
                </a:solidFill>
              </a:rPr>
              <a:t>Finvu · bank statements</a:t>
            </a:r>
          </a:p>
        </p:txBody>
      </p:sp>
      <p:cxnSp>
        <p:nvCxnSpPr>
          <p:cNvPr id="308" name="arch_arrow"/>
          <p:cNvCxnSpPr/>
          <p:nvPr/>
        </p:nvCxnSpPr>
        <p:spPr>
          <a:xfrm>
            <a:off x="5295900" y="1570000"/>
            <a:ext cx="0" cy="160000"/>
          </a:xfrm>
          <a:prstGeom prst="straightConnector1">
            <a:avLst/>
          </a:prstGeom>
          <a:ln w="12700">
            <a:solidFill>
              <a:srgbClr val="8A8780"/>
            </a:solidFill>
            <a:tailEnd type="triangle" w="med" len="med"/>
          </a:ln>
        </p:spPr>
      </p:cxnSp>
      <p:sp>
        <p:nvSpPr>
          <p:cNvPr id="309" name="arch_box"/>
          <p:cNvSpPr/>
          <p:nvPr/>
        </p:nvSpPr>
        <p:spPr>
          <a:xfrm>
            <a:off x="6065520" y="1170000"/>
            <a:ext cx="1356360" cy="400000"/>
          </a:xfrm>
          <a:prstGeom prst="roundRect">
            <a:avLst>
              <a:gd name="adj" fmla="val 14000"/>
            </a:avLst>
          </a:prstGeom>
          <a:solidFill>
            <a:srgbClr val="F1EFE8"/>
          </a:solidFill>
          <a:ln w="9525">
            <a:solidFill>
              <a:srgbClr val="A9A69C"/>
            </a:solidFill>
          </a:ln>
        </p:spPr>
        <p:txBody>
          <a:bodyPr wrap="square" lIns="73152" tIns="27432" rIns="73152" bIns="27432" rtlCol="0" anchor="ctr">
            <a:normAutofit fontScale="92500"/>
          </a:bodyPr>
          <a:lstStyle/>
          <a:p>
            <a:pPr algn="ctr"/>
            <a:r>
              <a:rPr lang="en-US" sz="1000" b="1" dirty="0">
                <a:solidFill>
                  <a:srgbClr val="3B3833"/>
                </a:solidFill>
              </a:rPr>
              <a:t>MCA + DIN</a:t>
            </a:r>
          </a:p>
          <a:p>
            <a:pPr algn="ctr"/>
            <a:r>
              <a:rPr lang="en-US" sz="800" dirty="0">
                <a:solidFill>
                  <a:srgbClr val="5E5A52"/>
                </a:solidFill>
              </a:rPr>
              <a:t>company, charges, directors</a:t>
            </a:r>
          </a:p>
        </p:txBody>
      </p:sp>
      <p:cxnSp>
        <p:nvCxnSpPr>
          <p:cNvPr id="310" name="arch_arrow"/>
          <p:cNvCxnSpPr/>
          <p:nvPr/>
        </p:nvCxnSpPr>
        <p:spPr>
          <a:xfrm>
            <a:off x="6743700" y="1570000"/>
            <a:ext cx="0" cy="160000"/>
          </a:xfrm>
          <a:prstGeom prst="straightConnector1">
            <a:avLst/>
          </a:prstGeom>
          <a:ln w="12700">
            <a:solidFill>
              <a:srgbClr val="8A8780"/>
            </a:solidFill>
            <a:tailEnd type="triangle" w="med" len="med"/>
          </a:ln>
        </p:spPr>
      </p:cxnSp>
      <p:sp>
        <p:nvSpPr>
          <p:cNvPr id="311" name="arch_box"/>
          <p:cNvSpPr/>
          <p:nvPr/>
        </p:nvSpPr>
        <p:spPr>
          <a:xfrm>
            <a:off x="7513320" y="1170000"/>
            <a:ext cx="1356360" cy="4000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A9A69C"/>
            </a:solidFill>
            <a:prstDash val="dash"/>
          </a:ln>
        </p:spPr>
        <p:txBody>
          <a:bodyPr wrap="square" lIns="73152" tIns="27432" rIns="73152" bIns="27432" rtlCol="0" anchor="ctr">
            <a:normAutofit/>
          </a:bodyPr>
          <a:lstStyle/>
          <a:p>
            <a:pPr algn="ctr"/>
            <a:r>
              <a:rPr lang="en-US" sz="1000" b="1" dirty="0">
                <a:solidFill>
                  <a:srgbClr val="7A766D"/>
                </a:solidFill>
              </a:rPr>
              <a:t>EPFO</a:t>
            </a:r>
          </a:p>
          <a:p>
            <a:pPr algn="ctr"/>
            <a:r>
              <a:rPr lang="en-US" sz="800" dirty="0">
                <a:solidFill>
                  <a:srgbClr val="8F8B82"/>
                </a:solidFill>
              </a:rPr>
              <a:t>planned — slot ready</a:t>
            </a:r>
          </a:p>
        </p:txBody>
      </p:sp>
      <p:cxnSp>
        <p:nvCxnSpPr>
          <p:cNvPr id="312" name="arch_arrow"/>
          <p:cNvCxnSpPr/>
          <p:nvPr/>
        </p:nvCxnSpPr>
        <p:spPr>
          <a:xfrm>
            <a:off x="8191500" y="1570000"/>
            <a:ext cx="0" cy="160000"/>
          </a:xfrm>
          <a:prstGeom prst="straightConnector1">
            <a:avLst/>
          </a:prstGeom>
          <a:ln w="12700">
            <a:solidFill>
              <a:srgbClr val="8A8780"/>
            </a:solidFill>
            <a:tailEnd type="triangle" w="med" len="med"/>
          </a:ln>
        </p:spPr>
      </p:cxnSp>
      <p:sp>
        <p:nvSpPr>
          <p:cNvPr id="313" name="arch_box"/>
          <p:cNvSpPr/>
          <p:nvPr/>
        </p:nvSpPr>
        <p:spPr>
          <a:xfrm>
            <a:off x="274320" y="1750000"/>
            <a:ext cx="8595360" cy="2420000"/>
          </a:xfrm>
          <a:prstGeom prst="roundRect">
            <a:avLst>
              <a:gd name="adj" fmla="val 6000"/>
            </a:avLst>
          </a:prstGeom>
          <a:solidFill>
            <a:srgbClr val="EEEEFF"/>
          </a:solidFill>
          <a:ln w="9525">
            <a:solidFill>
              <a:srgbClr val="9A98E6"/>
            </a:solidFill>
          </a:ln>
        </p:spPr>
        <p:txBody>
          <a:bodyPr wrap="square" lIns="73152" tIns="27432" rIns="73152" bIns="27432" rtlCol="0" anchor="t">
            <a:normAutofit/>
          </a:bodyPr>
          <a:lstStyle/>
          <a:p>
            <a:pPr algn="l"/>
            <a:r>
              <a:rPr lang="en-US" sz="1000" b="1" dirty="0">
                <a:solidFill>
                  <a:srgbClr val="2E2C8A"/>
                </a:solidFill>
              </a:rPr>
              <a:t>FinRiskLensAI — ASP.NET Core 8 MVC · one deployable (Web + Services + ML.NET, no separate ML service)</a:t>
            </a:r>
          </a:p>
        </p:txBody>
      </p:sp>
      <p:sp>
        <p:nvSpPr>
          <p:cNvPr id="314" name="arch_box"/>
          <p:cNvSpPr/>
          <p:nvPr/>
        </p:nvSpPr>
        <p:spPr>
          <a:xfrm>
            <a:off x="365760" y="2000000"/>
            <a:ext cx="8412480" cy="380000"/>
          </a:xfrm>
          <a:prstGeom prst="roundRect">
            <a:avLst>
              <a:gd name="adj" fmla="val 10000"/>
            </a:avLst>
          </a:prstGeom>
          <a:solidFill>
            <a:srgbClr val="FBEAE4"/>
          </a:solidFill>
          <a:ln w="9525">
            <a:solidFill>
              <a:srgbClr val="B85A44"/>
            </a:solidFill>
          </a:ln>
        </p:spPr>
        <p:txBody>
          <a:bodyPr wrap="square" lIns="73152" tIns="27432" rIns="73152" bIns="27432" rtlCol="0" anchor="ctr">
            <a:normAutofit/>
          </a:bodyPr>
          <a:lstStyle/>
          <a:p>
            <a:pPr algn="l"/>
            <a:r>
              <a:rPr lang="en-US" sz="1000" b="1" dirty="0">
                <a:solidFill>
                  <a:srgbClr val="7A2E1E"/>
                </a:solidFill>
              </a:rPr>
              <a:t>Web — presentation</a:t>
            </a:r>
          </a:p>
          <a:p>
            <a:pPr algn="l"/>
            <a:r>
              <a:rPr lang="en-US" sz="800" dirty="0">
                <a:solidFill>
                  <a:srgbClr val="9B4A38"/>
                </a:solidFill>
              </a:rPr>
              <a:t>Customer dashboard · Financial Health Card · Bank Portal (Customer 360) · Score History · Financial Report · loan-case push · Bhashini (7 languages)</a:t>
            </a:r>
          </a:p>
        </p:txBody>
      </p:sp>
      <p:cxnSp>
        <p:nvCxnSpPr>
          <p:cNvPr id="315" name="arch_arrow"/>
          <p:cNvCxnSpPr/>
          <p:nvPr/>
        </p:nvCxnSpPr>
        <p:spPr>
          <a:xfrm>
            <a:off x="4572000" y="2380000"/>
            <a:ext cx="0" cy="60000"/>
          </a:xfrm>
          <a:prstGeom prst="straightConnector1">
            <a:avLst/>
          </a:prstGeom>
          <a:ln w="12700">
            <a:solidFill>
              <a:srgbClr val="8A8780"/>
            </a:solidFill>
            <a:tailEnd type="triangle" w="med" len="med"/>
          </a:ln>
        </p:spPr>
      </p:cxnSp>
      <p:sp>
        <p:nvSpPr>
          <p:cNvPr id="316" name="arch_box"/>
          <p:cNvSpPr/>
          <p:nvPr/>
        </p:nvSpPr>
        <p:spPr>
          <a:xfrm>
            <a:off x="365760" y="2440000"/>
            <a:ext cx="8412480" cy="380000"/>
          </a:xfrm>
          <a:prstGeom prst="roundRect">
            <a:avLst>
              <a:gd name="adj" fmla="val 10000"/>
            </a:avLst>
          </a:prstGeom>
          <a:solidFill>
            <a:srgbClr val="E4F3EB"/>
          </a:solidFill>
          <a:ln w="9525">
            <a:solidFill>
              <a:srgbClr val="2E8B6A"/>
            </a:solidFill>
          </a:ln>
        </p:spPr>
        <p:txBody>
          <a:bodyPr wrap="square" lIns="73152" tIns="27432" rIns="73152" bIns="27432" rtlCol="0" anchor="ctr">
            <a:normAutofit/>
          </a:bodyPr>
          <a:lstStyle/>
          <a:p>
            <a:pPr algn="l"/>
            <a:r>
              <a:rPr lang="en-US" sz="1000" b="1" dirty="0">
                <a:solidFill>
                  <a:srgbClr val="145A40"/>
                </a:solidFill>
              </a:rPr>
              <a:t>Services — application</a:t>
            </a:r>
          </a:p>
          <a:p>
            <a:pPr algn="l"/>
            <a:r>
              <a:rPr lang="en-US" sz="800" dirty="0">
                <a:solidFill>
                  <a:srgbClr val="2C7A5A"/>
                </a:solidFill>
              </a:rPr>
              <a:t>Onboarding &amp; OTP · Udyam / GST / ITR / AA / MCA connectors · blob analysis · score history · loan-case builders (LOS / ULI / ONDC) · Groq assistant</a:t>
            </a:r>
          </a:p>
        </p:txBody>
      </p:sp>
      <p:cxnSp>
        <p:nvCxnSpPr>
          <p:cNvPr id="317" name="arch_arrow"/>
          <p:cNvCxnSpPr/>
          <p:nvPr/>
        </p:nvCxnSpPr>
        <p:spPr>
          <a:xfrm>
            <a:off x="4572000" y="2820000"/>
            <a:ext cx="0" cy="60000"/>
          </a:xfrm>
          <a:prstGeom prst="straightConnector1">
            <a:avLst/>
          </a:prstGeom>
          <a:ln w="12700">
            <a:solidFill>
              <a:srgbClr val="8A8780"/>
            </a:solidFill>
            <a:tailEnd type="triangle" w="med" len="med"/>
          </a:ln>
        </p:spPr>
      </p:cxnSp>
      <p:sp>
        <p:nvSpPr>
          <p:cNvPr id="318" name="arch_box"/>
          <p:cNvSpPr/>
          <p:nvPr/>
        </p:nvSpPr>
        <p:spPr>
          <a:xfrm>
            <a:off x="365760" y="2880000"/>
            <a:ext cx="8412480" cy="380000"/>
          </a:xfrm>
          <a:prstGeom prst="roundRect">
            <a:avLst>
              <a:gd name="adj" fmla="val 10000"/>
            </a:avLst>
          </a:prstGeom>
          <a:solidFill>
            <a:srgbClr val="FCF1DD"/>
          </a:solidFill>
          <a:ln w="9525">
            <a:solidFill>
              <a:srgbClr val="C07E12"/>
            </a:solidFill>
          </a:ln>
        </p:spPr>
        <p:txBody>
          <a:bodyPr wrap="square" lIns="73152" tIns="27432" rIns="73152" bIns="27432" rtlCol="0" anchor="ctr">
            <a:normAutofit/>
          </a:bodyPr>
          <a:lstStyle/>
          <a:p>
            <a:pPr algn="l"/>
            <a:r>
              <a:rPr lang="en-US" sz="1000" b="1" dirty="0">
                <a:solidFill>
                  <a:srgbClr val="7A4B00"/>
                </a:solidFill>
              </a:rPr>
              <a:t>ML.NET scoring engine</a:t>
            </a:r>
          </a:p>
          <a:p>
            <a:pPr algn="l"/>
            <a:r>
              <a:rPr lang="en-US" sz="800" dirty="0">
                <a:solidFill>
                  <a:srgbClr val="9C6510"/>
                </a:solidFill>
              </a:rPr>
              <a:t>Rules engine 0.6 + LightGBM 0.4 · SSA cash-flow trend · RandomizedPCA GST-ITR-bank anomaly · PFI reasons per dimension — in-process, no Python</a:t>
            </a:r>
          </a:p>
        </p:txBody>
      </p:sp>
      <p:cxnSp>
        <p:nvCxnSpPr>
          <p:cNvPr id="319" name="arch_arrow"/>
          <p:cNvCxnSpPr/>
          <p:nvPr/>
        </p:nvCxnSpPr>
        <p:spPr>
          <a:xfrm>
            <a:off x="4572000" y="3260000"/>
            <a:ext cx="0" cy="60000"/>
          </a:xfrm>
          <a:prstGeom prst="straightConnector1">
            <a:avLst/>
          </a:prstGeom>
          <a:ln w="12700">
            <a:solidFill>
              <a:srgbClr val="8A8780"/>
            </a:solidFill>
            <a:tailEnd type="triangle" w="med" len="med"/>
          </a:ln>
        </p:spPr>
      </p:cxnSp>
      <p:sp>
        <p:nvSpPr>
          <p:cNvPr id="320" name="arch_box"/>
          <p:cNvSpPr/>
          <p:nvPr/>
        </p:nvSpPr>
        <p:spPr>
          <a:xfrm>
            <a:off x="365760" y="3320000"/>
            <a:ext cx="4160520" cy="380000"/>
          </a:xfrm>
          <a:prstGeom prst="roundRect">
            <a:avLst>
              <a:gd name="adj" fmla="val 10000"/>
            </a:avLst>
          </a:prstGeom>
          <a:solidFill>
            <a:srgbClr val="E4F3EB"/>
          </a:solidFill>
          <a:ln w="9525">
            <a:solidFill>
              <a:srgbClr val="2E8B6A"/>
            </a:solidFill>
          </a:ln>
        </p:spPr>
        <p:txBody>
          <a:bodyPr wrap="square" lIns="73152" tIns="27432" rIns="73152" bIns="27432" rtlCol="0" anchor="ctr">
            <a:normAutofit/>
          </a:bodyPr>
          <a:lstStyle/>
          <a:p>
            <a:pPr algn="l"/>
            <a:r>
              <a:rPr lang="en-US" sz="1000" b="1" dirty="0">
                <a:solidFill>
                  <a:srgbClr val="145A40"/>
                </a:solidFill>
              </a:rPr>
              <a:t>Data — infrastructure</a:t>
            </a:r>
          </a:p>
          <a:p>
            <a:pPr algn="l"/>
            <a:r>
              <a:rPr lang="en-US" sz="800" dirty="0">
                <a:solidFill>
                  <a:srgbClr val="2C7A5A"/>
                </a:solidFill>
              </a:rPr>
              <a:t>EF Core 8 + SQL Server · repositories via convention scanning (Autofac)</a:t>
            </a:r>
          </a:p>
        </p:txBody>
      </p:sp>
      <p:sp>
        <p:nvSpPr>
          <p:cNvPr id="321" name="arch_box"/>
          <p:cNvSpPr/>
          <p:nvPr/>
        </p:nvSpPr>
        <p:spPr>
          <a:xfrm>
            <a:off x="4617720" y="3320000"/>
            <a:ext cx="4160520" cy="380000"/>
          </a:xfrm>
          <a:prstGeom prst="roundRect">
            <a:avLst>
              <a:gd name="adj" fmla="val 10000"/>
            </a:avLst>
          </a:prstGeom>
          <a:solidFill>
            <a:srgbClr val="F1EFE8"/>
          </a:solidFill>
          <a:ln w="9525">
            <a:solidFill>
              <a:srgbClr val="A9A69C"/>
            </a:solidFill>
          </a:ln>
        </p:spPr>
        <p:txBody>
          <a:bodyPr wrap="square" lIns="73152" tIns="27432" rIns="73152" bIns="27432" rtlCol="0" anchor="ctr">
            <a:normAutofit/>
          </a:bodyPr>
          <a:lstStyle/>
          <a:p>
            <a:pPr algn="l"/>
            <a:r>
              <a:rPr lang="en-US" sz="1000" b="1" dirty="0">
                <a:solidFill>
                  <a:srgbClr val="3B3833"/>
                </a:solidFill>
              </a:rPr>
              <a:t>Core — domain</a:t>
            </a:r>
          </a:p>
          <a:p>
            <a:pPr algn="l"/>
            <a:r>
              <a:rPr lang="en-US" sz="800" dirty="0">
                <a:solidFill>
                  <a:srgbClr val="5E5A52"/>
                </a:solidFill>
              </a:rPr>
              <a:t>Entities, view models, interfaces · no infrastructure dependencies</a:t>
            </a:r>
          </a:p>
        </p:txBody>
      </p:sp>
      <p:cxnSp>
        <p:nvCxnSpPr>
          <p:cNvPr id="322" name="arch_arrow"/>
          <p:cNvCxnSpPr/>
          <p:nvPr/>
        </p:nvCxnSpPr>
        <p:spPr>
          <a:xfrm>
            <a:off x="2446020" y="3700000"/>
            <a:ext cx="0" cy="60000"/>
          </a:xfrm>
          <a:prstGeom prst="straightConnector1">
            <a:avLst/>
          </a:prstGeom>
          <a:ln w="12700">
            <a:solidFill>
              <a:srgbClr val="8A8780"/>
            </a:solidFill>
            <a:tailEnd type="triangle" w="med" len="med"/>
          </a:ln>
        </p:spPr>
      </p:cxnSp>
      <p:cxnSp>
        <p:nvCxnSpPr>
          <p:cNvPr id="323" name="arch_arrow"/>
          <p:cNvCxnSpPr/>
          <p:nvPr/>
        </p:nvCxnSpPr>
        <p:spPr>
          <a:xfrm>
            <a:off x="6697980" y="3700000"/>
            <a:ext cx="0" cy="60000"/>
          </a:xfrm>
          <a:prstGeom prst="straightConnector1">
            <a:avLst/>
          </a:prstGeom>
          <a:ln w="12700">
            <a:solidFill>
              <a:srgbClr val="8A8780"/>
            </a:solidFill>
            <a:tailEnd type="triangle" w="med" len="med"/>
          </a:ln>
        </p:spPr>
      </p:cxnSp>
      <p:sp>
        <p:nvSpPr>
          <p:cNvPr id="324" name="arch_box"/>
          <p:cNvSpPr/>
          <p:nvPr/>
        </p:nvSpPr>
        <p:spPr>
          <a:xfrm>
            <a:off x="365760" y="3760000"/>
            <a:ext cx="4160520" cy="360000"/>
          </a:xfrm>
          <a:prstGeom prst="roundRect">
            <a:avLst>
              <a:gd name="adj" fmla="val 10000"/>
            </a:avLst>
          </a:prstGeom>
          <a:solidFill>
            <a:srgbClr val="E0EFFB"/>
          </a:solidFill>
          <a:ln w="9525">
            <a:solidFill>
              <a:srgbClr val="4A90C8"/>
            </a:solidFill>
          </a:ln>
        </p:spPr>
        <p:txBody>
          <a:bodyPr wrap="square" lIns="73152" tIns="27432" rIns="73152" bIns="27432" rtlCol="0" anchor="ctr">
            <a:normAutofit/>
          </a:bodyPr>
          <a:lstStyle/>
          <a:p>
            <a:pPr algn="ctr"/>
            <a:r>
              <a:rPr lang="en-US" sz="1000" b="1" dirty="0">
                <a:solidFill>
                  <a:srgbClr val="154A78"/>
                </a:solidFill>
              </a:rPr>
              <a:t>SQL Server</a:t>
            </a:r>
          </a:p>
          <a:p>
            <a:pPr algn="ctr"/>
            <a:r>
              <a:rPr lang="en-US" sz="800" dirty="0">
                <a:solidFill>
                  <a:srgbClr val="2D6BA3"/>
                </a:solidFill>
              </a:rPr>
              <a:t>profiles · OTP &amp; consent · score summary · score history + push audit (append-only)</a:t>
            </a:r>
          </a:p>
        </p:txBody>
      </p:sp>
      <p:sp>
        <p:nvSpPr>
          <p:cNvPr id="325" name="arch_box"/>
          <p:cNvSpPr/>
          <p:nvPr/>
        </p:nvSpPr>
        <p:spPr>
          <a:xfrm>
            <a:off x="4617720" y="3760000"/>
            <a:ext cx="4160520" cy="360000"/>
          </a:xfrm>
          <a:prstGeom prst="roundRect">
            <a:avLst>
              <a:gd name="adj" fmla="val 10000"/>
            </a:avLst>
          </a:prstGeom>
          <a:solidFill>
            <a:srgbClr val="E0EFFB"/>
          </a:solidFill>
          <a:ln w="9525">
            <a:solidFill>
              <a:srgbClr val="4A90C8"/>
            </a:solidFill>
          </a:ln>
        </p:spPr>
        <p:txBody>
          <a:bodyPr wrap="square" lIns="73152" tIns="27432" rIns="73152" bIns="27432" rtlCol="0" anchor="ctr">
            <a:normAutofit/>
          </a:bodyPr>
          <a:lstStyle/>
          <a:p>
            <a:pPr algn="ctr"/>
            <a:r>
              <a:rPr lang="en-US" sz="1000" b="1" dirty="0">
                <a:solidFill>
                  <a:srgbClr val="154A78"/>
                </a:solidFill>
              </a:rPr>
              <a:t>Azure Blob Storage</a:t>
            </a:r>
          </a:p>
          <a:p>
            <a:pPr algn="ctr"/>
            <a:r>
              <a:rPr lang="en-US" sz="800" dirty="0">
                <a:solidFill>
                  <a:srgbClr val="2D6BA3"/>
                </a:solidFill>
              </a:rPr>
              <a:t>one folder per MSME · raw source JSON (up to 93 files) + result.json</a:t>
            </a:r>
          </a:p>
        </p:txBody>
      </p:sp>
      <p:sp>
        <p:nvSpPr>
          <p:cNvPr id="326" name="arch_label"/>
          <p:cNvSpPr txBox="1"/>
          <p:nvPr/>
        </p:nvSpPr>
        <p:spPr>
          <a:xfrm>
            <a:off x="274320" y="4180000"/>
            <a:ext cx="8595360" cy="20000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l"/>
            <a:r>
              <a:rPr lang="en-US" sz="800" dirty="0">
                <a:solidFill>
                  <a:srgbClr val="6B6760"/>
                </a:solidFill>
              </a:rPr>
              <a:t>Outputs</a:t>
            </a:r>
          </a:p>
        </p:txBody>
      </p:sp>
      <p:cxnSp>
        <p:nvCxnSpPr>
          <p:cNvPr id="327" name="arch_arrow"/>
          <p:cNvCxnSpPr/>
          <p:nvPr/>
        </p:nvCxnSpPr>
        <p:spPr>
          <a:xfrm>
            <a:off x="1314450" y="4170000"/>
            <a:ext cx="0" cy="190000"/>
          </a:xfrm>
          <a:prstGeom prst="straightConnector1">
            <a:avLst/>
          </a:prstGeom>
          <a:ln w="12700">
            <a:solidFill>
              <a:srgbClr val="8A8780"/>
            </a:solidFill>
            <a:tailEnd type="triangle" w="med" len="med"/>
          </a:ln>
        </p:spPr>
      </p:cxnSp>
      <p:sp>
        <p:nvSpPr>
          <p:cNvPr id="328" name="arch_box"/>
          <p:cNvSpPr/>
          <p:nvPr/>
        </p:nvSpPr>
        <p:spPr>
          <a:xfrm>
            <a:off x="274320" y="4360000"/>
            <a:ext cx="2080260" cy="400000"/>
          </a:xfrm>
          <a:prstGeom prst="roundRect">
            <a:avLst>
              <a:gd name="adj" fmla="val 14000"/>
            </a:avLst>
          </a:prstGeom>
          <a:solidFill>
            <a:srgbClr val="EEEBFF"/>
          </a:solidFill>
          <a:ln w="9525">
            <a:solidFill>
              <a:srgbClr val="7A78D6"/>
            </a:solidFill>
          </a:ln>
        </p:spPr>
        <p:txBody>
          <a:bodyPr wrap="square" lIns="73152" tIns="27432" rIns="73152" bIns="27432" rtlCol="0" anchor="ctr">
            <a:normAutofit/>
          </a:bodyPr>
          <a:lstStyle/>
          <a:p>
            <a:pPr algn="ctr"/>
            <a:r>
              <a:rPr lang="en-US" sz="1000" b="1" dirty="0">
                <a:solidFill>
                  <a:srgbClr val="2E2C8A"/>
                </a:solidFill>
              </a:rPr>
              <a:t>Financial Health Card &amp; Report</a:t>
            </a:r>
          </a:p>
          <a:p>
            <a:pPr algn="ctr"/>
            <a:r>
              <a:rPr lang="en-US" sz="800" dirty="0">
                <a:solidFill>
                  <a:srgbClr val="5C5AB8"/>
                </a:solidFill>
              </a:rPr>
              <a:t>on screen · print · email</a:t>
            </a:r>
          </a:p>
        </p:txBody>
      </p:sp>
      <p:cxnSp>
        <p:nvCxnSpPr>
          <p:cNvPr id="329" name="arch_arrow"/>
          <p:cNvCxnSpPr/>
          <p:nvPr/>
        </p:nvCxnSpPr>
        <p:spPr>
          <a:xfrm>
            <a:off x="3486150" y="4170000"/>
            <a:ext cx="0" cy="190000"/>
          </a:xfrm>
          <a:prstGeom prst="straightConnector1">
            <a:avLst/>
          </a:prstGeom>
          <a:ln w="12700">
            <a:solidFill>
              <a:srgbClr val="8A8780"/>
            </a:solidFill>
            <a:tailEnd type="triangle" w="med" len="med"/>
          </a:ln>
        </p:spPr>
      </p:cxnSp>
      <p:sp>
        <p:nvSpPr>
          <p:cNvPr id="330" name="arch_box"/>
          <p:cNvSpPr/>
          <p:nvPr/>
        </p:nvSpPr>
        <p:spPr>
          <a:xfrm>
            <a:off x="2446020" y="4360000"/>
            <a:ext cx="2080260" cy="400000"/>
          </a:xfrm>
          <a:prstGeom prst="roundRect">
            <a:avLst>
              <a:gd name="adj" fmla="val 14000"/>
            </a:avLst>
          </a:prstGeom>
          <a:solidFill>
            <a:srgbClr val="EEEBFF"/>
          </a:solidFill>
          <a:ln w="9525">
            <a:solidFill>
              <a:srgbClr val="7A78D6"/>
            </a:solidFill>
          </a:ln>
        </p:spPr>
        <p:txBody>
          <a:bodyPr wrap="square" lIns="73152" tIns="27432" rIns="73152" bIns="27432" rtlCol="0" anchor="ctr">
            <a:normAutofit/>
          </a:bodyPr>
          <a:lstStyle/>
          <a:p>
            <a:pPr algn="ctr"/>
            <a:r>
              <a:rPr lang="en-US" sz="1000" b="1" dirty="0">
                <a:solidFill>
                  <a:srgbClr val="2E2C8A"/>
                </a:solidFill>
              </a:rPr>
              <a:t>Bank Portal · Customer 360</a:t>
            </a:r>
          </a:p>
          <a:p>
            <a:pPr algn="ctr"/>
            <a:r>
              <a:rPr lang="en-US" sz="800" dirty="0">
                <a:solidFill>
                  <a:srgbClr val="5C5AB8"/>
                </a:solidFill>
              </a:rPr>
              <a:t>credit-officer view per MSME</a:t>
            </a:r>
          </a:p>
        </p:txBody>
      </p:sp>
      <p:cxnSp>
        <p:nvCxnSpPr>
          <p:cNvPr id="331" name="arch_arrow"/>
          <p:cNvCxnSpPr/>
          <p:nvPr/>
        </p:nvCxnSpPr>
        <p:spPr>
          <a:xfrm>
            <a:off x="5657850" y="4170000"/>
            <a:ext cx="0" cy="190000"/>
          </a:xfrm>
          <a:prstGeom prst="straightConnector1">
            <a:avLst/>
          </a:prstGeom>
          <a:ln w="12700">
            <a:solidFill>
              <a:srgbClr val="8A8780"/>
            </a:solidFill>
            <a:tailEnd type="triangle" w="med" len="med"/>
          </a:ln>
        </p:spPr>
      </p:cxnSp>
      <p:sp>
        <p:nvSpPr>
          <p:cNvPr id="332" name="arch_box"/>
          <p:cNvSpPr/>
          <p:nvPr/>
        </p:nvSpPr>
        <p:spPr>
          <a:xfrm>
            <a:off x="4617720" y="4360000"/>
            <a:ext cx="2080260" cy="400000"/>
          </a:xfrm>
          <a:prstGeom prst="roundRect">
            <a:avLst>
              <a:gd name="adj" fmla="val 14000"/>
            </a:avLst>
          </a:prstGeom>
          <a:solidFill>
            <a:srgbClr val="EEEBFF"/>
          </a:solidFill>
          <a:ln w="9525">
            <a:solidFill>
              <a:srgbClr val="7A78D6"/>
            </a:solidFill>
          </a:ln>
        </p:spPr>
        <p:txBody>
          <a:bodyPr wrap="square" lIns="73152" tIns="27432" rIns="73152" bIns="27432" rtlCol="0" anchor="ctr">
            <a:normAutofit fontScale="92500" lnSpcReduction="20000"/>
          </a:bodyPr>
          <a:lstStyle/>
          <a:p>
            <a:pPr algn="ctr"/>
            <a:r>
              <a:rPr lang="en-US" sz="1000" b="1" dirty="0">
                <a:solidFill>
                  <a:srgbClr val="2E2C8A"/>
                </a:solidFill>
              </a:rPr>
              <a:t>Loan case → LOS · ULI · ONDC</a:t>
            </a:r>
          </a:p>
          <a:p>
            <a:pPr algn="ctr"/>
            <a:r>
              <a:rPr lang="en-US" sz="800" dirty="0">
                <a:solidFill>
                  <a:srgbClr val="5C5AB8"/>
                </a:solidFill>
              </a:rPr>
              <a:t>preview the payload, then confirm · endpoint is config, not code</a:t>
            </a:r>
          </a:p>
        </p:txBody>
      </p:sp>
      <p:cxnSp>
        <p:nvCxnSpPr>
          <p:cNvPr id="333" name="arch_arrow"/>
          <p:cNvCxnSpPr/>
          <p:nvPr/>
        </p:nvCxnSpPr>
        <p:spPr>
          <a:xfrm>
            <a:off x="7829550" y="4170000"/>
            <a:ext cx="0" cy="190000"/>
          </a:xfrm>
          <a:prstGeom prst="straightConnector1">
            <a:avLst/>
          </a:prstGeom>
          <a:ln w="12700">
            <a:solidFill>
              <a:srgbClr val="8A8780"/>
            </a:solidFill>
            <a:prstDash val="dash"/>
            <a:tailEnd type="triangle" w="med" len="med"/>
          </a:ln>
        </p:spPr>
      </p:cxnSp>
      <p:sp>
        <p:nvSpPr>
          <p:cNvPr id="334" name="arch_box"/>
          <p:cNvSpPr/>
          <p:nvPr/>
        </p:nvSpPr>
        <p:spPr>
          <a:xfrm>
            <a:off x="6789420" y="4360000"/>
            <a:ext cx="2080260" cy="4000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A9A69C"/>
            </a:solidFill>
            <a:prstDash val="dash"/>
          </a:ln>
        </p:spPr>
        <p:txBody>
          <a:bodyPr wrap="square" lIns="73152" tIns="27432" rIns="73152" bIns="27432" rtlCol="0" anchor="ctr">
            <a:normAutofit fontScale="92500" lnSpcReduction="20000"/>
          </a:bodyPr>
          <a:lstStyle/>
          <a:p>
            <a:pPr algn="ctr"/>
            <a:r>
              <a:rPr lang="en-US" sz="1000" b="1" dirty="0">
                <a:solidFill>
                  <a:srgbClr val="7A766D"/>
                </a:solidFill>
              </a:rPr>
              <a:t>Inbound score API</a:t>
            </a:r>
          </a:p>
          <a:p>
            <a:pPr algn="ctr"/>
            <a:r>
              <a:rPr lang="en-US" sz="800" dirty="0">
                <a:solidFill>
                  <a:srgbClr val="8F8B82"/>
                </a:solidFill>
              </a:rPr>
              <a:t>planned — JWT + OpenAPI so the LOS pulls from us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/>
        </p:nvSpPr>
        <p:spPr>
          <a:xfrm>
            <a:off x="201000" y="593476"/>
            <a:ext cx="8722283" cy="4260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Technologies to be used in the solution</a:t>
            </a:r>
            <a:endParaRPr b="1"/>
          </a:p>
        </p:txBody>
      </p:sp>
      <p:pic>
        <p:nvPicPr>
          <p:cNvPr id="103" name="Google Shape;103;p20" title="IDBI banner deck 2.png"/>
          <p:cNvPicPr preferRelativeResize="0"/>
          <p:nvPr/>
        </p:nvPicPr>
        <p:blipFill rotWithShape="1">
          <a:blip r:embed="rId3">
            <a:alphaModFix/>
          </a:blip>
          <a:srcRect b="88462"/>
          <a:stretch/>
        </p:blipFill>
        <p:spPr>
          <a:xfrm>
            <a:off x="0" y="0"/>
            <a:ext cx="9144000" cy="593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20" title="IDBI banner deck 2.png"/>
          <p:cNvPicPr preferRelativeResize="0"/>
          <p:nvPr/>
        </p:nvPicPr>
        <p:blipFill rotWithShape="1">
          <a:blip r:embed="rId3">
            <a:alphaModFix/>
          </a:blip>
          <a:srcRect t="98077"/>
          <a:stretch/>
        </p:blipFill>
        <p:spPr>
          <a:xfrm>
            <a:off x="0" y="5044576"/>
            <a:ext cx="9144000" cy="989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/>
          <p:cNvSpPr txBox="1"/>
          <p:nvPr/>
        </p:nvSpPr>
        <p:spPr>
          <a:xfrm>
            <a:off x="201000" y="1019503"/>
            <a:ext cx="864871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200" b="1" dirty="0"/>
              <a:t>Backend — Orchestration &amp; API</a:t>
            </a:r>
          </a:p>
          <a:p>
            <a:pPr marL="457200" lvl="0" indent="-317500">
              <a:buSzPts val="1400"/>
              <a:buChar char="●"/>
            </a:pPr>
            <a:r>
              <a:rPr lang="en-US" sz="1200" dirty="0"/>
              <a:t>ASP.NET Core 8 MVC (C#) — connectors for Udyam, GST, ITR, Account Aggregator (Finvu), MCA / DIN; outbound loan-case push to LOS / ULI / ONDC</a:t>
            </a:r>
          </a:p>
          <a:p>
            <a:pPr marL="457200" lvl="0" indent="-317500">
              <a:buSzPts val="1400"/>
              <a:buChar char="●"/>
            </a:pPr>
            <a:r>
              <a:rPr lang="en-US" sz="1200" dirty="0"/>
              <a:t>ML.NET in-process — scoring, feature extraction and explanations in the same deployable; no separate ML service</a:t>
            </a:r>
          </a:p>
          <a:p>
            <a:pPr marL="457200" lvl="0" indent="-317500">
              <a:buSzPts val="1400"/>
              <a:buChar char="●"/>
            </a:pPr>
            <a:r>
              <a:rPr lang="en-US" sz="1200" dirty="0"/>
              <a:t>Autofac DI with convention scanning · Serilog structured logging · CSP security headers · DataProtection keys persisted</a:t>
            </a:r>
          </a:p>
          <a:p>
            <a:pPr lvl="0"/>
            <a:endParaRPr lang="en-GB" sz="1200" dirty="0"/>
          </a:p>
          <a:p>
            <a:pPr lvl="0"/>
            <a:r>
              <a:rPr lang="en-US" sz="1200" b="1" dirty="0"/>
              <a:t>AI / ML Stack</a:t>
            </a:r>
          </a:p>
          <a:p>
            <a:pPr marL="457200" lvl="0" indent="-317500">
              <a:buSzPts val="1400"/>
              <a:buChar char="●"/>
            </a:pPr>
            <a:r>
              <a:rPr lang="en-US" sz="1200" dirty="0"/>
              <a:t>ML.NET LightGBM calibration — final score = 0.6 rules engine + 0.4 ML model, trained on 3,000 MSME profiles</a:t>
            </a:r>
          </a:p>
          <a:p>
            <a:pPr marL="457200" lvl="0" indent="-317500">
              <a:buSzPts val="1400"/>
              <a:buChar char="●"/>
            </a:pPr>
            <a:r>
              <a:rPr lang="en-US" sz="1200" dirty="0"/>
              <a:t>ML.NET SSA time-series — 12-month cash-flow trend · RandomizedPCA — GST vs ITR vs bank anomaly detection</a:t>
            </a:r>
          </a:p>
          <a:p>
            <a:pPr marL="457200" lvl="0" indent="-317500">
              <a:buSzPts val="1400"/>
              <a:buChar char="●"/>
            </a:pPr>
            <a:r>
              <a:rPr lang="en-US" sz="1200" dirty="0"/>
              <a:t>Permutation Feature Importance — per-dimension, audit-ready reasons · Groq LLM — AI assistant for questions on the score</a:t>
            </a:r>
          </a:p>
          <a:p>
            <a:pPr lvl="0"/>
            <a:endParaRPr lang="en-GB" sz="1200" dirty="0"/>
          </a:p>
          <a:p>
            <a:pPr lvl="0"/>
            <a:r>
              <a:rPr lang="en-US" sz="1200" b="1" dirty="0"/>
              <a:t>Data &amp; Storage</a:t>
            </a:r>
          </a:p>
          <a:p>
            <a:pPr marL="457200" lvl="0" indent="-317500">
              <a:buSzPts val="1400"/>
              <a:buChar char="●"/>
            </a:pPr>
            <a:r>
              <a:rPr lang="en-US" sz="1200" dirty="0"/>
              <a:t>SQL Server + EF Core 8 — MSME profiles, OTP &amp; consent, score summary, append-only score history and loan-case push audit; SQL-backed sessions</a:t>
            </a:r>
          </a:p>
          <a:p>
            <a:pPr marL="457200" lvl="0" indent="-317500">
              <a:buSzPts val="1400"/>
              <a:buChar char="●"/>
            </a:pPr>
            <a:r>
              <a:rPr lang="en-US" sz="1200" dirty="0"/>
              <a:t>Azure Blob Storage — one folder per MSME: raw source JSON (up to 93 files) + result.json</a:t>
            </a:r>
          </a:p>
          <a:p>
            <a:pPr lvl="0"/>
            <a:endParaRPr lang="en-GB" sz="1200" dirty="0"/>
          </a:p>
          <a:p>
            <a:pPr lvl="0"/>
            <a:r>
              <a:rPr lang="en-US" sz="1200" b="1" dirty="0"/>
              <a:t>Infrastructure &amp; DevOps</a:t>
            </a:r>
          </a:p>
          <a:p>
            <a:pPr marL="457200" lvl="0" indent="-317500">
              <a:buSzPts val="1400"/>
              <a:buChar char="●"/>
            </a:pPr>
            <a:r>
              <a:rPr lang="en-US" sz="1200" dirty="0"/>
              <a:t>Single deployable web app (modern monolith) — IIS / Azure App Service / AWS; GitHub source control</a:t>
            </a:r>
          </a:p>
          <a:p>
            <a:pPr marL="457200" lvl="0" indent="-317500">
              <a:buSzPts val="1400"/>
              <a:buChar char="●"/>
            </a:pPr>
            <a:r>
              <a:rPr lang="en-US" sz="1200" dirty="0"/>
              <a:t>Planned: inbound JWT + OpenAPI spec for LOS score pull; Azure API Management as the ULI / OCEN gateway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/>
        </p:nvSpPr>
        <p:spPr>
          <a:xfrm>
            <a:off x="201000" y="593476"/>
            <a:ext cx="8722283" cy="4260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Technologies to be used in the solution</a:t>
            </a:r>
            <a:endParaRPr b="1"/>
          </a:p>
        </p:txBody>
      </p:sp>
      <p:pic>
        <p:nvPicPr>
          <p:cNvPr id="103" name="Google Shape;103;p20" title="IDBI banner deck 2.png"/>
          <p:cNvPicPr preferRelativeResize="0"/>
          <p:nvPr/>
        </p:nvPicPr>
        <p:blipFill rotWithShape="1">
          <a:blip r:embed="rId3">
            <a:alphaModFix/>
          </a:blip>
          <a:srcRect b="88462"/>
          <a:stretch/>
        </p:blipFill>
        <p:spPr>
          <a:xfrm>
            <a:off x="0" y="0"/>
            <a:ext cx="9144000" cy="593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20" title="IDBI banner deck 2.png"/>
          <p:cNvPicPr preferRelativeResize="0"/>
          <p:nvPr/>
        </p:nvPicPr>
        <p:blipFill rotWithShape="1">
          <a:blip r:embed="rId3">
            <a:alphaModFix/>
          </a:blip>
          <a:srcRect t="98077"/>
          <a:stretch/>
        </p:blipFill>
        <p:spPr>
          <a:xfrm>
            <a:off x="0" y="5044576"/>
            <a:ext cx="9144000" cy="989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/>
          <p:cNvSpPr txBox="1"/>
          <p:nvPr/>
        </p:nvSpPr>
        <p:spPr>
          <a:xfrm>
            <a:off x="201000" y="1019503"/>
            <a:ext cx="864871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200" b="1" dirty="0"/>
              <a:t>Frontend</a:t>
            </a:r>
          </a:p>
          <a:p>
            <a:pPr marL="457200" lvl="0" indent="-317500">
              <a:buSzPts val="1400"/>
              <a:buChar char="●"/>
            </a:pPr>
            <a:r>
              <a:rPr lang="en-US" sz="1200" dirty="0"/>
              <a:t>ASP.NET Core MVC + Razor views, Bootstrap 5 — server-rendered, responsive; two themes including IDBI’s official palette</a:t>
            </a:r>
          </a:p>
          <a:p>
            <a:pPr marL="457200" lvl="0" indent="-317500">
              <a:buSzPts val="1400"/>
              <a:buChar char="●"/>
            </a:pPr>
            <a:r>
              <a:rPr lang="en-US" sz="1200" dirty="0"/>
              <a:t>Chart.js — score gauge, 6-pillar radar, score-history trend, cash-flow charts · ApexCharts — GST analysis; charts follow the theme switch</a:t>
            </a:r>
          </a:p>
          <a:p>
            <a:pPr marL="457200" lvl="0" indent="-317500">
              <a:buSzPts val="1400"/>
              <a:buChar char="●"/>
            </a:pPr>
            <a:r>
              <a:rPr lang="en-US" sz="1200" dirty="0"/>
              <a:t>Bhashini website-translation plugin — English + Hindi, Marathi, Tamil, Gujarati, Konkani, Sanskrit</a:t>
            </a:r>
          </a:p>
          <a:p>
            <a:pPr lvl="0"/>
            <a:endParaRPr lang="en-GB" sz="1200" dirty="0"/>
          </a:p>
          <a:p>
            <a:pPr lvl="0"/>
            <a:r>
              <a:rPr lang="en-US" sz="1200" b="1" dirty="0"/>
              <a:t>DPI &amp; Data Integrations</a:t>
            </a:r>
          </a:p>
          <a:p>
            <a:pPr marL="457200" lvl="0" indent="-317500">
              <a:buSzPts val="1400"/>
              <a:buChar char="●"/>
            </a:pPr>
            <a:r>
              <a:rPr lang="en-US" sz="1200" dirty="0"/>
              <a:t>Account Aggregator (Finvu sandbox, SimBanks FIP) · GST System API · Udyam Registry · ITR · MCA 21 (company, charges, DIN)</a:t>
            </a:r>
          </a:p>
          <a:p>
            <a:pPr marL="457200" lvl="0" indent="-317500">
              <a:buSzPts val="1400"/>
              <a:buChar char="●"/>
            </a:pPr>
            <a:r>
              <a:rPr lang="en-US" sz="1200" dirty="0"/>
              <a:t>Outbound loan case built — IDBI LOS · ULI (OCEN 4.0) · ONDC (beckn FIS12) · inbound DSP score API and EPFO — planned</a:t>
            </a:r>
          </a:p>
          <a:p>
            <a:pPr lvl="0"/>
            <a:endParaRPr lang="en-GB" sz="1200" dirty="0"/>
          </a:p>
          <a:p>
            <a:pPr lvl="0"/>
            <a:r>
              <a:rPr lang="en-US" sz="1200" b="1" dirty="0"/>
              <a:t>Security</a:t>
            </a:r>
          </a:p>
          <a:p>
            <a:pPr marL="457200" lvl="0" indent="-317500">
              <a:buSzPts val="1400"/>
              <a:buChar char="●"/>
            </a:pPr>
            <a:r>
              <a:rPr lang="en-US" sz="1200" dirty="0"/>
              <a:t>Email-OTP customer login and separate bank-admin login, SQL session cache, CSP headers, source-IP fraud / VPN / Tor audit with geolocation</a:t>
            </a:r>
          </a:p>
        </p:txBody>
      </p:sp>
    </p:spTree>
    <p:extLst>
      <p:ext uri="{BB962C8B-B14F-4D97-AF65-F5344CB8AC3E}">
        <p14:creationId xmlns:p14="http://schemas.microsoft.com/office/powerpoint/2010/main" val="39485064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 txBox="1"/>
          <p:nvPr/>
        </p:nvSpPr>
        <p:spPr>
          <a:xfrm>
            <a:off x="265350" y="744575"/>
            <a:ext cx="8697221" cy="402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Estimated implementation cost (optional)</a:t>
            </a:r>
            <a:endParaRPr b="1"/>
          </a:p>
        </p:txBody>
      </p:sp>
      <p:pic>
        <p:nvPicPr>
          <p:cNvPr id="110" name="Google Shape;110;p21" title="IDBI banner deck 2.png"/>
          <p:cNvPicPr preferRelativeResize="0"/>
          <p:nvPr/>
        </p:nvPicPr>
        <p:blipFill rotWithShape="1">
          <a:blip r:embed="rId3">
            <a:alphaModFix/>
          </a:blip>
          <a:srcRect b="88462"/>
          <a:stretch/>
        </p:blipFill>
        <p:spPr>
          <a:xfrm>
            <a:off x="0" y="0"/>
            <a:ext cx="9144000" cy="593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21" title="IDBI banner deck 2.png"/>
          <p:cNvPicPr preferRelativeResize="0"/>
          <p:nvPr/>
        </p:nvPicPr>
        <p:blipFill rotWithShape="1">
          <a:blip r:embed="rId3">
            <a:alphaModFix/>
          </a:blip>
          <a:srcRect t="98077"/>
          <a:stretch/>
        </p:blipFill>
        <p:spPr>
          <a:xfrm>
            <a:off x="0" y="5044576"/>
            <a:ext cx="9144000" cy="98925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cost_tile"/>
          <p:cNvSpPr/>
          <p:nvPr/>
        </p:nvSpPr>
        <p:spPr>
          <a:xfrm>
            <a:off x="274320" y="1463040"/>
            <a:ext cx="2743200" cy="960120"/>
          </a:xfrm>
          <a:prstGeom prst="roundRect">
            <a:avLst/>
          </a:prstGeom>
          <a:solidFill>
            <a:srgbClr val="0083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54864" rtlCol="0" anchor="ctr"/>
          <a:lstStyle/>
          <a:p>
            <a:pPr algn="ctr"/>
            <a:r>
              <a:rPr sz="2600" b="1" dirty="0">
                <a:solidFill>
                  <a:srgbClr val="FFFFFF"/>
                </a:solidFill>
              </a:rPr>
              <a:t>₹ 22 L</a:t>
            </a:r>
          </a:p>
          <a:p>
            <a:pPr algn="ctr"/>
            <a:r>
              <a:rPr sz="950" dirty="0">
                <a:solidFill>
                  <a:schemeClr val="bg1"/>
                </a:solidFill>
              </a:rPr>
              <a:t>One-time setup (build + security)</a:t>
            </a:r>
          </a:p>
        </p:txBody>
      </p:sp>
      <p:sp>
        <p:nvSpPr>
          <p:cNvPr id="113" name="cost_tile"/>
          <p:cNvSpPr/>
          <p:nvPr/>
        </p:nvSpPr>
        <p:spPr>
          <a:xfrm>
            <a:off x="3200400" y="1463040"/>
            <a:ext cx="2743200" cy="960120"/>
          </a:xfrm>
          <a:prstGeom prst="roundRect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54864" rtlCol="0" anchor="ctr"/>
          <a:lstStyle/>
          <a:p>
            <a:pPr algn="ctr"/>
            <a:r>
              <a:rPr sz="2600" b="1" dirty="0">
                <a:solidFill>
                  <a:srgbClr val="FFFFFF"/>
                </a:solidFill>
              </a:rPr>
              <a:t>₹ 31 L / </a:t>
            </a:r>
            <a:r>
              <a:rPr sz="2600" b="1" dirty="0" err="1">
                <a:solidFill>
                  <a:srgbClr val="FFFFFF"/>
                </a:solidFill>
              </a:rPr>
              <a:t>yr</a:t>
            </a:r>
            <a:endParaRPr sz="2600" b="1" dirty="0">
              <a:solidFill>
                <a:srgbClr val="FFFFFF"/>
              </a:solidFill>
            </a:endParaRPr>
          </a:p>
          <a:p>
            <a:pPr algn="ctr"/>
            <a:r>
              <a:rPr sz="950" dirty="0">
                <a:solidFill>
                  <a:schemeClr val="bg1"/>
                </a:solidFill>
              </a:rPr>
              <a:t>Recurring (cloud + data + support)</a:t>
            </a:r>
          </a:p>
        </p:txBody>
      </p:sp>
      <p:sp>
        <p:nvSpPr>
          <p:cNvPr id="114" name="cost_tile"/>
          <p:cNvSpPr/>
          <p:nvPr/>
        </p:nvSpPr>
        <p:spPr>
          <a:xfrm>
            <a:off x="6126480" y="1463040"/>
            <a:ext cx="2743200" cy="960120"/>
          </a:xfrm>
          <a:prstGeom prst="roundRect">
            <a:avLst/>
          </a:prstGeom>
          <a:solidFill>
            <a:srgbClr val="0083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54864" rtlCol="0" anchor="ctr"/>
          <a:lstStyle/>
          <a:p>
            <a:pPr algn="ctr"/>
            <a:r>
              <a:rPr sz="2600" b="1" dirty="0">
                <a:solidFill>
                  <a:srgbClr val="FFFFFF"/>
                </a:solidFill>
              </a:rPr>
              <a:t>~ ₹ 1.15 Cr</a:t>
            </a:r>
          </a:p>
          <a:p>
            <a:pPr algn="ctr"/>
            <a:r>
              <a:rPr sz="950" dirty="0">
                <a:solidFill>
                  <a:schemeClr val="bg1"/>
                </a:solidFill>
              </a:rPr>
              <a:t>3-year total cost of ownership</a:t>
            </a:r>
          </a:p>
        </p:txBody>
      </p:sp>
      <p:sp>
        <p:nvSpPr>
          <p:cNvPr id="115" name="cost_label"/>
          <p:cNvSpPr txBox="1"/>
          <p:nvPr/>
        </p:nvSpPr>
        <p:spPr>
          <a:xfrm>
            <a:off x="274320" y="2560320"/>
            <a:ext cx="6391493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dirty="0">
                <a:solidFill>
                  <a:srgbClr val="F37021"/>
                </a:solidFill>
              </a:rPr>
              <a:t>Cost breakdown  -  centralized cloud deployment serving all IDBI branches pan-India</a:t>
            </a:r>
          </a:p>
        </p:txBody>
      </p:sp>
      <p:graphicFrame>
        <p:nvGraphicFramePr>
          <p:cNvPr id="116" name="cost_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3219178"/>
              </p:ext>
            </p:extLst>
          </p:nvPr>
        </p:nvGraphicFramePr>
        <p:xfrm>
          <a:off x="274320" y="2889504"/>
          <a:ext cx="8503920" cy="19751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709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sz="1050" b="1" dirty="0">
                          <a:solidFill>
                            <a:srgbClr val="FFFFFF"/>
                          </a:solidFill>
                        </a:rPr>
                        <a:t>Cost head</a:t>
                      </a:r>
                    </a:p>
                  </a:txBody>
                  <a:tcPr marT="18288" marB="18288" anchor="ctr">
                    <a:solidFill>
                      <a:srgbClr val="00836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dirty="0">
                          <a:solidFill>
                            <a:srgbClr val="FFFFFF"/>
                          </a:solidFill>
                        </a:rPr>
                        <a:t>Type</a:t>
                      </a:r>
                    </a:p>
                  </a:txBody>
                  <a:tcPr marT="18288" marB="18288" anchor="ctr">
                    <a:solidFill>
                      <a:srgbClr val="00836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 dirty="0">
                          <a:solidFill>
                            <a:srgbClr val="FFFFFF"/>
                          </a:solidFill>
                        </a:rPr>
                        <a:t>Estimate (INR)</a:t>
                      </a:r>
                    </a:p>
                  </a:txBody>
                  <a:tcPr marT="18288" marB="18288" anchor="ctr">
                    <a:solidFill>
                      <a:srgbClr val="F370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186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B2026"/>
                          </a:solidFill>
                        </a:rPr>
                        <a:t>Development - 3-member team, ~6-month build</a:t>
                      </a:r>
                    </a:p>
                  </a:txBody>
                  <a:tcPr marT="18288" marB="18288" anchor="ctr">
                    <a:solidFill>
                      <a:srgbClr val="FA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C4A50"/>
                          </a:solidFill>
                        </a:rPr>
                        <a:t>One-time</a:t>
                      </a: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57001D"/>
                          </a:solidFill>
                        </a:rPr>
                        <a:t>₹ 18 L</a:t>
                      </a:r>
                    </a:p>
                  </a:txBody>
                  <a:tcPr marT="18288" marB="18288" anchor="ctr">
                    <a:solidFill>
                      <a:srgbClr val="F3EA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186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B2026"/>
                          </a:solidFill>
                        </a:rPr>
                        <a:t>Security testing &amp; RBI / DPDP compliance audit</a:t>
                      </a:r>
                    </a:p>
                  </a:txBody>
                  <a:tcPr marT="18288" marB="18288" anchor="ctr">
                    <a:solidFill>
                      <a:srgbClr val="FA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C4A50"/>
                          </a:solidFill>
                        </a:rPr>
                        <a:t>One-time</a:t>
                      </a: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57001D"/>
                          </a:solidFill>
                        </a:rPr>
                        <a:t>₹ 4 L</a:t>
                      </a:r>
                    </a:p>
                  </a:txBody>
                  <a:tcPr marT="18288" marB="18288" anchor="ctr">
                    <a:solidFill>
                      <a:srgbClr val="F3EA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186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B2026"/>
                          </a:solidFill>
                        </a:rPr>
                        <a:t>Cloud &amp; servers - Azure App Service, SQL, Blob, APIM</a:t>
                      </a:r>
                    </a:p>
                  </a:txBody>
                  <a:tcPr marT="18288" marB="18288" anchor="ctr">
                    <a:solidFill>
                      <a:srgbClr val="FA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C4A50"/>
                          </a:solidFill>
                        </a:rPr>
                        <a:t>Annual</a:t>
                      </a: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57001D"/>
                          </a:solidFill>
                        </a:rPr>
                        <a:t>₹ 12 L</a:t>
                      </a:r>
                    </a:p>
                  </a:txBody>
                  <a:tcPr marT="18288" marB="18288" anchor="ctr">
                    <a:solidFill>
                      <a:srgbClr val="F3EA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186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B2026"/>
                          </a:solidFill>
                        </a:rPr>
                        <a:t>Data &amp; API usage - AA (Finvu), GST, ITR</a:t>
                      </a:r>
                    </a:p>
                  </a:txBody>
                  <a:tcPr marT="18288" marB="18288" anchor="ctr">
                    <a:solidFill>
                      <a:srgbClr val="FA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C4A50"/>
                          </a:solidFill>
                        </a:rPr>
                        <a:t>Annual</a:t>
                      </a: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57001D"/>
                          </a:solidFill>
                        </a:rPr>
                        <a:t>₹ 10 L</a:t>
                      </a:r>
                    </a:p>
                  </a:txBody>
                  <a:tcPr marT="18288" marB="18288" anchor="ctr">
                    <a:solidFill>
                      <a:srgbClr val="F3EA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1868">
                <a:tc>
                  <a:txBody>
                    <a:bodyPr/>
                    <a:lstStyle/>
                    <a:p>
                      <a:r>
                        <a:rPr sz="1050" b="1" dirty="0">
                          <a:solidFill>
                            <a:srgbClr val="2B2026"/>
                          </a:solidFill>
                        </a:rPr>
                        <a:t>Maintenance, support &amp; ML model retraining</a:t>
                      </a:r>
                    </a:p>
                  </a:txBody>
                  <a:tcPr marT="18288" marB="18288" anchor="ctr">
                    <a:solidFill>
                      <a:srgbClr val="FA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C4A50"/>
                          </a:solidFill>
                        </a:rPr>
                        <a:t>Annual</a:t>
                      </a: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 dirty="0">
                          <a:solidFill>
                            <a:srgbClr val="57001D"/>
                          </a:solidFill>
                        </a:rPr>
                        <a:t>₹ 9 L</a:t>
                      </a:r>
                    </a:p>
                  </a:txBody>
                  <a:tcPr marT="18288" marB="18288" anchor="ctr">
                    <a:solidFill>
                      <a:srgbClr val="F3EA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2"/>
          <p:cNvSpPr txBox="1"/>
          <p:nvPr/>
        </p:nvSpPr>
        <p:spPr>
          <a:xfrm>
            <a:off x="307391" y="593476"/>
            <a:ext cx="8521299" cy="401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Snapshots of the prototype</a:t>
            </a:r>
            <a:endParaRPr b="1"/>
          </a:p>
        </p:txBody>
      </p:sp>
      <p:pic>
        <p:nvPicPr>
          <p:cNvPr id="117" name="Google Shape;117;p22" title="IDBI banner deck 2.png"/>
          <p:cNvPicPr preferRelativeResize="0"/>
          <p:nvPr/>
        </p:nvPicPr>
        <p:blipFill rotWithShape="1">
          <a:blip r:embed="rId3">
            <a:alphaModFix/>
          </a:blip>
          <a:srcRect b="88462"/>
          <a:stretch/>
        </p:blipFill>
        <p:spPr>
          <a:xfrm>
            <a:off x="0" y="0"/>
            <a:ext cx="9144000" cy="593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22" title="IDBI banner deck 2.png"/>
          <p:cNvPicPr preferRelativeResize="0"/>
          <p:nvPr/>
        </p:nvPicPr>
        <p:blipFill rotWithShape="1">
          <a:blip r:embed="rId3">
            <a:alphaModFix/>
          </a:blip>
          <a:srcRect t="98077"/>
          <a:stretch/>
        </p:blipFill>
        <p:spPr>
          <a:xfrm>
            <a:off x="0" y="5044576"/>
            <a:ext cx="9144000" cy="98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21814" y="1006289"/>
            <a:ext cx="1891170" cy="3932056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2448399" y="1006289"/>
            <a:ext cx="2780249" cy="1810057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2448399" y="3126925"/>
            <a:ext cx="2775807" cy="181005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5399337" y="1006289"/>
            <a:ext cx="3614431" cy="393069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2"/>
          <p:cNvSpPr txBox="1"/>
          <p:nvPr/>
        </p:nvSpPr>
        <p:spPr>
          <a:xfrm>
            <a:off x="307391" y="593476"/>
            <a:ext cx="8521299" cy="401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Snapshots of the prototype</a:t>
            </a:r>
            <a:endParaRPr b="1"/>
          </a:p>
        </p:txBody>
      </p:sp>
      <p:pic>
        <p:nvPicPr>
          <p:cNvPr id="117" name="Google Shape;117;p22" title="IDBI banner deck 2.png"/>
          <p:cNvPicPr preferRelativeResize="0"/>
          <p:nvPr/>
        </p:nvPicPr>
        <p:blipFill rotWithShape="1">
          <a:blip r:embed="rId3">
            <a:alphaModFix/>
          </a:blip>
          <a:srcRect b="88462"/>
          <a:stretch/>
        </p:blipFill>
        <p:spPr>
          <a:xfrm>
            <a:off x="0" y="0"/>
            <a:ext cx="9144000" cy="593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22" title="IDBI banner deck 2.png"/>
          <p:cNvPicPr preferRelativeResize="0"/>
          <p:nvPr/>
        </p:nvPicPr>
        <p:blipFill rotWithShape="1">
          <a:blip r:embed="rId3">
            <a:alphaModFix/>
          </a:blip>
          <a:srcRect t="98077"/>
          <a:stretch/>
        </p:blipFill>
        <p:spPr>
          <a:xfrm>
            <a:off x="0" y="5044576"/>
            <a:ext cx="9144000" cy="98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74419" y="1108068"/>
            <a:ext cx="2734036" cy="180560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064551" y="1147298"/>
            <a:ext cx="3070996" cy="1638111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295112" y="1012489"/>
            <a:ext cx="2638431" cy="207639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28594" y="3327405"/>
            <a:ext cx="2935957" cy="140987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3101936" y="3327405"/>
            <a:ext cx="2969443" cy="1425951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6108765" y="3327406"/>
            <a:ext cx="2969444" cy="1425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5906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2"/>
          <p:cNvSpPr txBox="1"/>
          <p:nvPr/>
        </p:nvSpPr>
        <p:spPr>
          <a:xfrm>
            <a:off x="307391" y="593476"/>
            <a:ext cx="8521299" cy="401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Snapshots of the prototype</a:t>
            </a:r>
            <a:endParaRPr b="1"/>
          </a:p>
        </p:txBody>
      </p:sp>
      <p:pic>
        <p:nvPicPr>
          <p:cNvPr id="117" name="Google Shape;117;p22" title="IDBI banner deck 2.png"/>
          <p:cNvPicPr preferRelativeResize="0"/>
          <p:nvPr/>
        </p:nvPicPr>
        <p:blipFill rotWithShape="1">
          <a:blip r:embed="rId3">
            <a:alphaModFix/>
          </a:blip>
          <a:srcRect b="88462"/>
          <a:stretch/>
        </p:blipFill>
        <p:spPr>
          <a:xfrm>
            <a:off x="0" y="0"/>
            <a:ext cx="9144000" cy="593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22" title="IDBI banner deck 2.png"/>
          <p:cNvPicPr preferRelativeResize="0"/>
          <p:nvPr/>
        </p:nvPicPr>
        <p:blipFill rotWithShape="1">
          <a:blip r:embed="rId3">
            <a:alphaModFix/>
          </a:blip>
          <a:srcRect t="98077"/>
          <a:stretch/>
        </p:blipFill>
        <p:spPr>
          <a:xfrm>
            <a:off x="0" y="5044576"/>
            <a:ext cx="9144000" cy="98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92" y="994528"/>
            <a:ext cx="2603879" cy="163171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5"/>
          <a:srcRect l="28316" r="26667"/>
          <a:stretch/>
        </p:blipFill>
        <p:spPr>
          <a:xfrm>
            <a:off x="2764716" y="1039270"/>
            <a:ext cx="1480457" cy="1579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6"/>
          <a:srcRect r="1270"/>
          <a:stretch/>
        </p:blipFill>
        <p:spPr>
          <a:xfrm>
            <a:off x="4301818" y="1039270"/>
            <a:ext cx="4762841" cy="2679098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83133" y="2725555"/>
            <a:ext cx="3927647" cy="2209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82012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2"/>
          <p:cNvSpPr txBox="1"/>
          <p:nvPr/>
        </p:nvSpPr>
        <p:spPr>
          <a:xfrm>
            <a:off x="307391" y="593476"/>
            <a:ext cx="8521299" cy="401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Snapshots of the prototype</a:t>
            </a:r>
            <a:endParaRPr b="1"/>
          </a:p>
        </p:txBody>
      </p:sp>
      <p:pic>
        <p:nvPicPr>
          <p:cNvPr id="117" name="Google Shape;117;p22" title="IDBI banner deck 2.png"/>
          <p:cNvPicPr preferRelativeResize="0"/>
          <p:nvPr/>
        </p:nvPicPr>
        <p:blipFill rotWithShape="1">
          <a:blip r:embed="rId3">
            <a:alphaModFix/>
          </a:blip>
          <a:srcRect b="88462"/>
          <a:stretch/>
        </p:blipFill>
        <p:spPr>
          <a:xfrm>
            <a:off x="0" y="0"/>
            <a:ext cx="9144000" cy="593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22" title="IDBI banner deck 2.png"/>
          <p:cNvPicPr preferRelativeResize="0"/>
          <p:nvPr/>
        </p:nvPicPr>
        <p:blipFill rotWithShape="1">
          <a:blip r:embed="rId3">
            <a:alphaModFix/>
          </a:blip>
          <a:srcRect t="98077"/>
          <a:stretch/>
        </p:blipFill>
        <p:spPr>
          <a:xfrm>
            <a:off x="0" y="5044576"/>
            <a:ext cx="9144000" cy="98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03716" y="906753"/>
            <a:ext cx="3588850" cy="201872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467852" y="709980"/>
            <a:ext cx="3998967" cy="224941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03716" y="2973913"/>
            <a:ext cx="3588850" cy="201872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672909" y="3011334"/>
            <a:ext cx="3588851" cy="2018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06717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2"/>
          <p:cNvSpPr txBox="1"/>
          <p:nvPr/>
        </p:nvSpPr>
        <p:spPr>
          <a:xfrm>
            <a:off x="307391" y="593476"/>
            <a:ext cx="8521299" cy="401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Snapshots of the prototype</a:t>
            </a:r>
            <a:endParaRPr b="1"/>
          </a:p>
        </p:txBody>
      </p:sp>
      <p:pic>
        <p:nvPicPr>
          <p:cNvPr id="117" name="Google Shape;117;p22" title="IDBI banner deck 2.png"/>
          <p:cNvPicPr preferRelativeResize="0"/>
          <p:nvPr/>
        </p:nvPicPr>
        <p:blipFill rotWithShape="1">
          <a:blip r:embed="rId3">
            <a:alphaModFix/>
          </a:blip>
          <a:srcRect b="88462"/>
          <a:stretch/>
        </p:blipFill>
        <p:spPr>
          <a:xfrm>
            <a:off x="0" y="0"/>
            <a:ext cx="9144000" cy="593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22" title="IDBI banner deck 2.png"/>
          <p:cNvPicPr preferRelativeResize="0"/>
          <p:nvPr/>
        </p:nvPicPr>
        <p:blipFill rotWithShape="1">
          <a:blip r:embed="rId3">
            <a:alphaModFix/>
          </a:blip>
          <a:srcRect t="98077"/>
          <a:stretch/>
        </p:blipFill>
        <p:spPr>
          <a:xfrm>
            <a:off x="0" y="5044576"/>
            <a:ext cx="9144000" cy="98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8594" y="919402"/>
            <a:ext cx="3588849" cy="2018728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58594" y="2987594"/>
            <a:ext cx="3588849" cy="201872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D36E08E-A7A9-64E4-4395-2CF209A4682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22348" y="903697"/>
            <a:ext cx="4428100" cy="4006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39721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2"/>
          <p:cNvSpPr txBox="1"/>
          <p:nvPr/>
        </p:nvSpPr>
        <p:spPr>
          <a:xfrm>
            <a:off x="307391" y="593476"/>
            <a:ext cx="8521299" cy="401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Snapshots of the prototype</a:t>
            </a:r>
            <a:endParaRPr b="1"/>
          </a:p>
        </p:txBody>
      </p:sp>
      <p:pic>
        <p:nvPicPr>
          <p:cNvPr id="117" name="Google Shape;117;p22" title="IDBI banner deck 2.png"/>
          <p:cNvPicPr preferRelativeResize="0"/>
          <p:nvPr/>
        </p:nvPicPr>
        <p:blipFill rotWithShape="1">
          <a:blip r:embed="rId3">
            <a:alphaModFix/>
          </a:blip>
          <a:srcRect b="88462"/>
          <a:stretch/>
        </p:blipFill>
        <p:spPr>
          <a:xfrm>
            <a:off x="0" y="0"/>
            <a:ext cx="9144000" cy="593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22" title="IDBI banner deck 2.png"/>
          <p:cNvPicPr preferRelativeResize="0"/>
          <p:nvPr/>
        </p:nvPicPr>
        <p:blipFill rotWithShape="1">
          <a:blip r:embed="rId3">
            <a:alphaModFix/>
          </a:blip>
          <a:srcRect t="98077"/>
          <a:stretch/>
        </p:blipFill>
        <p:spPr>
          <a:xfrm>
            <a:off x="0" y="5044576"/>
            <a:ext cx="9144000" cy="98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07391" y="1123900"/>
            <a:ext cx="3949809" cy="339025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676896" y="2850181"/>
            <a:ext cx="3719617" cy="199154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564591" y="742524"/>
            <a:ext cx="4078666" cy="1958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42476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3"/>
          <p:cNvSpPr txBox="1"/>
          <p:nvPr/>
        </p:nvSpPr>
        <p:spPr>
          <a:xfrm>
            <a:off x="265350" y="74457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 dirty="0"/>
              <a:t>Prototype Performance report/Benchmarking</a:t>
            </a:r>
            <a:endParaRPr b="1" dirty="0"/>
          </a:p>
        </p:txBody>
      </p:sp>
      <p:pic>
        <p:nvPicPr>
          <p:cNvPr id="124" name="Google Shape;124;p23" title="IDBI banner deck 2.png"/>
          <p:cNvPicPr preferRelativeResize="0"/>
          <p:nvPr/>
        </p:nvPicPr>
        <p:blipFill rotWithShape="1">
          <a:blip r:embed="rId3">
            <a:alphaModFix/>
          </a:blip>
          <a:srcRect b="88462"/>
          <a:stretch/>
        </p:blipFill>
        <p:spPr>
          <a:xfrm>
            <a:off x="0" y="0"/>
            <a:ext cx="9144000" cy="593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3" title="IDBI banner deck 2.png"/>
          <p:cNvPicPr preferRelativeResize="0"/>
          <p:nvPr/>
        </p:nvPicPr>
        <p:blipFill rotWithShape="1">
          <a:blip r:embed="rId3">
            <a:alphaModFix/>
          </a:blip>
          <a:srcRect t="98077"/>
          <a:stretch/>
        </p:blipFill>
        <p:spPr>
          <a:xfrm>
            <a:off x="0" y="5044576"/>
            <a:ext cx="9144000" cy="989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perf_tile"/>
          <p:cNvSpPr/>
          <p:nvPr/>
        </p:nvSpPr>
        <p:spPr>
          <a:xfrm>
            <a:off x="274320" y="1481328"/>
            <a:ext cx="1975104" cy="932688"/>
          </a:xfrm>
          <a:prstGeom prst="roundRect">
            <a:avLst/>
          </a:prstGeom>
          <a:solidFill>
            <a:srgbClr val="0083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64008" rIns="73152" bIns="64008" rtlCol="0" anchor="ctr"/>
          <a:lstStyle/>
          <a:p>
            <a:pPr algn="ctr"/>
            <a:r>
              <a:rPr sz="2400" b="1" dirty="0">
                <a:solidFill>
                  <a:srgbClr val="FFFFFF"/>
                </a:solidFill>
              </a:rPr>
              <a:t>715/1000</a:t>
            </a:r>
          </a:p>
          <a:p>
            <a:pPr algn="ctr"/>
            <a:r>
              <a:rPr sz="900" dirty="0">
                <a:solidFill>
                  <a:schemeClr val="bg1"/>
                </a:solidFill>
              </a:rPr>
              <a:t>Live score on a real MSME — 12 months of GST + bank data (band: Good)</a:t>
            </a:r>
          </a:p>
        </p:txBody>
      </p:sp>
      <p:sp>
        <p:nvSpPr>
          <p:cNvPr id="127" name="perf_tile"/>
          <p:cNvSpPr/>
          <p:nvPr/>
        </p:nvSpPr>
        <p:spPr>
          <a:xfrm>
            <a:off x="2450592" y="1481328"/>
            <a:ext cx="1975104" cy="932688"/>
          </a:xfrm>
          <a:prstGeom prst="roundRect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64008" rIns="73152" bIns="64008" rtlCol="0" anchor="ctr"/>
          <a:lstStyle/>
          <a:p>
            <a:pPr algn="ctr"/>
            <a:r>
              <a:rPr sz="2400" b="1" dirty="0">
                <a:solidFill>
                  <a:srgbClr val="FFFFFF"/>
                </a:solidFill>
              </a:rPr>
              <a:t>&lt; </a:t>
            </a:r>
            <a:r>
              <a:rPr lang="en-US" sz="2400" b="1" dirty="0">
                <a:solidFill>
                  <a:srgbClr val="FFFFFF"/>
                </a:solidFill>
              </a:rPr>
              <a:t>10</a:t>
            </a:r>
            <a:r>
              <a:rPr sz="2400" b="1" dirty="0">
                <a:solidFill>
                  <a:srgbClr val="FFFFFF"/>
                </a:solidFill>
              </a:rPr>
              <a:t> s</a:t>
            </a:r>
          </a:p>
          <a:p>
            <a:pPr algn="ctr"/>
            <a:r>
              <a:rPr sz="900" dirty="0">
                <a:solidFill>
                  <a:schemeClr val="bg1"/>
                </a:solidFill>
              </a:rPr>
              <a:t>End-to-end scoring (sub-second when warm)</a:t>
            </a:r>
          </a:p>
        </p:txBody>
      </p:sp>
      <p:sp>
        <p:nvSpPr>
          <p:cNvPr id="128" name="perf_tile"/>
          <p:cNvSpPr/>
          <p:nvPr/>
        </p:nvSpPr>
        <p:spPr>
          <a:xfrm>
            <a:off x="4626864" y="1481328"/>
            <a:ext cx="1975104" cy="932688"/>
          </a:xfrm>
          <a:prstGeom prst="roundRect">
            <a:avLst/>
          </a:prstGeom>
          <a:solidFill>
            <a:srgbClr val="0083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64008" rIns="73152" bIns="64008" rtlCol="0" anchor="ctr"/>
          <a:lstStyle/>
          <a:p>
            <a:pPr algn="ctr"/>
            <a:r>
              <a:rPr sz="2400" b="1" dirty="0">
                <a:solidFill>
                  <a:srgbClr val="FFFFFF"/>
                </a:solidFill>
              </a:rPr>
              <a:t>5</a:t>
            </a:r>
          </a:p>
          <a:p>
            <a:pPr algn="ctr"/>
            <a:r>
              <a:rPr sz="900" dirty="0">
                <a:solidFill>
                  <a:schemeClr val="bg1"/>
                </a:solidFill>
              </a:rPr>
              <a:t>Data sources fused: Udyam · GST · ITR · AA · MCA</a:t>
            </a:r>
            <a:r>
              <a:rPr lang="en-US" sz="900" dirty="0">
                <a:solidFill>
                  <a:schemeClr val="bg1"/>
                </a:solidFill>
              </a:rPr>
              <a:t> (+ EPFO ready)</a:t>
            </a:r>
            <a:endParaRPr sz="900" dirty="0">
              <a:solidFill>
                <a:schemeClr val="bg1"/>
              </a:solidFill>
            </a:endParaRPr>
          </a:p>
        </p:txBody>
      </p:sp>
      <p:sp>
        <p:nvSpPr>
          <p:cNvPr id="129" name="perf_tile"/>
          <p:cNvSpPr/>
          <p:nvPr/>
        </p:nvSpPr>
        <p:spPr>
          <a:xfrm>
            <a:off x="6803136" y="1481328"/>
            <a:ext cx="1975104" cy="932688"/>
          </a:xfrm>
          <a:prstGeom prst="roundRect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64008" rIns="73152" bIns="64008" rtlCol="0" anchor="ctr"/>
          <a:lstStyle/>
          <a:p>
            <a:pPr algn="ctr"/>
            <a:r>
              <a:rPr sz="2400" b="1" dirty="0">
                <a:solidFill>
                  <a:srgbClr val="FFFFFF"/>
                </a:solidFill>
              </a:rPr>
              <a:t>3000</a:t>
            </a:r>
          </a:p>
          <a:p>
            <a:pPr algn="ctr"/>
            <a:r>
              <a:rPr sz="900" dirty="0">
                <a:solidFill>
                  <a:schemeClr val="bg1"/>
                </a:solidFill>
              </a:rPr>
              <a:t>MSME profiles the LightGBM model trains on</a:t>
            </a:r>
          </a:p>
        </p:txBody>
      </p:sp>
      <p:sp>
        <p:nvSpPr>
          <p:cNvPr id="130" name="perf_label"/>
          <p:cNvSpPr txBox="1"/>
          <p:nvPr/>
        </p:nvSpPr>
        <p:spPr>
          <a:xfrm>
            <a:off x="274320" y="2578608"/>
            <a:ext cx="3733714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dirty="0">
                <a:solidFill>
                  <a:srgbClr val="FF4800"/>
                </a:solidFill>
              </a:rPr>
              <a:t>Benchmark vs. traditional credit assessment</a:t>
            </a:r>
          </a:p>
        </p:txBody>
      </p:sp>
      <p:graphicFrame>
        <p:nvGraphicFramePr>
          <p:cNvPr id="131" name="perf_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5191110"/>
              </p:ext>
            </p:extLst>
          </p:nvPr>
        </p:nvGraphicFramePr>
        <p:xfrm>
          <a:off x="274320" y="2880000"/>
          <a:ext cx="8503920" cy="19659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54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sz="1050" b="1" dirty="0">
                          <a:solidFill>
                            <a:srgbClr val="FFFFFF"/>
                          </a:solidFill>
                        </a:rPr>
                        <a:t>Metric</a:t>
                      </a:r>
                    </a:p>
                  </a:txBody>
                  <a:tcPr marR="73152" marT="27432" marB="27432" anchor="ctr">
                    <a:solidFill>
                      <a:srgbClr val="00836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dirty="0">
                          <a:solidFill>
                            <a:srgbClr val="FFFFFF"/>
                          </a:solidFill>
                        </a:rPr>
                        <a:t>Traditional / bureau</a:t>
                      </a:r>
                    </a:p>
                  </a:txBody>
                  <a:tcPr marR="73152" marT="27432" marB="27432" anchor="ctr">
                    <a:solidFill>
                      <a:srgbClr val="00836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dirty="0" err="1">
                          <a:solidFill>
                            <a:srgbClr val="FFFFFF"/>
                          </a:solidFill>
                        </a:rPr>
                        <a:t>FinRiskLensAI</a:t>
                      </a:r>
                      <a:endParaRPr sz="1050" b="1" dirty="0">
                        <a:solidFill>
                          <a:srgbClr val="FFFFFF"/>
                        </a:solidFill>
                      </a:endParaRPr>
                    </a:p>
                  </a:txBody>
                  <a:tcPr marR="73152" marT="27432" marB="27432" anchor="ctr">
                    <a:solidFill>
                      <a:srgbClr val="F370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B2026"/>
                          </a:solidFill>
                        </a:rPr>
                        <a:t>Turnaround time</a:t>
                      </a:r>
                    </a:p>
                  </a:txBody>
                  <a:tcPr marR="73152" marT="27432" marB="27432" anchor="ctr">
                    <a:solidFill>
                      <a:srgbClr val="FA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C4A50"/>
                          </a:solidFill>
                        </a:rPr>
                        <a:t>2-3 weeks (manual)</a:t>
                      </a: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dirty="0">
                          <a:solidFill>
                            <a:srgbClr val="57001D"/>
                          </a:solidFill>
                        </a:rPr>
                        <a:t>Seconds (automated)</a:t>
                      </a:r>
                    </a:p>
                  </a:txBody>
                  <a:tcPr marR="73152" marT="27432" marB="27432" anchor="ctr">
                    <a:solidFill>
                      <a:srgbClr val="F3EA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B2026"/>
                          </a:solidFill>
                        </a:rPr>
                        <a:t>NTC / NTB borrowers</a:t>
                      </a:r>
                    </a:p>
                  </a:txBody>
                  <a:tcPr marR="73152" marT="27432" marB="27432" anchor="ctr">
                    <a:solidFill>
                      <a:srgbClr val="FA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C4A50"/>
                          </a:solidFill>
                        </a:rPr>
                        <a:t>Rejected - no history</a:t>
                      </a: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57001D"/>
                          </a:solidFill>
                        </a:rPr>
                        <a:t>Scored on alternate data</a:t>
                      </a:r>
                    </a:p>
                  </a:txBody>
                  <a:tcPr marR="73152" marT="27432" marB="27432" anchor="ctr">
                    <a:solidFill>
                      <a:srgbClr val="F3EA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B2026"/>
                          </a:solidFill>
                        </a:rPr>
                        <a:t>Data sources</a:t>
                      </a:r>
                    </a:p>
                  </a:txBody>
                  <a:tcPr marR="73152" marT="27432" marB="27432" anchor="ctr">
                    <a:solidFill>
                      <a:srgbClr val="FA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C4A50"/>
                          </a:solidFill>
                        </a:rPr>
                        <a:t>1 - bureau file</a:t>
                      </a: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dirty="0">
                          <a:solidFill>
                            <a:srgbClr val="57001D"/>
                          </a:solidFill>
                        </a:rPr>
                        <a:t>5 - Udyam, GST, ITR, AA, MCA</a:t>
                      </a:r>
                      <a:r>
                        <a:rPr lang="en-US" sz="1050" b="1" dirty="0">
                          <a:solidFill>
                            <a:srgbClr val="57001D"/>
                          </a:solidFill>
                        </a:rPr>
                        <a:t> (+ EPFO ready)</a:t>
                      </a:r>
                      <a:endParaRPr sz="1050" b="1" dirty="0">
                        <a:solidFill>
                          <a:srgbClr val="57001D"/>
                        </a:solidFill>
                      </a:endParaRPr>
                    </a:p>
                  </a:txBody>
                  <a:tcPr marR="73152" marT="27432" marB="27432" anchor="ctr">
                    <a:solidFill>
                      <a:srgbClr val="F3EA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B2026"/>
                          </a:solidFill>
                        </a:rPr>
                        <a:t>Explainability</a:t>
                      </a:r>
                    </a:p>
                  </a:txBody>
                  <a:tcPr marR="73152" marT="27432" marB="27432" anchor="ctr">
                    <a:solidFill>
                      <a:srgbClr val="FA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C4A50"/>
                          </a:solidFill>
                        </a:rPr>
                        <a:t>Black-box score</a:t>
                      </a: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dirty="0">
                          <a:solidFill>
                            <a:srgbClr val="57001D"/>
                          </a:solidFill>
                        </a:rPr>
                        <a:t>PFI reason per dimension</a:t>
                      </a:r>
                    </a:p>
                  </a:txBody>
                  <a:tcPr marR="73152" marT="27432" marB="27432" anchor="ctr">
                    <a:solidFill>
                      <a:srgbClr val="F3EA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B2026"/>
                          </a:solidFill>
                        </a:rPr>
                        <a:t>Fraud / integrity check</a:t>
                      </a:r>
                    </a:p>
                  </a:txBody>
                  <a:tcPr marR="73152" marT="27432" marB="27432" anchor="ctr">
                    <a:solidFill>
                      <a:srgbClr val="FA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C4A50"/>
                          </a:solidFill>
                        </a:rPr>
                        <a:t>None</a:t>
                      </a: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dirty="0">
                          <a:solidFill>
                            <a:srgbClr val="57001D"/>
                          </a:solidFill>
                        </a:rPr>
                        <a:t>GST-ITR-bank anomaly + MCA / DIN checks</a:t>
                      </a:r>
                    </a:p>
                  </a:txBody>
                  <a:tcPr marR="73152" marT="27432" marB="27432" anchor="ctr">
                    <a:solidFill>
                      <a:srgbClr val="F3EA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B2026"/>
                          </a:solidFill>
                        </a:rPr>
                        <a:t>Monitoring</a:t>
                      </a:r>
                    </a:p>
                  </a:txBody>
                  <a:tcPr marR="73152" marT="27432" marB="27432" anchor="ctr">
                    <a:solidFill>
                      <a:srgbClr val="FA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C4A50"/>
                          </a:solidFill>
                        </a:rPr>
                        <a:t>One-time assessment</a:t>
                      </a: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dirty="0">
                          <a:solidFill>
                            <a:srgbClr val="57001D"/>
                          </a:solidFill>
                        </a:rPr>
                        <a:t>Score history + trend on every analysis</a:t>
                      </a:r>
                    </a:p>
                  </a:txBody>
                  <a:tcPr marR="73152" marT="27432" marB="27432" anchor="ctr">
                    <a:solidFill>
                      <a:srgbClr val="F3EA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B2026"/>
                          </a:solidFill>
                        </a:rPr>
                        <a:t>Hand-off to the lender</a:t>
                      </a:r>
                    </a:p>
                  </a:txBody>
                  <a:tcPr marR="73152" marT="27432" marB="27432" anchor="ctr">
                    <a:solidFill>
                      <a:srgbClr val="FA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C4A50"/>
                          </a:solidFill>
                        </a:rPr>
                        <a:t>Manual file / PDF</a:t>
                      </a: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dirty="0">
                          <a:solidFill>
                            <a:srgbClr val="57001D"/>
                          </a:solidFill>
                        </a:rPr>
                        <a:t>LOS, ULI or ONDC payload in one action</a:t>
                      </a:r>
                    </a:p>
                  </a:txBody>
                  <a:tcPr marR="73152" marT="27432" marB="27432" anchor="ctr">
                    <a:solidFill>
                      <a:srgbClr val="F3EA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4"/>
          <p:cNvSpPr txBox="1"/>
          <p:nvPr/>
        </p:nvSpPr>
        <p:spPr>
          <a:xfrm>
            <a:off x="265350" y="74457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Additional Details/Future Development (if any)</a:t>
            </a:r>
            <a:endParaRPr b="1"/>
          </a:p>
        </p:txBody>
      </p:sp>
      <p:pic>
        <p:nvPicPr>
          <p:cNvPr id="131" name="Google Shape;131;p24" title="IDBI banner deck 2.png"/>
          <p:cNvPicPr preferRelativeResize="0"/>
          <p:nvPr/>
        </p:nvPicPr>
        <p:blipFill rotWithShape="1">
          <a:blip r:embed="rId3">
            <a:alphaModFix/>
          </a:blip>
          <a:srcRect b="88462"/>
          <a:stretch/>
        </p:blipFill>
        <p:spPr>
          <a:xfrm>
            <a:off x="0" y="0"/>
            <a:ext cx="9144000" cy="593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24" title="IDBI banner deck 2.png"/>
          <p:cNvPicPr preferRelativeResize="0"/>
          <p:nvPr/>
        </p:nvPicPr>
        <p:blipFill rotWithShape="1">
          <a:blip r:embed="rId3">
            <a:alphaModFix/>
          </a:blip>
          <a:srcRect t="98077"/>
          <a:stretch/>
        </p:blipFill>
        <p:spPr>
          <a:xfrm>
            <a:off x="0" y="5044576"/>
            <a:ext cx="9144000" cy="98925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fut_card"/>
          <p:cNvSpPr/>
          <p:nvPr/>
        </p:nvSpPr>
        <p:spPr>
          <a:xfrm>
            <a:off x="274320" y="1417320"/>
            <a:ext cx="4160520" cy="1645920"/>
          </a:xfrm>
          <a:prstGeom prst="roundRect">
            <a:avLst/>
          </a:prstGeom>
          <a:solidFill>
            <a:srgbClr val="FAF3F6"/>
          </a:solidFill>
          <a:ln w="9525">
            <a:solidFill>
              <a:srgbClr val="EAD9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28016" bIns="91440" rtlCol="0" anchor="t"/>
          <a:lstStyle/>
          <a:p>
            <a:pPr algn="ctr">
              <a:spcAft>
                <a:spcPts val="400"/>
              </a:spcAft>
            </a:pPr>
            <a:r>
              <a:rPr sz="1300" b="1" dirty="0">
                <a:solidFill>
                  <a:srgbClr val="F37021"/>
                </a:solidFill>
              </a:rPr>
              <a:t>Next Data Integrations</a:t>
            </a:r>
          </a:p>
          <a:p>
            <a:pPr>
              <a:spcAft>
                <a:spcPts val="200"/>
              </a:spcAft>
            </a:pPr>
            <a:r>
              <a:rPr sz="1050" b="1" dirty="0">
                <a:solidFill>
                  <a:srgbClr val="974354"/>
                </a:solidFill>
              </a:rPr>
              <a:t>•  </a:t>
            </a:r>
            <a:r>
              <a:rPr sz="1050" dirty="0">
                <a:solidFill>
                  <a:srgbClr val="2B2026"/>
                </a:solidFill>
              </a:rPr>
              <a:t>EPFO — employee count &amp; PF-remittance regularity (the feature slot is already built)</a:t>
            </a:r>
          </a:p>
          <a:p>
            <a:pPr>
              <a:spcAft>
                <a:spcPts val="200"/>
              </a:spcAft>
            </a:pPr>
            <a:r>
              <a:rPr sz="1050" b="1" dirty="0">
                <a:solidFill>
                  <a:srgbClr val="974354"/>
                </a:solidFill>
              </a:rPr>
              <a:t>•  </a:t>
            </a:r>
            <a:r>
              <a:rPr sz="1050" dirty="0">
                <a:solidFill>
                  <a:srgbClr val="2B2026"/>
                </a:solidFill>
              </a:rPr>
              <a:t>GST e-invoice / e-way bill signals and CERSAI collateral lookup</a:t>
            </a:r>
          </a:p>
          <a:p>
            <a:pPr>
              <a:spcAft>
                <a:spcPts val="200"/>
              </a:spcAft>
            </a:pPr>
            <a:r>
              <a:rPr sz="1050" b="1" dirty="0">
                <a:solidFill>
                  <a:srgbClr val="974354"/>
                </a:solidFill>
              </a:rPr>
              <a:t>•  </a:t>
            </a:r>
            <a:r>
              <a:rPr sz="1050" dirty="0">
                <a:solidFill>
                  <a:srgbClr val="2B2026"/>
                </a:solidFill>
              </a:rPr>
              <a:t>ONDC / GeM / UPI merchant-settlement data for micro-enterprises</a:t>
            </a:r>
          </a:p>
        </p:txBody>
      </p:sp>
      <p:sp>
        <p:nvSpPr>
          <p:cNvPr id="134" name="fut_card"/>
          <p:cNvSpPr/>
          <p:nvPr/>
        </p:nvSpPr>
        <p:spPr>
          <a:xfrm>
            <a:off x="4617720" y="1417320"/>
            <a:ext cx="4160520" cy="1645920"/>
          </a:xfrm>
          <a:prstGeom prst="roundRect">
            <a:avLst/>
          </a:prstGeom>
          <a:solidFill>
            <a:srgbClr val="FAF3F6"/>
          </a:solidFill>
          <a:ln w="9525">
            <a:solidFill>
              <a:srgbClr val="EAD9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28016" bIns="91440" rtlCol="0" anchor="t"/>
          <a:lstStyle/>
          <a:p>
            <a:pPr algn="ctr">
              <a:spcAft>
                <a:spcPts val="400"/>
              </a:spcAft>
            </a:pPr>
            <a:r>
              <a:rPr sz="1300" b="1" dirty="0">
                <a:solidFill>
                  <a:srgbClr val="F37021"/>
                </a:solidFill>
              </a:rPr>
              <a:t>Monitoring, Fraud &amp; Compliance</a:t>
            </a:r>
          </a:p>
          <a:p>
            <a:pPr>
              <a:spcAft>
                <a:spcPts val="200"/>
              </a:spcAft>
            </a:pPr>
            <a:r>
              <a:rPr sz="1050" b="1" dirty="0">
                <a:solidFill>
                  <a:srgbClr val="974354"/>
                </a:solidFill>
              </a:rPr>
              <a:t>•  </a:t>
            </a:r>
            <a:r>
              <a:rPr sz="1050" dirty="0">
                <a:solidFill>
                  <a:srgbClr val="2B2026"/>
                </a:solidFill>
              </a:rPr>
              <a:t>Early Warning System on score history — band drop, GST filing lapse, new MCA charge, bounce spike</a:t>
            </a:r>
          </a:p>
          <a:p>
            <a:pPr>
              <a:spcAft>
                <a:spcPts val="200"/>
              </a:spcAft>
            </a:pPr>
            <a:r>
              <a:rPr sz="1050" b="1" dirty="0">
                <a:solidFill>
                  <a:srgbClr val="974354"/>
                </a:solidFill>
              </a:rPr>
              <a:t>•  </a:t>
            </a:r>
            <a:r>
              <a:rPr sz="1050" dirty="0">
                <a:solidFill>
                  <a:srgbClr val="2B2026"/>
                </a:solidFill>
              </a:rPr>
              <a:t>Sanctions / PEP screening, RBI fraud registry &amp; wilful-defaulter match</a:t>
            </a:r>
          </a:p>
          <a:p>
            <a:pPr>
              <a:spcAft>
                <a:spcPts val="200"/>
              </a:spcAft>
            </a:pPr>
            <a:r>
              <a:rPr sz="1050" b="1" dirty="0">
                <a:solidFill>
                  <a:srgbClr val="974354"/>
                </a:solidFill>
              </a:rPr>
              <a:t>•  </a:t>
            </a:r>
            <a:r>
              <a:rPr sz="1050" dirty="0">
                <a:solidFill>
                  <a:srgbClr val="2B2026"/>
                </a:solidFill>
              </a:rPr>
              <a:t>DPDP consent ledger across all sources with customer-side revoke &amp; auto-purge</a:t>
            </a:r>
          </a:p>
        </p:txBody>
      </p:sp>
      <p:sp>
        <p:nvSpPr>
          <p:cNvPr id="135" name="fut_card"/>
          <p:cNvSpPr/>
          <p:nvPr/>
        </p:nvSpPr>
        <p:spPr>
          <a:xfrm>
            <a:off x="274320" y="3227832"/>
            <a:ext cx="4160520" cy="1645920"/>
          </a:xfrm>
          <a:prstGeom prst="roundRect">
            <a:avLst/>
          </a:prstGeom>
          <a:solidFill>
            <a:srgbClr val="FAF3F6"/>
          </a:solidFill>
          <a:ln w="9525">
            <a:solidFill>
              <a:srgbClr val="EAD9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28016" bIns="91440" rtlCol="0" anchor="t"/>
          <a:lstStyle/>
          <a:p>
            <a:pPr algn="ctr">
              <a:spcAft>
                <a:spcPts val="400"/>
              </a:spcAft>
            </a:pPr>
            <a:r>
              <a:rPr sz="1300" b="1" dirty="0">
                <a:solidFill>
                  <a:srgbClr val="F37021"/>
                </a:solidFill>
              </a:rPr>
              <a:t>Lending Ecosystem &amp; Integration</a:t>
            </a:r>
          </a:p>
          <a:p>
            <a:pPr>
              <a:spcAft>
                <a:spcPts val="200"/>
              </a:spcAft>
            </a:pPr>
            <a:r>
              <a:rPr sz="1050" b="1" dirty="0">
                <a:solidFill>
                  <a:srgbClr val="974354"/>
                </a:solidFill>
              </a:rPr>
              <a:t>•  </a:t>
            </a:r>
            <a:r>
              <a:rPr sz="1050" dirty="0">
                <a:solidFill>
                  <a:srgbClr val="2B2026"/>
                </a:solidFill>
              </a:rPr>
              <a:t>Inbound API — JWT + OpenAPI so your LOS pulls a score from us (the outbound case push is already built)</a:t>
            </a:r>
          </a:p>
          <a:p>
            <a:pPr>
              <a:spcAft>
                <a:spcPts val="200"/>
              </a:spcAft>
            </a:pPr>
            <a:r>
              <a:rPr sz="1050" b="1" dirty="0">
                <a:solidFill>
                  <a:srgbClr val="974354"/>
                </a:solidFill>
              </a:rPr>
              <a:t>•  </a:t>
            </a:r>
            <a:r>
              <a:rPr sz="1050" dirty="0">
                <a:solidFill>
                  <a:srgbClr val="2B2026"/>
                </a:solidFill>
              </a:rPr>
              <a:t>ULI DSP + OCEN certification and a live ONDC subscriber ID; CIBIL / CRIF bureau blend for NTB borrowers</a:t>
            </a:r>
          </a:p>
          <a:p>
            <a:pPr>
              <a:spcAft>
                <a:spcPts val="200"/>
              </a:spcAft>
            </a:pPr>
            <a:r>
              <a:rPr sz="1050" b="1" dirty="0">
                <a:solidFill>
                  <a:srgbClr val="974354"/>
                </a:solidFill>
              </a:rPr>
              <a:t>•  </a:t>
            </a:r>
            <a:r>
              <a:rPr sz="1050" dirty="0">
                <a:solidFill>
                  <a:srgbClr val="2B2026"/>
                </a:solidFill>
              </a:rPr>
              <a:t>GST-invoice financing and co-lending workflows with NBFC partners</a:t>
            </a:r>
          </a:p>
        </p:txBody>
      </p:sp>
      <p:sp>
        <p:nvSpPr>
          <p:cNvPr id="136" name="fut_card"/>
          <p:cNvSpPr/>
          <p:nvPr/>
        </p:nvSpPr>
        <p:spPr>
          <a:xfrm>
            <a:off x="4617720" y="3227832"/>
            <a:ext cx="4160520" cy="1645920"/>
          </a:xfrm>
          <a:prstGeom prst="roundRect">
            <a:avLst/>
          </a:prstGeom>
          <a:solidFill>
            <a:srgbClr val="FAF3F6"/>
          </a:solidFill>
          <a:ln w="9525">
            <a:solidFill>
              <a:srgbClr val="EAD9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28016" bIns="91440" rtlCol="0" anchor="t"/>
          <a:lstStyle/>
          <a:p>
            <a:pPr algn="ctr">
              <a:spcAft>
                <a:spcPts val="400"/>
              </a:spcAft>
            </a:pPr>
            <a:r>
              <a:rPr sz="1300" b="1" dirty="0">
                <a:solidFill>
                  <a:srgbClr val="F37021"/>
                </a:solidFill>
              </a:rPr>
              <a:t>Decision &amp; Governance</a:t>
            </a:r>
          </a:p>
          <a:p>
            <a:pPr>
              <a:spcAft>
                <a:spcPts val="200"/>
              </a:spcAft>
            </a:pPr>
            <a:r>
              <a:rPr sz="1050" b="1" dirty="0">
                <a:solidFill>
                  <a:srgbClr val="974354"/>
                </a:solidFill>
              </a:rPr>
              <a:t>•  </a:t>
            </a:r>
            <a:r>
              <a:rPr sz="1050" dirty="0">
                <a:solidFill>
                  <a:srgbClr val="2B2026"/>
                </a:solidFill>
              </a:rPr>
              <a:t>Credit-policy console — Approve / Refer / Decline with editable product-wise cut-offs &amp; knock-outs</a:t>
            </a:r>
          </a:p>
          <a:p>
            <a:pPr>
              <a:spcAft>
                <a:spcPts val="200"/>
              </a:spcAft>
            </a:pPr>
            <a:r>
              <a:rPr sz="1050" b="1" dirty="0">
                <a:solidFill>
                  <a:srgbClr val="974354"/>
                </a:solidFill>
              </a:rPr>
              <a:t>•  </a:t>
            </a:r>
            <a:r>
              <a:rPr sz="1050" dirty="0">
                <a:solidFill>
                  <a:srgbClr val="2B2026"/>
                </a:solidFill>
              </a:rPr>
              <a:t>PDF Credit Appraisal Memo with data-provenance appendix (source, time, consent ID)</a:t>
            </a:r>
          </a:p>
          <a:p>
            <a:pPr>
              <a:spcAft>
                <a:spcPts val="200"/>
              </a:spcAft>
            </a:pPr>
            <a:r>
              <a:rPr sz="1050" b="1" dirty="0">
                <a:solidFill>
                  <a:srgbClr val="974354"/>
                </a:solidFill>
              </a:rPr>
              <a:t>•  </a:t>
            </a:r>
            <a:r>
              <a:rPr sz="1050" dirty="0">
                <a:solidFill>
                  <a:srgbClr val="2B2026"/>
                </a:solidFill>
              </a:rPr>
              <a:t>Model card &amp; governance page (RBI model-risk); portfolio analytics for IDBI teams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5"/>
          <p:cNvSpPr txBox="1"/>
          <p:nvPr/>
        </p:nvSpPr>
        <p:spPr>
          <a:xfrm>
            <a:off x="201000" y="744575"/>
            <a:ext cx="8943000" cy="1730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 dirty="0"/>
              <a:t>Provide links to your:</a:t>
            </a:r>
            <a:endParaRPr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 dirty="0"/>
          </a:p>
          <a:p>
            <a:pPr marL="457200" lvl="0" indent="-317500">
              <a:buSzPts val="1400"/>
              <a:buChar char="●"/>
            </a:pPr>
            <a:r>
              <a:rPr lang="en-GB" dirty="0"/>
              <a:t>GitHub Public Repository : </a:t>
            </a:r>
            <a:r>
              <a:rPr lang="en-GB" dirty="0">
                <a:hlinkClick r:id="rId3"/>
              </a:rPr>
              <a:t>https://github.com/abhinavmukwane/FinRiskLensAI</a:t>
            </a:r>
            <a:endParaRPr dirty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endParaRPr lang="en-GB" dirty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dirty="0"/>
              <a:t>Demo Video Link (3 Minutes): </a:t>
            </a:r>
            <a:r>
              <a:rPr lang="en-GB" dirty="0">
                <a:hlinkClick r:id="rId4"/>
              </a:rPr>
              <a:t>https://video.finrisklensai.com</a:t>
            </a:r>
            <a:r>
              <a:rPr lang="en-GB" dirty="0"/>
              <a:t> OR </a:t>
            </a:r>
            <a:r>
              <a:rPr lang="en-GB" dirty="0">
                <a:hlinkClick r:id="rId5"/>
              </a:rPr>
              <a:t>Google Drive Link</a:t>
            </a:r>
            <a:endParaRPr dirty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endParaRPr lang="en-GB" dirty="0"/>
          </a:p>
          <a:p>
            <a:pPr marL="457200" lvl="0" indent="-317500">
              <a:buSzPts val="1400"/>
              <a:buChar char="●"/>
            </a:pPr>
            <a:r>
              <a:rPr lang="en-GB" dirty="0"/>
              <a:t>Final Product Link: </a:t>
            </a:r>
            <a:r>
              <a:rPr lang="en-GB" dirty="0">
                <a:hlinkClick r:id="rId6"/>
              </a:rPr>
              <a:t>https://finrisklensai.com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 dirty="0"/>
          </a:p>
        </p:txBody>
      </p:sp>
      <p:pic>
        <p:nvPicPr>
          <p:cNvPr id="138" name="Google Shape;138;p25" title="IDBI banner deck 2.png"/>
          <p:cNvPicPr preferRelativeResize="0"/>
          <p:nvPr/>
        </p:nvPicPr>
        <p:blipFill rotWithShape="1">
          <a:blip r:embed="rId7">
            <a:alphaModFix/>
          </a:blip>
          <a:srcRect b="88462"/>
          <a:stretch/>
        </p:blipFill>
        <p:spPr>
          <a:xfrm>
            <a:off x="0" y="0"/>
            <a:ext cx="9144000" cy="593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25" title="IDBI banner deck 2.png"/>
          <p:cNvPicPr preferRelativeResize="0"/>
          <p:nvPr/>
        </p:nvPicPr>
        <p:blipFill rotWithShape="1">
          <a:blip r:embed="rId7">
            <a:alphaModFix/>
          </a:blip>
          <a:srcRect t="98077"/>
          <a:stretch/>
        </p:blipFill>
        <p:spPr>
          <a:xfrm>
            <a:off x="0" y="5044576"/>
            <a:ext cx="9144000" cy="989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05FC94B-16A0-7AA0-B886-A4E00BA27A67}"/>
              </a:ext>
            </a:extLst>
          </p:cNvPr>
          <p:cNvSpPr txBox="1"/>
          <p:nvPr/>
        </p:nvSpPr>
        <p:spPr>
          <a:xfrm>
            <a:off x="292608" y="2743200"/>
            <a:ext cx="8595360" cy="20116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000" b="1" dirty="0"/>
              <a:t>Demo accounts — customer login at /Auth/CustLogin (enter email → OTP is shown on screen) · bank portal at /Auth/BankLogin, user bankadmin</a:t>
            </a:r>
          </a:p>
          <a:p>
            <a:pPr lvl="0"/>
            <a:endParaRPr lang="en-GB" sz="500" dirty="0"/>
          </a:p>
          <a:p>
            <a:pPr lvl="0"/>
            <a:r>
              <a:rPr lang="en-US" sz="1000" dirty="0"/>
              <a:t>UDYAM-MH-20-0091447 · 813 Excellent · Shreeji Precision Components · shreeji.precision@finrisklens.demo</a:t>
            </a:r>
          </a:p>
          <a:p>
            <a:pPr lvl="0"/>
            <a:r>
              <a:rPr lang="en-US" sz="1000" dirty="0"/>
              <a:t>UDYAM-MH-25-0042817 · 806 Excellent · Sankalp Autotech Pvt Ltd (full MCA + DIN) · sankalp.autotech@finrisklens.demo</a:t>
            </a:r>
          </a:p>
          <a:p>
            <a:pPr lvl="0"/>
            <a:r>
              <a:rPr lang="en-US" sz="1000" dirty="0"/>
              <a:t>UDYAM-MH-20-0067394 · 715 Good · M/s UCN Fibrenet Pvt Ltd (real filings) · mkhangar01@gmail.com</a:t>
            </a:r>
          </a:p>
          <a:p>
            <a:pPr lvl="0"/>
            <a:r>
              <a:rPr lang="en-US" sz="1000" dirty="0"/>
              <a:t>UDYAM-GJ-01-0044219 · 627 Fair · Ratnadeep Textile Traders · ratnadeep.textiles@finrisklens.demo</a:t>
            </a:r>
          </a:p>
          <a:p>
            <a:pPr lvl="0"/>
            <a:r>
              <a:rPr lang="en-US" sz="1000" dirty="0"/>
              <a:t>UDYAM-UP-28-0007733 · 376 At Risk · Navdeep Auto Spares · navdeep.autospares@finrisklens.demo</a:t>
            </a:r>
          </a:p>
          <a:p>
            <a:pPr lvl="0"/>
            <a:endParaRPr lang="en-GB" sz="500" dirty="0"/>
          </a:p>
          <a:p>
            <a:pPr lvl="0"/>
            <a:r>
              <a:rPr lang="en-US" sz="1000" dirty="0"/>
              <a:t>The five together cover the whole score range — approve, judge, and decline — with every data tab populated.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7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27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2" name="Google Shape;152;p27" title="IDBI banner deck 3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293</TotalTime>
  <Words>2757</Words>
  <Application>Microsoft Office PowerPoint</Application>
  <PresentationFormat>On-screen Show (16:9)</PresentationFormat>
  <Paragraphs>291</Paragraphs>
  <Slides>20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2" baseType="lpstr">
      <vt:lpstr>Arial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Abhinav Mukwane</dc:creator>
  <cp:keywords>IDBI Innovate 2026</cp:keywords>
  <cp:lastModifiedBy>Abhinav Mukwane</cp:lastModifiedBy>
  <cp:revision>85</cp:revision>
  <dcterms:modified xsi:type="dcterms:W3CDTF">2026-09-16T08:58:09Z</dcterms:modified>
</cp:coreProperties>
</file>